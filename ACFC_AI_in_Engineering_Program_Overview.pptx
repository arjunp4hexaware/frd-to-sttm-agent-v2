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4DAB4-D08E-AD01-D78C-274B2A7D20E8}" v="1" dt="2026-08-20T16:49:31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Pillai" userId="S::2000198467@hexaware.com::77c01d2a-2b9f-4bf4-9a62-a9faae1f34a8" providerId="AD" clId="Web-{6974DAB4-D08E-AD01-D78C-274B2A7D20E8}"/>
    <pc:docChg chg="modSld">
      <pc:chgData name="Arjun Pillai" userId="S::2000198467@hexaware.com::77c01d2a-2b9f-4bf4-9a62-a9faae1f34a8" providerId="AD" clId="Web-{6974DAB4-D08E-AD01-D78C-274B2A7D20E8}" dt="2026-08-20T16:49:31.465" v="0"/>
      <pc:docMkLst>
        <pc:docMk/>
      </pc:docMkLst>
      <pc:sldChg chg="delSp">
        <pc:chgData name="Arjun Pillai" userId="S::2000198467@hexaware.com::77c01d2a-2b9f-4bf4-9a62-a9faae1f34a8" providerId="AD" clId="Web-{6974DAB4-D08E-AD01-D78C-274B2A7D20E8}" dt="2026-08-20T16:49:31.465" v="0"/>
        <pc:sldMkLst>
          <pc:docMk/>
          <pc:sldMk cId="0" sldId="257"/>
        </pc:sldMkLst>
        <pc:spChg chg="del">
          <ac:chgData name="Arjun Pillai" userId="S::2000198467@hexaware.com::77c01d2a-2b9f-4bf4-9a62-a9faae1f34a8" providerId="AD" clId="Web-{6974DAB4-D08E-AD01-D78C-274B2A7D20E8}" dt="2026-08-20T16:49:31.465" v="0"/>
          <ac:spMkLst>
            <pc:docMk/>
            <pc:sldMk cId="0" sldId="25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7AAE9-E3B9-4C1F-B063-B56A918B35C1}" type="datetimeFigureOut"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4F88F-DB2D-4C99-9E9D-5D24CC6B1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ACFC-formatted program overview. Architecture slides depict the target shape inside AmeriHealth's own Databricks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agent on the native track. Source and destination is the AmeriHealth SharePoint document library, reached via Microsoft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stage 02 calls the model. SharePoint access is via Microsoft Graph with an Entra ID app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Two-layer trust rule: templates write code; the model only advises on rules templates cannot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1856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4320"/>
            <a:ext cx="1847088" cy="1225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DATA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6384" y="276148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AI-in-Engineering Program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 ·  the two agents, end to 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0" y="5230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on one governed</a:t>
            </a:r>
            <a:endParaRPr lang="en-US" sz="1300" dirty="0"/>
          </a:p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6473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914400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25880" y="17373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0" y="17556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agents fit together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relay from an approved FRD through to generated pipeline code — with a human gate at each hand-off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25880" y="31089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0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STTM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4747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source-to-target mapping workbook, filled in from the approved FRD and returned to SharePoint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25880" y="44805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286000" y="44988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/ Data Engineer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8463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code, table definitions, tests and job config generated from the approved mapping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8716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STTM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9125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3892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6889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4204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4613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613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89380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6696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pic>
        <p:nvPicPr>
          <p:cNvPr id="27" name="Image 0" descr="/home/claude/work/assets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pic>
        <p:nvPicPr>
          <p:cNvPr id="32" name="Image 1" descr="/home/claude/work/assets/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its source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pic>
        <p:nvPicPr>
          <p:cNvPr id="37" name="Image 2" descr="/home/claude/work/assets/image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FRD → STTM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7863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2  ·  SOURCE-TO-TARGET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9184" y="987552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workbook, filled in for you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9184" y="1517904"/>
            <a:ext cx="2172614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953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322576"/>
            <a:ext cx="1953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FRD is read from SharePoint and turned into clean text, with every requirement ID kept so each fact stays addressable.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20086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66390" y="1517904"/>
            <a:ext cx="2172614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6118" y="1645920"/>
            <a:ext cx="310896" cy="310896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611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6118" y="2029968"/>
            <a:ext cx="1953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76118" y="2322576"/>
            <a:ext cx="1953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reads the whole document and returns a structured list of every feed, file pattern, target table and rule.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57293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3597" y="1517904"/>
            <a:ext cx="2172614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3325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3325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13325" y="2029968"/>
            <a:ext cx="1953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build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13325" y="2322576"/>
            <a:ext cx="1953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validates that structure, runs the grounding audit, and gates anything ambiguous for a person.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94499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0803" y="1517904"/>
            <a:ext cx="2172614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0531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0531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0531" y="2029968"/>
            <a:ext cx="1953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50531" y="2322576"/>
            <a:ext cx="1953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analyst resolves each gated question — pick a candidate, none-of-these, or type an answer. Decisions are remembered.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531706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8010" y="1517904"/>
            <a:ext cx="2172614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7738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773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7738" y="2029968"/>
            <a:ext cx="1953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eval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87738" y="2322576"/>
            <a:ext cx="1953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fills the workbook sheet by sheet, cross-checks the data dictionary, scores the result, and returns it to SharePoint.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456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 (Claude)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11096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12264" y="34564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02152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4564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9184" y="3803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trustworthy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918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pic>
        <p:nvPicPr>
          <p:cNvPr id="43" name="Image 0" descr="/home/claude/work/assets/image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5" y="4366077"/>
            <a:ext cx="174102" cy="17410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7782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contract for CodeGen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7548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mapping in a form the next agent can consume directly, emitted alongside the human-readable workbook.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23062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37692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pic>
        <p:nvPicPr>
          <p:cNvPr id="48" name="Image 1" descr="/home/claude/work/assets/image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325" y="4366077"/>
            <a:ext cx="174102" cy="174102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477926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loud, never guess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37692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required value cannot be found word-for-word in the FRD, the run fails and says which value and where it looked.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813206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827836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pic>
        <p:nvPicPr>
          <p:cNvPr id="53" name="Image 2" descr="/home/claude/work/assets/image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765" y="4366077"/>
            <a:ext cx="174102" cy="174102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868070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survive re-runs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827836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gated question has a stable identity, so a reviewer's answer still applies the next time the document is processed.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SOLUTION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786384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read from AmeriHealth SharePoint through the Microsoft Graph API; four pipeline stages run in Databricks, and the finished workbook is written back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9184" y="1170432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9184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delivery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5544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person decides,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output lands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03120" y="1115568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194560" y="1197864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95144" y="1298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work/assets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564" y="1370868"/>
            <a:ext cx="184343" cy="18434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97480" y="1271016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analyst — Databricks App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1490472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what the pipeline could not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322576" y="1682496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candidate, none-of-these, or types an answer for each gated ambiguity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resolutions are authoritative — applied before the dictionary cross-check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045452" y="1197864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146036" y="1298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1" descr="/home/claude/work/assets/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456" y="1370868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48372" y="1271016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workbook returned to SharePoint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548372" y="1490472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feed contract for CodeGen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173468" y="1682496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back to the same project document library the FRD came from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score against a reference workbook reported with it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755648" y="1545336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329184" y="2304288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29184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1520" y="228600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29184" y="268833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2103120" y="2249424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2194560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2295144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2" descr="/home/claude/work/assets/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564" y="2504724"/>
            <a:ext cx="184343" cy="18434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697480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Ingest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2697480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22576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cells and nested tables flattened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preserved verbatim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620006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/>
          <p:cNvSpPr/>
          <p:nvPr/>
        </p:nvSpPr>
        <p:spPr>
          <a:xfrm>
            <a:off x="4720590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3" descr="/home/claude/work/assets/image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010" y="2504724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22926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Extract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122926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model call in the run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4748022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document read in one pass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shape validated on arrival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7045452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4"/>
          <p:cNvSpPr/>
          <p:nvPr/>
        </p:nvSpPr>
        <p:spPr>
          <a:xfrm>
            <a:off x="7146036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4" descr="/home/claude/work/assets/image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456" y="2504724"/>
            <a:ext cx="184343" cy="184343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48372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Contract build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548372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7173468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checked word-for-word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Ambiguities gated with stable IDs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9470898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39"/>
          <p:cNvSpPr/>
          <p:nvPr/>
        </p:nvSpPr>
        <p:spPr>
          <a:xfrm>
            <a:off x="9571482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Image 5" descr="/home/claude/work/assets/image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3902" y="2504724"/>
            <a:ext cx="184343" cy="18434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973818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Render + eval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9973818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9598914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written sheet by sheet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replay run reproduces it exactly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1755648" y="2679192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4"/>
          <p:cNvSpPr/>
          <p:nvPr/>
        </p:nvSpPr>
        <p:spPr>
          <a:xfrm>
            <a:off x="329184" y="3438144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5"/>
          <p:cNvSpPr/>
          <p:nvPr/>
        </p:nvSpPr>
        <p:spPr>
          <a:xfrm>
            <a:off x="329184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731520" y="341985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services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329184" y="38221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calls,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workspace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2103120" y="3383280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49"/>
          <p:cNvSpPr/>
          <p:nvPr/>
        </p:nvSpPr>
        <p:spPr>
          <a:xfrm>
            <a:off x="2194560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0"/>
          <p:cNvSpPr/>
          <p:nvPr/>
        </p:nvSpPr>
        <p:spPr>
          <a:xfrm>
            <a:off x="2295144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6" descr="/home/claude/work/assets/image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7564" y="3638580"/>
            <a:ext cx="184343" cy="184343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2697480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2697480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Claude-family endpoint</a:t>
            </a:r>
            <a:endParaRPr lang="en-US" sz="750" dirty="0"/>
          </a:p>
        </p:txBody>
      </p:sp>
      <p:sp>
        <p:nvSpPr>
          <p:cNvPr id="62" name="Text 53"/>
          <p:cNvSpPr/>
          <p:nvPr/>
        </p:nvSpPr>
        <p:spPr>
          <a:xfrm>
            <a:off x="2322576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stage 02 only — re-runs of the other three are free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name is configuration, not code</a:t>
            </a:r>
            <a:endParaRPr lang="en-US" sz="750" dirty="0"/>
          </a:p>
        </p:txBody>
      </p:sp>
      <p:sp>
        <p:nvSpPr>
          <p:cNvPr id="63" name="Shape 54"/>
          <p:cNvSpPr/>
          <p:nvPr/>
        </p:nvSpPr>
        <p:spPr>
          <a:xfrm>
            <a:off x="5428488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55"/>
          <p:cNvSpPr/>
          <p:nvPr/>
        </p:nvSpPr>
        <p:spPr>
          <a:xfrm>
            <a:off x="5529072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5" name="Image 7" descr="/home/claude/work/assets/image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1492" y="3638580"/>
            <a:ext cx="184343" cy="184343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931408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storage</a:t>
            </a:r>
            <a:endParaRPr lang="en-US" sz="1000" dirty="0"/>
          </a:p>
        </p:txBody>
      </p:sp>
      <p:sp>
        <p:nvSpPr>
          <p:cNvPr id="67" name="Text 57"/>
          <p:cNvSpPr/>
          <p:nvPr/>
        </p:nvSpPr>
        <p:spPr>
          <a:xfrm>
            <a:off x="5931408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+ Volumes</a:t>
            </a:r>
            <a:endParaRPr lang="en-US" sz="750" dirty="0"/>
          </a:p>
        </p:txBody>
      </p:sp>
      <p:sp>
        <p:nvSpPr>
          <p:cNvPr id="68" name="Text 58"/>
          <p:cNvSpPr/>
          <p:nvPr/>
        </p:nvSpPr>
        <p:spPr>
          <a:xfrm>
            <a:off x="5556504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stage's output durable, so any stage re-runs alone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fetched FRD, extractions, contracts and reports</a:t>
            </a:r>
            <a:endParaRPr lang="en-US" sz="750" dirty="0"/>
          </a:p>
        </p:txBody>
      </p:sp>
      <p:sp>
        <p:nvSpPr>
          <p:cNvPr id="69" name="Shape 59"/>
          <p:cNvSpPr/>
          <p:nvPr/>
        </p:nvSpPr>
        <p:spPr>
          <a:xfrm>
            <a:off x="8662416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0"/>
          <p:cNvSpPr/>
          <p:nvPr/>
        </p:nvSpPr>
        <p:spPr>
          <a:xfrm>
            <a:off x="8763000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" name="Image 8" descr="/home/claude/work/assets/image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5420" y="3638580"/>
            <a:ext cx="184343" cy="184343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9165336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</a:t>
            </a:r>
            <a:endParaRPr lang="en-US" sz="1000" dirty="0"/>
          </a:p>
        </p:txBody>
      </p:sp>
      <p:sp>
        <p:nvSpPr>
          <p:cNvPr id="73" name="Text 62"/>
          <p:cNvSpPr/>
          <p:nvPr/>
        </p:nvSpPr>
        <p:spPr>
          <a:xfrm>
            <a:off x="9165336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app credentials</a:t>
            </a:r>
            <a:endParaRPr lang="en-US" sz="750" dirty="0"/>
          </a:p>
        </p:txBody>
      </p:sp>
      <p:sp>
        <p:nvSpPr>
          <p:cNvPr id="74" name="Text 63"/>
          <p:cNvSpPr/>
          <p:nvPr/>
        </p:nvSpPr>
        <p:spPr>
          <a:xfrm>
            <a:off x="8790432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app registration, secret held in the scope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 in notebook, config or repo</a:t>
            </a:r>
            <a:endParaRPr lang="en-US" sz="750" dirty="0"/>
          </a:p>
        </p:txBody>
      </p:sp>
      <p:sp>
        <p:nvSpPr>
          <p:cNvPr id="75" name="Shape 64"/>
          <p:cNvSpPr/>
          <p:nvPr/>
        </p:nvSpPr>
        <p:spPr>
          <a:xfrm>
            <a:off x="1755648" y="3813048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65"/>
          <p:cNvSpPr/>
          <p:nvPr/>
        </p:nvSpPr>
        <p:spPr>
          <a:xfrm>
            <a:off x="329184" y="4572000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66"/>
          <p:cNvSpPr/>
          <p:nvPr/>
        </p:nvSpPr>
        <p:spPr>
          <a:xfrm>
            <a:off x="329184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8" name="Text 67"/>
          <p:cNvSpPr/>
          <p:nvPr/>
        </p:nvSpPr>
        <p:spPr>
          <a:xfrm>
            <a:off x="731520" y="455371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000" dirty="0"/>
          </a:p>
        </p:txBody>
      </p:sp>
      <p:sp>
        <p:nvSpPr>
          <p:cNvPr id="79" name="Text 68"/>
          <p:cNvSpPr/>
          <p:nvPr/>
        </p:nvSpPr>
        <p:spPr>
          <a:xfrm>
            <a:off x="329184" y="49560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documents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code actually live</a:t>
            </a:r>
            <a:endParaRPr lang="en-US" sz="750" dirty="0"/>
          </a:p>
        </p:txBody>
      </p:sp>
      <p:sp>
        <p:nvSpPr>
          <p:cNvPr id="80" name="Shape 69"/>
          <p:cNvSpPr/>
          <p:nvPr/>
        </p:nvSpPr>
        <p:spPr>
          <a:xfrm>
            <a:off x="2103120" y="4517136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0"/>
          <p:cNvSpPr/>
          <p:nvPr/>
        </p:nvSpPr>
        <p:spPr>
          <a:xfrm>
            <a:off x="2194560" y="4599432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71"/>
          <p:cNvSpPr/>
          <p:nvPr/>
        </p:nvSpPr>
        <p:spPr>
          <a:xfrm>
            <a:off x="2295144" y="47000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8D64AA"/>
          </a:solidFill>
          <a:ln w="12700">
            <a:solidFill>
              <a:srgbClr val="8D64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3" name="Image 9" descr="/home/claude/work/assets/image2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7564" y="4772436"/>
            <a:ext cx="184343" cy="184343"/>
          </a:xfrm>
          <a:prstGeom prst="rect">
            <a:avLst/>
          </a:prstGeom>
        </p:spPr>
      </p:pic>
      <p:sp>
        <p:nvSpPr>
          <p:cNvPr id="84" name="Text 72"/>
          <p:cNvSpPr/>
          <p:nvPr/>
        </p:nvSpPr>
        <p:spPr>
          <a:xfrm>
            <a:off x="2697480" y="4672584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AmeriHealth SharePoint  ·  Microsoft Graph API</a:t>
            </a:r>
            <a:endParaRPr lang="en-US" sz="1000" dirty="0"/>
          </a:p>
        </p:txBody>
      </p:sp>
      <p:sp>
        <p:nvSpPr>
          <p:cNvPr id="85" name="Text 73"/>
          <p:cNvSpPr/>
          <p:nvPr/>
        </p:nvSpPr>
        <p:spPr>
          <a:xfrm>
            <a:off x="2697480" y="4892040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document library — FRDs in, STTMs out</a:t>
            </a:r>
            <a:endParaRPr lang="en-US" sz="750" dirty="0"/>
          </a:p>
        </p:txBody>
      </p:sp>
      <p:sp>
        <p:nvSpPr>
          <p:cNvPr id="86" name="Text 74"/>
          <p:cNvSpPr/>
          <p:nvPr/>
        </p:nvSpPr>
        <p:spPr>
          <a:xfrm>
            <a:off x="2322576" y="5084064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fetched by item id from a named library — the site is never crawled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scope for the FRD, write scope only for the output folder</a:t>
            </a:r>
            <a:endParaRPr lang="en-US" sz="750" dirty="0"/>
          </a:p>
        </p:txBody>
      </p:sp>
      <p:sp>
        <p:nvSpPr>
          <p:cNvPr id="87" name="Shape 75"/>
          <p:cNvSpPr/>
          <p:nvPr/>
        </p:nvSpPr>
        <p:spPr>
          <a:xfrm>
            <a:off x="7045452" y="4599432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76"/>
          <p:cNvSpPr/>
          <p:nvPr/>
        </p:nvSpPr>
        <p:spPr>
          <a:xfrm>
            <a:off x="7146036" y="47000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9" name="Image 10" descr="/home/claude/work/assets/image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8456" y="4772436"/>
            <a:ext cx="184343" cy="184343"/>
          </a:xfrm>
          <a:prstGeom prst="rect">
            <a:avLst/>
          </a:prstGeom>
        </p:spPr>
      </p:pic>
      <p:sp>
        <p:nvSpPr>
          <p:cNvPr id="90" name="Text 77"/>
          <p:cNvSpPr/>
          <p:nvPr/>
        </p:nvSpPr>
        <p:spPr>
          <a:xfrm>
            <a:off x="7548372" y="4672584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metadata</a:t>
            </a:r>
            <a:endParaRPr lang="en-US" sz="1000" dirty="0"/>
          </a:p>
        </p:txBody>
      </p:sp>
      <p:sp>
        <p:nvSpPr>
          <p:cNvPr id="91" name="Text 78"/>
          <p:cNvSpPr/>
          <p:nvPr/>
        </p:nvSpPr>
        <p:spPr>
          <a:xfrm>
            <a:off x="7548372" y="4892040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not written</a:t>
            </a:r>
            <a:endParaRPr lang="en-US" sz="750" dirty="0"/>
          </a:p>
        </p:txBody>
      </p:sp>
      <p:sp>
        <p:nvSpPr>
          <p:cNvPr id="92" name="Text 79"/>
          <p:cNvSpPr/>
          <p:nvPr/>
        </p:nvSpPr>
        <p:spPr>
          <a:xfrm>
            <a:off x="7173468" y="5084064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schemas and columns read for the data-dictionary cross-check</a:t>
            </a:r>
            <a:endParaRPr lang="en-US" sz="750" dirty="0"/>
          </a:p>
        </p:txBody>
      </p:sp>
      <p:sp>
        <p:nvSpPr>
          <p:cNvPr id="93" name="Shape 80"/>
          <p:cNvSpPr/>
          <p:nvPr/>
        </p:nvSpPr>
        <p:spPr>
          <a:xfrm>
            <a:off x="1755648" y="4946904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81"/>
          <p:cNvSpPr/>
          <p:nvPr/>
        </p:nvSpPr>
        <p:spPr>
          <a:xfrm>
            <a:off x="365760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82"/>
          <p:cNvSpPr/>
          <p:nvPr/>
        </p:nvSpPr>
        <p:spPr>
          <a:xfrm>
            <a:off x="566928" y="56327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 — Model Serving</a:t>
            </a:r>
            <a:endParaRPr lang="en-US" sz="850" dirty="0"/>
          </a:p>
        </p:txBody>
      </p:sp>
      <p:sp>
        <p:nvSpPr>
          <p:cNvPr id="96" name="Shape 83"/>
          <p:cNvSpPr/>
          <p:nvPr/>
        </p:nvSpPr>
        <p:spPr>
          <a:xfrm>
            <a:off x="2249424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84"/>
          <p:cNvSpPr/>
          <p:nvPr/>
        </p:nvSpPr>
        <p:spPr>
          <a:xfrm>
            <a:off x="2450592" y="56327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— LDP step</a:t>
            </a:r>
            <a:endParaRPr lang="en-US" sz="850" dirty="0"/>
          </a:p>
        </p:txBody>
      </p:sp>
      <p:sp>
        <p:nvSpPr>
          <p:cNvPr id="98" name="Shape 85"/>
          <p:cNvSpPr/>
          <p:nvPr/>
        </p:nvSpPr>
        <p:spPr>
          <a:xfrm>
            <a:off x="4370832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86"/>
          <p:cNvSpPr/>
          <p:nvPr/>
        </p:nvSpPr>
        <p:spPr>
          <a:xfrm>
            <a:off x="4572000" y="563270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— Databricks App</a:t>
            </a:r>
            <a:endParaRPr lang="en-US" sz="850" dirty="0"/>
          </a:p>
        </p:txBody>
      </p:sp>
      <p:sp>
        <p:nvSpPr>
          <p:cNvPr id="100" name="Shape 87"/>
          <p:cNvSpPr/>
          <p:nvPr/>
        </p:nvSpPr>
        <p:spPr>
          <a:xfrm>
            <a:off x="6620256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88"/>
          <p:cNvSpPr/>
          <p:nvPr/>
        </p:nvSpPr>
        <p:spPr>
          <a:xfrm>
            <a:off x="6821424" y="5632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 service</a:t>
            </a:r>
            <a:endParaRPr lang="en-US" sz="850" dirty="0"/>
          </a:p>
        </p:txBody>
      </p:sp>
      <p:sp>
        <p:nvSpPr>
          <p:cNvPr id="102" name="Shape 89"/>
          <p:cNvSpPr/>
          <p:nvPr/>
        </p:nvSpPr>
        <p:spPr>
          <a:xfrm>
            <a:off x="8595360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D64AA"/>
          </a:solidFill>
          <a:ln w="12700">
            <a:solidFill>
              <a:srgbClr val="8D64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90"/>
          <p:cNvSpPr/>
          <p:nvPr/>
        </p:nvSpPr>
        <p:spPr>
          <a:xfrm>
            <a:off x="8796528" y="56327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of record</a:t>
            </a:r>
            <a:endParaRPr lang="en-US" sz="850" dirty="0"/>
          </a:p>
        </p:txBody>
      </p:sp>
      <p:sp>
        <p:nvSpPr>
          <p:cNvPr id="104" name="Text 91"/>
          <p:cNvSpPr/>
          <p:nvPr/>
        </p:nvSpPr>
        <p:spPr>
          <a:xfrm>
            <a:off x="329184" y="5852160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governs permissions and lineage across every table, Volume and endpoint shown. Target-state design, taken from the agent's written specification.</a:t>
            </a:r>
            <a:endParaRPr lang="en-US" sz="800" dirty="0"/>
          </a:p>
        </p:txBody>
      </p:sp>
      <p:sp>
        <p:nvSpPr>
          <p:cNvPr id="106" name="Text 92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CODEGEN / DATA ENGINEER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7863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2  ·  PIPELINE 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9184" y="987552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pipeline code, written by templates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9184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STTM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reads the approved workbook from SharePoint into a mapping contract. No model is involved at this stage at all.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0552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76856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6584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86584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86584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contract and the mapping contract are joined per feed; if the two disagree, the run stops and says so.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78224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34256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rules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34256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validation rule is sorted: the ones templates can build automatically, and the few that need attention.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25896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1645920"/>
            <a:ext cx="310896" cy="310896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81928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leftover rules go to the model, which drafts suggestions with quoted evidence — suggestions only, never merged.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73568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645920"/>
            <a:ext cx="310896" cy="310896"/>
          </a:xfrm>
          <a:prstGeom prst="ellipse">
            <a:avLst/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+ grade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write the transformation code, table definitions, tests, job config and a runnable notebook, then grade the result.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921240" y="2345436"/>
            <a:ext cx="128016" cy="128016"/>
          </a:xfrm>
          <a:prstGeom prst="rightArrow">
            <a:avLst/>
          </a:prstGeom>
          <a:solidFill>
            <a:srgbClr val="AEB8C1"/>
          </a:solidFill>
          <a:ln w="12700">
            <a:solidFill>
              <a:srgbClr val="AEB8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67544" y="1517904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77272" y="1645920"/>
            <a:ext cx="310896" cy="310896"/>
          </a:xfrm>
          <a:prstGeom prst="ellipse">
            <a:avLst/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7727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77272" y="20299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77272" y="232257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accepts or rejects each suggestion and owns the pull request the artifacts go into.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456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 (Claude)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911096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12264" y="34564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502152" y="34975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34564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9184" y="3803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trustworthy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918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pic>
        <p:nvPicPr>
          <p:cNvPr id="49" name="Image 0" descr="/home/claude/work/assets/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5" y="4366077"/>
            <a:ext cx="174102" cy="174102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7782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not improvisation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7548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contracts in, byte-identical code out, every time. The model never writes production code.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23062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37692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pic>
        <p:nvPicPr>
          <p:cNvPr id="54" name="Image 1" descr="/home/claude/work/assets/imag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325" y="4366077"/>
            <a:ext cx="174102" cy="174102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477926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file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437692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file records which contract version produced it, with a fingerprint — so any line traces back to its source document.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8132064" y="4133088"/>
            <a:ext cx="3718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278368" y="4297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pic>
        <p:nvPicPr>
          <p:cNvPr id="59" name="Image 2" descr="/home/claude/work/assets/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765" y="4366077"/>
            <a:ext cx="174102" cy="17410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8680704" y="4297680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rules baked in</a:t>
            </a:r>
            <a:endParaRPr lang="en-US" sz="1000" dirty="0"/>
          </a:p>
        </p:txBody>
      </p:sp>
      <p:sp>
        <p:nvSpPr>
          <p:cNvPr id="61" name="Text 56"/>
          <p:cNvSpPr/>
          <p:nvPr/>
        </p:nvSpPr>
        <p:spPr>
          <a:xfrm>
            <a:off x="8278368" y="4718304"/>
            <a:ext cx="3425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of protected fields, audit columns and reject handling come from the templates — compliance by default, not by memory.</a:t>
            </a:r>
            <a:endParaRPr lang="en-US" sz="850" dirty="0"/>
          </a:p>
        </p:txBody>
      </p:sp>
      <p:sp>
        <p:nvSpPr>
          <p:cNvPr id="63" name="Text 57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SOLUTION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786384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STTM is read from SharePoint via Microsoft Graph; templates generate the artifact set, and an engineer opens the pull request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9184" y="1170432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9184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15214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delivery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5544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person decides,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output lands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03120" y="1115568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194560" y="1197864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95144" y="1298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work/assets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564" y="1370868"/>
            <a:ext cx="184343" cy="18434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97480" y="1271016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Databricks App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1490472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rejects each drafted rule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322576" y="1682496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each suggestion beside the source text it quoted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pull request themselves — the agent cannot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045452" y="1197864"/>
            <a:ext cx="472287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146036" y="1298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1" descr="/home/claude/work/assets/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456" y="1370868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48372" y="1271016"/>
            <a:ext cx="4119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artifact set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548372" y="1490472"/>
            <a:ext cx="4119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· DDL · tests · job config · notebook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173468" y="1682496"/>
            <a:ext cx="4466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pass / flags / fail by automated checks before a human looks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carries its contract version and fingerprint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755648" y="1545336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329184" y="2304288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29184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1520" y="228600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29184" y="268833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2103120" y="2249424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2194560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2295144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2" descr="/home/claude/work/assets/imag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564" y="2504724"/>
            <a:ext cx="184343" cy="18434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697480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resolve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2697480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 model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2322576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read into a mapping contract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disagreement halts the run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620006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/>
          <p:cNvSpPr/>
          <p:nvPr/>
        </p:nvSpPr>
        <p:spPr>
          <a:xfrm>
            <a:off x="4720590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3" descr="/home/claude/work/assets/image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010" y="2504724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22926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rules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122926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4748022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Template-covered vs. leftover rules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7045452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4"/>
          <p:cNvSpPr/>
          <p:nvPr/>
        </p:nvSpPr>
        <p:spPr>
          <a:xfrm>
            <a:off x="7146036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4" descr="/home/claude/work/assets/image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8456" y="2504724"/>
            <a:ext cx="184343" cy="184343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48372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on leftovers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548372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model call in the run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7173468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draft suggestion per open rule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suggestion quotes its source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9470898" y="2331720"/>
            <a:ext cx="229743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39"/>
          <p:cNvSpPr/>
          <p:nvPr/>
        </p:nvSpPr>
        <p:spPr>
          <a:xfrm>
            <a:off x="9571482" y="24323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Image 5" descr="/home/claude/work/assets/image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3902" y="2504724"/>
            <a:ext cx="184343" cy="18434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973818" y="2404872"/>
            <a:ext cx="16939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+ grade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9973818" y="2624328"/>
            <a:ext cx="1693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9598914" y="2816352"/>
            <a:ext cx="2041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render every file per feed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assign the verdict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1755648" y="2679192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4"/>
          <p:cNvSpPr/>
          <p:nvPr/>
        </p:nvSpPr>
        <p:spPr>
          <a:xfrm>
            <a:off x="329184" y="3438144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5"/>
          <p:cNvSpPr/>
          <p:nvPr/>
        </p:nvSpPr>
        <p:spPr>
          <a:xfrm>
            <a:off x="329184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731520" y="341985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services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329184" y="38221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calls,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workspace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2103120" y="3383280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49"/>
          <p:cNvSpPr/>
          <p:nvPr/>
        </p:nvSpPr>
        <p:spPr>
          <a:xfrm>
            <a:off x="2194560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0"/>
          <p:cNvSpPr/>
          <p:nvPr/>
        </p:nvSpPr>
        <p:spPr>
          <a:xfrm>
            <a:off x="2295144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6" descr="/home/claude/work/assets/image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7564" y="3638580"/>
            <a:ext cx="184343" cy="184343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2697480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2697480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reviewed like code</a:t>
            </a:r>
            <a:endParaRPr lang="en-US" sz="750" dirty="0"/>
          </a:p>
        </p:txBody>
      </p:sp>
      <p:sp>
        <p:nvSpPr>
          <p:cNvPr id="62" name="Text 53"/>
          <p:cNvSpPr/>
          <p:nvPr/>
        </p:nvSpPr>
        <p:spPr>
          <a:xfrm>
            <a:off x="2322576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component that writes production code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rules live here — masking, audit columns, rejects</a:t>
            </a:r>
            <a:endParaRPr lang="en-US" sz="750" dirty="0"/>
          </a:p>
        </p:txBody>
      </p:sp>
      <p:sp>
        <p:nvSpPr>
          <p:cNvPr id="63" name="Shape 54"/>
          <p:cNvSpPr/>
          <p:nvPr/>
        </p:nvSpPr>
        <p:spPr>
          <a:xfrm>
            <a:off x="5428488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55"/>
          <p:cNvSpPr/>
          <p:nvPr/>
        </p:nvSpPr>
        <p:spPr>
          <a:xfrm>
            <a:off x="5529072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5" name="Image 7" descr="/home/claude/work/assets/image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492" y="3638580"/>
            <a:ext cx="184343" cy="184343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931408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1000" dirty="0"/>
          </a:p>
        </p:txBody>
      </p:sp>
      <p:sp>
        <p:nvSpPr>
          <p:cNvPr id="67" name="Text 57"/>
          <p:cNvSpPr/>
          <p:nvPr/>
        </p:nvSpPr>
        <p:spPr>
          <a:xfrm>
            <a:off x="5931408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Claude-family endpoint</a:t>
            </a:r>
            <a:endParaRPr lang="en-US" sz="750" dirty="0"/>
          </a:p>
        </p:txBody>
      </p:sp>
      <p:sp>
        <p:nvSpPr>
          <p:cNvPr id="68" name="Text 58"/>
          <p:cNvSpPr/>
          <p:nvPr/>
        </p:nvSpPr>
        <p:spPr>
          <a:xfrm>
            <a:off x="5556504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only by the leftover-rules step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advisory and never auto-merged</a:t>
            </a:r>
            <a:endParaRPr lang="en-US" sz="750" dirty="0"/>
          </a:p>
        </p:txBody>
      </p:sp>
      <p:sp>
        <p:nvSpPr>
          <p:cNvPr id="69" name="Shape 59"/>
          <p:cNvSpPr/>
          <p:nvPr/>
        </p:nvSpPr>
        <p:spPr>
          <a:xfrm>
            <a:off x="8662416" y="3465576"/>
            <a:ext cx="31059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0"/>
          <p:cNvSpPr/>
          <p:nvPr/>
        </p:nvSpPr>
        <p:spPr>
          <a:xfrm>
            <a:off x="8763000" y="3566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" name="Image 8" descr="/home/claude/work/assets/image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5420" y="3638580"/>
            <a:ext cx="184343" cy="184343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9165336" y="3538728"/>
            <a:ext cx="2502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storage</a:t>
            </a:r>
            <a:endParaRPr lang="en-US" sz="1000" dirty="0"/>
          </a:p>
        </p:txBody>
      </p:sp>
      <p:sp>
        <p:nvSpPr>
          <p:cNvPr id="73" name="Text 62"/>
          <p:cNvSpPr/>
          <p:nvPr/>
        </p:nvSpPr>
        <p:spPr>
          <a:xfrm>
            <a:off x="9165336" y="3758184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+ Volumes</a:t>
            </a:r>
            <a:endParaRPr lang="en-US" sz="750" dirty="0"/>
          </a:p>
        </p:txBody>
      </p:sp>
      <p:sp>
        <p:nvSpPr>
          <p:cNvPr id="74" name="Text 63"/>
          <p:cNvSpPr/>
          <p:nvPr/>
        </p:nvSpPr>
        <p:spPr>
          <a:xfrm>
            <a:off x="8790432" y="3950208"/>
            <a:ext cx="284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contracts and rule coverage per feed</a:t>
            </a:r>
            <a:endParaRPr lang="en-US" sz="7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versioned artifact set per feed and run</a:t>
            </a:r>
            <a:endParaRPr lang="en-US" sz="750" dirty="0"/>
          </a:p>
        </p:txBody>
      </p:sp>
      <p:sp>
        <p:nvSpPr>
          <p:cNvPr id="75" name="Shape 64"/>
          <p:cNvSpPr/>
          <p:nvPr/>
        </p:nvSpPr>
        <p:spPr>
          <a:xfrm>
            <a:off x="1755648" y="3813048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65"/>
          <p:cNvSpPr/>
          <p:nvPr/>
        </p:nvSpPr>
        <p:spPr>
          <a:xfrm>
            <a:off x="329184" y="4572000"/>
            <a:ext cx="310896" cy="310896"/>
          </a:xfrm>
          <a:prstGeom prst="ellipse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66"/>
          <p:cNvSpPr/>
          <p:nvPr/>
        </p:nvSpPr>
        <p:spPr>
          <a:xfrm>
            <a:off x="329184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8" name="Text 67"/>
          <p:cNvSpPr/>
          <p:nvPr/>
        </p:nvSpPr>
        <p:spPr>
          <a:xfrm>
            <a:off x="731520" y="455371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000" dirty="0"/>
          </a:p>
        </p:txBody>
      </p:sp>
      <p:sp>
        <p:nvSpPr>
          <p:cNvPr id="79" name="Text 68"/>
          <p:cNvSpPr/>
          <p:nvPr/>
        </p:nvSpPr>
        <p:spPr>
          <a:xfrm>
            <a:off x="329184" y="49560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documents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code actually live</a:t>
            </a:r>
            <a:endParaRPr lang="en-US" sz="750" dirty="0"/>
          </a:p>
        </p:txBody>
      </p:sp>
      <p:sp>
        <p:nvSpPr>
          <p:cNvPr id="80" name="Shape 69"/>
          <p:cNvSpPr/>
          <p:nvPr/>
        </p:nvSpPr>
        <p:spPr>
          <a:xfrm>
            <a:off x="2103120" y="4517136"/>
            <a:ext cx="9756648" cy="100584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0"/>
          <p:cNvSpPr/>
          <p:nvPr/>
        </p:nvSpPr>
        <p:spPr>
          <a:xfrm>
            <a:off x="2194560" y="4599432"/>
            <a:ext cx="472744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71"/>
          <p:cNvSpPr/>
          <p:nvPr/>
        </p:nvSpPr>
        <p:spPr>
          <a:xfrm>
            <a:off x="2295144" y="47000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8D64AA"/>
          </a:solidFill>
          <a:ln w="12700">
            <a:solidFill>
              <a:srgbClr val="8D64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3" name="Image 9" descr="/home/claude/work/assets/image2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8296" y="4772436"/>
            <a:ext cx="184343" cy="184343"/>
          </a:xfrm>
          <a:prstGeom prst="rect">
            <a:avLst/>
          </a:prstGeom>
        </p:spPr>
      </p:pic>
      <p:sp>
        <p:nvSpPr>
          <p:cNvPr id="84" name="Text 72"/>
          <p:cNvSpPr/>
          <p:nvPr/>
        </p:nvSpPr>
        <p:spPr>
          <a:xfrm>
            <a:off x="2697480" y="4672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AmeriHealth SharePoint  ·  Microsoft Graph API</a:t>
            </a:r>
            <a:endParaRPr lang="en-US" sz="1000" dirty="0"/>
          </a:p>
        </p:txBody>
      </p:sp>
      <p:sp>
        <p:nvSpPr>
          <p:cNvPr id="85" name="Text 73"/>
          <p:cNvSpPr/>
          <p:nvPr/>
        </p:nvSpPr>
        <p:spPr>
          <a:xfrm>
            <a:off x="2697480" y="4892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STTM workbook</a:t>
            </a:r>
            <a:endParaRPr lang="en-US" sz="750" dirty="0"/>
          </a:p>
        </p:txBody>
      </p:sp>
      <p:sp>
        <p:nvSpPr>
          <p:cNvPr id="86" name="Text 74"/>
          <p:cNvSpPr/>
          <p:nvPr/>
        </p:nvSpPr>
        <p:spPr>
          <a:xfrm>
            <a:off x="2322576" y="5084064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same library Agent 1 wrote it to — approved versions only</a:t>
            </a:r>
            <a:endParaRPr lang="en-US" sz="750" dirty="0"/>
          </a:p>
        </p:txBody>
      </p:sp>
      <p:sp>
        <p:nvSpPr>
          <p:cNvPr id="93" name="Shape 80"/>
          <p:cNvSpPr/>
          <p:nvPr/>
        </p:nvSpPr>
        <p:spPr>
          <a:xfrm>
            <a:off x="7050024" y="4599432"/>
            <a:ext cx="472744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81"/>
          <p:cNvSpPr/>
          <p:nvPr/>
        </p:nvSpPr>
        <p:spPr>
          <a:xfrm>
            <a:off x="7150608" y="47000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5" name="Image 11" descr="/home/claude/work/assets/image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4616" y="4772436"/>
            <a:ext cx="184343" cy="184343"/>
          </a:xfrm>
          <a:prstGeom prst="rect">
            <a:avLst/>
          </a:prstGeom>
        </p:spPr>
      </p:pic>
      <p:sp>
        <p:nvSpPr>
          <p:cNvPr id="96" name="Text 82"/>
          <p:cNvSpPr/>
          <p:nvPr/>
        </p:nvSpPr>
        <p:spPr>
          <a:xfrm>
            <a:off x="7552944" y="4672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catalog &amp; schema</a:t>
            </a:r>
            <a:endParaRPr lang="en-US" sz="1000" dirty="0"/>
          </a:p>
        </p:txBody>
      </p:sp>
      <p:sp>
        <p:nvSpPr>
          <p:cNvPr id="97" name="Text 83"/>
          <p:cNvSpPr/>
          <p:nvPr/>
        </p:nvSpPr>
        <p:spPr>
          <a:xfrm>
            <a:off x="7552944" y="4892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not written</a:t>
            </a:r>
            <a:endParaRPr lang="en-US" sz="750" dirty="0"/>
          </a:p>
        </p:txBody>
      </p:sp>
      <p:sp>
        <p:nvSpPr>
          <p:cNvPr id="98" name="Text 84"/>
          <p:cNvSpPr/>
          <p:nvPr/>
        </p:nvSpPr>
        <p:spPr>
          <a:xfrm>
            <a:off x="7168896" y="5084064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definitions validated against where the pipeline will land</a:t>
            </a:r>
            <a:endParaRPr lang="en-US" sz="750" dirty="0"/>
          </a:p>
        </p:txBody>
      </p:sp>
      <p:sp>
        <p:nvSpPr>
          <p:cNvPr id="99" name="Shape 85"/>
          <p:cNvSpPr/>
          <p:nvPr/>
        </p:nvSpPr>
        <p:spPr>
          <a:xfrm>
            <a:off x="1755648" y="4946904"/>
            <a:ext cx="201168" cy="146304"/>
          </a:xfrm>
          <a:prstGeom prst="rightArrow">
            <a:avLst/>
          </a:prstGeom>
          <a:solidFill>
            <a:srgbClr val="8C99A4"/>
          </a:solidFill>
          <a:ln w="12700">
            <a:solidFill>
              <a:srgbClr val="8C99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86"/>
          <p:cNvSpPr/>
          <p:nvPr/>
        </p:nvSpPr>
        <p:spPr>
          <a:xfrm>
            <a:off x="365760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87"/>
          <p:cNvSpPr/>
          <p:nvPr/>
        </p:nvSpPr>
        <p:spPr>
          <a:xfrm>
            <a:off x="566928" y="56327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 — Model Serving</a:t>
            </a:r>
            <a:endParaRPr lang="en-US" sz="850" dirty="0"/>
          </a:p>
        </p:txBody>
      </p:sp>
      <p:sp>
        <p:nvSpPr>
          <p:cNvPr id="102" name="Shape 88"/>
          <p:cNvSpPr/>
          <p:nvPr/>
        </p:nvSpPr>
        <p:spPr>
          <a:xfrm>
            <a:off x="2249424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89"/>
          <p:cNvSpPr/>
          <p:nvPr/>
        </p:nvSpPr>
        <p:spPr>
          <a:xfrm>
            <a:off x="2450592" y="56327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— LDP step</a:t>
            </a:r>
            <a:endParaRPr lang="en-US" sz="850" dirty="0"/>
          </a:p>
        </p:txBody>
      </p:sp>
      <p:sp>
        <p:nvSpPr>
          <p:cNvPr id="104" name="Shape 90"/>
          <p:cNvSpPr/>
          <p:nvPr/>
        </p:nvSpPr>
        <p:spPr>
          <a:xfrm>
            <a:off x="4370832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91"/>
          <p:cNvSpPr/>
          <p:nvPr/>
        </p:nvSpPr>
        <p:spPr>
          <a:xfrm>
            <a:off x="4572000" y="563270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— Databricks App</a:t>
            </a:r>
            <a:endParaRPr lang="en-US" sz="850" dirty="0"/>
          </a:p>
        </p:txBody>
      </p:sp>
      <p:sp>
        <p:nvSpPr>
          <p:cNvPr id="106" name="Shape 92"/>
          <p:cNvSpPr/>
          <p:nvPr/>
        </p:nvSpPr>
        <p:spPr>
          <a:xfrm>
            <a:off x="6620256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93"/>
          <p:cNvSpPr/>
          <p:nvPr/>
        </p:nvSpPr>
        <p:spPr>
          <a:xfrm>
            <a:off x="6821424" y="5632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 service</a:t>
            </a:r>
            <a:endParaRPr lang="en-US" sz="850" dirty="0"/>
          </a:p>
        </p:txBody>
      </p:sp>
      <p:sp>
        <p:nvSpPr>
          <p:cNvPr id="108" name="Shape 94"/>
          <p:cNvSpPr/>
          <p:nvPr/>
        </p:nvSpPr>
        <p:spPr>
          <a:xfrm>
            <a:off x="8595360" y="567385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D64AA"/>
          </a:solidFill>
          <a:ln w="12700">
            <a:solidFill>
              <a:srgbClr val="8D64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95"/>
          <p:cNvSpPr/>
          <p:nvPr/>
        </p:nvSpPr>
        <p:spPr>
          <a:xfrm>
            <a:off x="8796528" y="56327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of record</a:t>
            </a:r>
            <a:endParaRPr lang="en-US" sz="850" dirty="0"/>
          </a:p>
        </p:txBody>
      </p:sp>
      <p:sp>
        <p:nvSpPr>
          <p:cNvPr id="110" name="Text 96"/>
          <p:cNvSpPr/>
          <p:nvPr/>
        </p:nvSpPr>
        <p:spPr>
          <a:xfrm>
            <a:off x="329184" y="5852160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C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governs permissions and lineage across every table, Volume and endpoint shown. The generated pipelines are themselves Databricks-native.</a:t>
            </a:r>
            <a:endParaRPr lang="en-US" sz="800" dirty="0"/>
          </a:p>
        </p:txBody>
      </p:sp>
      <p:sp>
        <p:nvSpPr>
          <p:cNvPr id="111" name="Text 97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ACFC, and what happens next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463040"/>
            <a:ext cx="2734056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pic>
        <p:nvPicPr>
          <p:cNvPr id="6" name="Image 0" descr="/home/claude/work/assets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1768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494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where to start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257860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of the two agents leads, and run a short pilot on real, in-boundary ACFC material rather than samples.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82696" y="1463040"/>
            <a:ext cx="2734056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5576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</p:sp>
      <p:pic>
        <p:nvPicPr>
          <p:cNvPr id="11" name="Image 1" descr="/home/claude/work/assets/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83" y="17688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22494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reviewer per agent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65576" y="257860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waits on a person's sign-off. That person needs naming, and a few hours a week.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1344" y="1463040"/>
            <a:ext cx="2734056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64224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</p:sp>
      <p:pic>
        <p:nvPicPr>
          <p:cNvPr id="16" name="Image 2" descr="/home/claude/work/assets/image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831" y="176881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2494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access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64224" y="257860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Claude-family serving endpoint, a writable catalog and schema, pipeline permissions, and an Entra ID app registration for SharePoint access.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79992" y="1463040"/>
            <a:ext cx="2734056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62872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D64AA"/>
          </a:solidFill>
          <a:ln w="12700">
            <a:solidFill>
              <a:srgbClr val="8D64AA"/>
            </a:solidFill>
            <a:prstDash val="solid"/>
          </a:ln>
        </p:spPr>
      </p:sp>
      <p:pic>
        <p:nvPicPr>
          <p:cNvPr id="21" name="Image 3" descr="/home/claude/work/assets/image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7479" y="176881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24942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data-handling path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262872" y="257860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member-facing documents follow the HIPAA/BAA review before they enter any pipeline.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84048" y="3529584"/>
            <a:ext cx="11430000" cy="1993392"/>
          </a:xfrm>
          <a:prstGeom prst="roundRect">
            <a:avLst>
              <a:gd name="adj" fmla="val 3211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03504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expect from the pilot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03504" y="4078224"/>
            <a:ext cx="348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agent in your own workspace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03504" y="4407408"/>
            <a:ext cx="3480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on Databricks, governed by Unity Catalog, with the review app running inside the platform your team already uses.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358640" y="4078224"/>
            <a:ext cx="348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assertions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358640" y="4407408"/>
            <a:ext cx="3480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arrives with its citations, its verdict, and a record of what the agent checked and what the reviewer decided.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113776" y="4078224"/>
            <a:ext cx="3480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numbers, not ours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113776" y="4407408"/>
            <a:ext cx="3480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establishes the baseline — FRDs per month, hours per mapping, feeds per release — so the value case is measured, not estimated.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66928"/>
            <a:ext cx="2048256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23957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2552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F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agents. One governed platform. Every hand-off approved by a person.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26B2D8CA0A94F885E990AD9C65561" ma:contentTypeVersion="3" ma:contentTypeDescription="Create a new document." ma:contentTypeScope="" ma:versionID="85bb13b16a9506a223afed9a3ec3a41c">
  <xsd:schema xmlns:xsd="http://www.w3.org/2001/XMLSchema" xmlns:xs="http://www.w3.org/2001/XMLSchema" xmlns:p="http://schemas.microsoft.com/office/2006/metadata/properties" xmlns:ns2="6537d64e-af8a-45f1-9663-213a80cc8430" targetNamespace="http://schemas.microsoft.com/office/2006/metadata/properties" ma:root="true" ma:fieldsID="d0025840606445d7475e5c4ef7c05746" ns2:_="">
    <xsd:import namespace="6537d64e-af8a-45f1-9663-213a80cc84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7d64e-af8a-45f1-9663-213a80cc8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CDE733-B052-48C7-8D8B-6A197F3D6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3666F2-4465-4862-A672-AF211D658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37d64e-af8a-45f1-9663-213a80cc84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95DF1D-B647-411E-A3C7-BB819E8DE7D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AmeriHealth Caritas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AI-in-Engineering Program Overview</dc:title>
  <dc:subject>PptxGenJS Presentation</dc:subject>
  <dc:creator>Hexaware Technologies</dc:creator>
  <cp:lastModifiedBy>Hexaware Technologies</cp:lastModifiedBy>
  <cp:revision>3</cp:revision>
  <dcterms:created xsi:type="dcterms:W3CDTF">2026-08-20T11:55:34Z</dcterms:created>
  <dcterms:modified xsi:type="dcterms:W3CDTF">2026-08-20T16:49:31Z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0x01010020426B2D8CA0A94F885E990AD9C65561</vt:lpwstr>
  </property>
</Properties>
</file>