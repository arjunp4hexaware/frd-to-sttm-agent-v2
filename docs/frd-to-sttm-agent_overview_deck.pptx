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Opening. What the FRD→STTM agent does, why ACFC would want it, measured results from the 7 Aug 2026 live runs, expected benefits, and an explicitly labelled illustrative savings model. All measurements are on a scrubbed practice document — a real run, not real client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'The reading and the typing — not the thinking.' The agent copies out what the document says, checks every value back against the text, fills the workbook, and stops to ask when the FRD is unclear.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ACFC's actual analyst effort per STTM is not in the repo; 'it takes days' is the deck's framing. Ask the client for their number to calibrate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today: claude-opus-4-8 via the Anthropic SDK; the eval repo recommends serving on claude-sonnet-4-6 (same gate profile, half the cost). Server-side structured output was rejected by the API for this schema size, so the schema is rendered into the prompt and validated client-side with extra='forbid'.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reference workbook plays two separated roles: its source-layout sections stand in for the vendor source dictionary (a production input); its stage/standard sections are ground truth for eval only and never an input to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candid about the CodeGen mapping-contract gap: half the hand-off works today, the other half was produced out-of-repo for the fixtures.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present a bare '100%' — cell accuracy on the demo pair is bounded by the derivation ceiling. The 194 misses are the fixture's deliberate string-vs-decimal divergences. Eval-repo caveats: n=2 document pairs; shipped harness was iterated on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review load honestly: on the demo document, at most a handful of gated items per run, often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the client to replace each figure. QA time is deliberately kept: the agent removes typing, not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'Built for the workspace, shown on a laptop.' The three plumbing items are small; the extractor for CodeGen is the one real engineering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these out loud; they are the asks. Eval-repo caveats apply to any model claim: n=2 pairs, shipped harness not held-out.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pilot ask. Cost of the pilot in LLM spend is under a dollar.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00A19A"/>
                </a:solidFill>
                <a:latin typeface="Calibri"/>
              </a:rPr>
              <a:t>HEXAWARE × ACFC · AI-IN-ENGINEERING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 Light"/>
              </a:rPr>
              <a:t>FRD → STTM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3D2DE"/>
                </a:solidFill>
                <a:latin typeface="Calibri Light"/>
              </a:rPr>
              <a:t>From an approved Functional Requirements Document to the Source-to-Target Mapping workbook — in about thirty seconds, with every value checked back against the document.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3D2DE"/>
                </a:solidFill>
                <a:latin typeface="Calibri"/>
              </a:rPr>
              <a:t>Prepared for AmeriHealth Caritas Family of Companies (ACFC)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5838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3D2DE"/>
                </a:solidFill>
                <a:latin typeface="Calibri"/>
              </a:rPr>
              <a:t>Hexaware · AI-in-Engineering program · Agent 2 of 5 ·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875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3D2DE"/>
                </a:solidFill>
                <a:latin typeface="Calibri"/>
              </a:rPr>
              <a:t>Status: live end-to-end runs on an anonymised FRD (94.1% cell match vs. golden workbook); Databricks bundle built, Apps deploy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What it does — in one sentence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E2233"/>
                </a:solidFill>
                <a:latin typeface="Calibri Light"/>
              </a:rPr>
              <a:t>It reads an approved FRD, extracts every feed, file pattern, target table and rule with one Claude call, verifies every extracted value against the document text, asks a person about anything ambiguous, and renders the STTM workbook plus a machine-readable feed contract for the CodeGen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3A4A5C"/>
                </a:solidFill>
                <a:latin typeface="Calibri"/>
              </a:rPr>
              <a:t>Input: FRD .docx (from the BRD→FRD agent or hand-authored).</a:t>
            </a:r>
          </a:p>
          <a:p>
            <a:pPr algn="l"/>
            <a:r>
              <a:rPr sz="1500" b="0" i="0">
                <a:solidFill>
                  <a:srgbClr val="3A4A5C"/>
                </a:solidFill>
                <a:latin typeface="Calibri"/>
              </a:rPr>
              <a:t>Output: STTM workbook .xlsx (FILE_DETAILS, VERSION_HISTORY, one MAPPING sheet per target table) + &lt;doc_id&gt;.contract.json + run report + cell-level score against a reference workbook.</a:t>
            </a:r>
          </a:p>
          <a:p>
            <a:pPr algn="l"/>
            <a:r>
              <a:rPr sz="1500" b="0" i="0">
                <a:solidFill>
                  <a:srgbClr val="3A4A5C"/>
                </a:solidFill>
                <a:latin typeface="Calibri"/>
              </a:rPr>
              <a:t>Exactly one LLM call in the middle; everything else is deterministic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FRD → STTM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07C76"/>
                </a:solidFill>
                <a:latin typeface="Calibri"/>
              </a:rP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Why ACFC needs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95747" cy="4069080"/>
          </a:xfrm>
          <a:prstGeom prst="roundRect">
            <a:avLst>
              <a:gd name="adj" fmla="val 4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295747" cy="548640"/>
          </a:xfrm>
          <a:prstGeom prst="roundRect">
            <a:avLst>
              <a:gd name="adj" fmla="val 25000"/>
            </a:avLst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295747" cy="274320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8"/>
            <a:ext cx="48385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STTM authoring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838547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B7A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A mapping analyst reads the whole FRD, cross-checks the data dictionary and types every row — days per document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B7A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Two analysts produce two different spreadsheets; names and rules drift between feeds and teams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B7A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No record of which sentence a cell came from — hard to audit later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B7A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It holds everything up: pipeline code, tests and reviews all wait on the workbook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B7A8C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Hundreds of columns per feed (the demo FRD maps 411) — transcription errors are inevitable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325880"/>
            <a:ext cx="5295747" cy="4069080"/>
          </a:xfrm>
          <a:prstGeom prst="roundRect">
            <a:avLst>
              <a:gd name="adj" fmla="val 4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325880"/>
            <a:ext cx="5295747" cy="548640"/>
          </a:xfrm>
          <a:prstGeom prst="roundRect">
            <a:avLst>
              <a:gd name="adj" fmla="val 25000"/>
            </a:avLst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600200"/>
            <a:ext cx="5295747" cy="2743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4467" y="1435608"/>
            <a:ext cx="48385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With the FRD → STTM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467" y="2057400"/>
            <a:ext cx="4838547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Workbook drafted in ~33 s for a 3-feed FRD; the analyst reviews a short list of flagged items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Same derivation rules every run — consistency is code, not habit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Every extracted value is grounded: strict fields must appear verbatim, advisory fields ≥ 75% overlap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Feed contract JSON is emitted alongside — CodeGen can start the moment the workbook is approved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0 of 50 sampled identifiers invented; ≈ 96% of extracted field values kept as-is by a proxy SME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532120"/>
            <a:ext cx="10911535" cy="640080"/>
          </a:xfrm>
          <a:prstGeom prst="roundRect">
            <a:avLst>
              <a:gd name="adj" fmla="val 20000"/>
            </a:avLst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5715000"/>
            <a:ext cx="50800" cy="2743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32120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Days of transcription become a 30-second run plus a short human review — and every cell can be traced back to the sentence it came from.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FRD → STTM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07C76"/>
                </a:solidFill>
                <a:latin typeface="Calibri"/>
              </a:rPr>
              <a:t>LLM PROPOSES, CODE VERIFIES, HUMAN RESOLVES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How it works — four notebooks, one LLM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948220" cy="1645920"/>
          </a:xfrm>
          <a:prstGeom prst="roundRect">
            <a:avLst>
              <a:gd name="adj" fmla="val 10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948220" cy="63500"/>
          </a:xfrm>
          <a:prstGeom prst="rect">
            <a:avLst/>
          </a:prstGeom>
          <a:solidFill>
            <a:srgbClr val="007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948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7C76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38528"/>
            <a:ext cx="18019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E2233"/>
                </a:solidFill>
                <a:latin typeface="Calibri"/>
              </a:rPr>
              <a:t>01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7653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3A4A5C"/>
                </a:solidFill>
                <a:latin typeface="Calibri"/>
              </a:rPr>
              <a:t>.docx → normalised markdown, requirement IDs preserved → frd_documents Delta table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24876" y="2276856"/>
            <a:ext cx="219456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0908" y="1554480"/>
            <a:ext cx="1948220" cy="1645920"/>
          </a:xfrm>
          <a:prstGeom prst="roundRect">
            <a:avLst>
              <a:gd name="adj" fmla="val 10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908" y="1554480"/>
            <a:ext cx="1948220" cy="63500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908" y="1691640"/>
            <a:ext cx="1948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E6ED1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4060" y="1938528"/>
            <a:ext cx="18019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E2233"/>
                </a:solidFill>
                <a:latin typeface="Calibri"/>
              </a:rPr>
              <a:t>02 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2348" y="2377440"/>
            <a:ext cx="17653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3A4A5C"/>
                </a:solidFill>
                <a:latin typeface="Calibri"/>
              </a:rPr>
              <a:t>One Claude call: schema-in-prompt, streamed JSON, validated client-side — truncation or refusal is a failure, never a guess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65705" y="2276856"/>
            <a:ext cx="219456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1737" y="1554480"/>
            <a:ext cx="1948220" cy="1645920"/>
          </a:xfrm>
          <a:prstGeom prst="roundRect">
            <a:avLst>
              <a:gd name="adj" fmla="val 10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1737" y="1554480"/>
            <a:ext cx="1948220" cy="63500"/>
          </a:xfrm>
          <a:prstGeom prst="rect">
            <a:avLst/>
          </a:prstGeom>
          <a:solidFill>
            <a:srgbClr val="007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1737" y="1691640"/>
            <a:ext cx="1948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7C76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4889" y="1938528"/>
            <a:ext cx="18019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E2233"/>
                </a:solidFill>
                <a:latin typeface="Calibri"/>
              </a:rPr>
              <a:t>03 CONTRACT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3177" y="2377440"/>
            <a:ext cx="17653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3A4A5C"/>
                </a:solidFill>
                <a:latin typeface="Calibri"/>
              </a:rPr>
              <a:t>Pydantic validation, regex enrichment, grounding audit (strict verbatim + advisory overlap), ambiguity gating → contract.json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06533" y="2276856"/>
            <a:ext cx="219456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2565" y="1554480"/>
            <a:ext cx="1948220" cy="1645920"/>
          </a:xfrm>
          <a:prstGeom prst="roundRect">
            <a:avLst>
              <a:gd name="adj" fmla="val 10000"/>
            </a:avLst>
          </a:prstGeom>
          <a:solidFill>
            <a:srgbClr val="FB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2565" y="1554480"/>
            <a:ext cx="1948220" cy="63500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2565" y="1691640"/>
            <a:ext cx="1948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98A1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5717" y="1938528"/>
            <a:ext cx="18019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E2233"/>
                </a:solidFill>
                <a:latin typeface="Calibri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4005" y="2377440"/>
            <a:ext cx="17653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3A4A5C"/>
                </a:solidFill>
                <a:latin typeface="Calibri"/>
              </a:rPr>
              <a:t>Analyst resolves gated ambiguities in the review app: pick a candidate, none-of-these, or free text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47362" y="2276856"/>
            <a:ext cx="219456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3394" y="1554480"/>
            <a:ext cx="1948220" cy="1645920"/>
          </a:xfrm>
          <a:prstGeom prst="roundRect">
            <a:avLst>
              <a:gd name="adj" fmla="val 10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3394" y="1554480"/>
            <a:ext cx="1948220" cy="63500"/>
          </a:xfrm>
          <a:prstGeom prst="rect">
            <a:avLst/>
          </a:prstGeom>
          <a:solidFill>
            <a:srgbClr val="007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3394" y="1691640"/>
            <a:ext cx="1948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7C76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6546" y="1938528"/>
            <a:ext cx="18019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E2233"/>
                </a:solidFill>
                <a:latin typeface="Calibri"/>
              </a:rPr>
              <a:t>04 RENDER + EVAL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4834" y="2377440"/>
            <a:ext cx="17653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3A4A5C"/>
                </a:solidFill>
                <a:latin typeface="Calibri"/>
              </a:rPr>
              <a:t>Apply resolutions → dictionary cross-check → derive stage/standard mappings → .xlsx + cell-level score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410712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3649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  <a:latin typeface="Calibri"/>
              </a:rPr>
              <a:t>LLM step (Claude)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17520" y="3410712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007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3649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  <a:latin typeface="Calibri"/>
              </a:rPr>
              <a:t>Deterministic code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94960" y="3410712"/>
            <a:ext cx="201168" cy="201168"/>
          </a:xfrm>
          <a:prstGeom prst="roundRect">
            <a:avLst>
              <a:gd name="adj" fmla="val 30000"/>
            </a:avLst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0" y="33649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  <a:latin typeface="Calibri"/>
              </a:rPr>
              <a:t>Human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840480"/>
            <a:ext cx="1091153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Gate vocabulary shared across the program: FAIL (any strict grounding miss — no contract emitted) / PASS WITH FLAGS (advisory flags or ambiguities gated for review) / PASS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Three ambiguity kinds only — attribution, disagreement, advisory grounding — each with a stable ID that survives re-runs so human decisions are never lost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Runs as a Databricks Asset Bundle job (serverless) or the same four scripts on a laptop; artifacts in Unity Catalog volumes; key in a secret scope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532120"/>
            <a:ext cx="10911535" cy="640080"/>
          </a:xfrm>
          <a:prstGeom prst="roundRect">
            <a:avLst>
              <a:gd name="adj" fmla="val 20000"/>
            </a:avLst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8680" y="5715000"/>
            <a:ext cx="50800" cy="2743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5532120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AI only reads. Plain, predictable code does everything else — and never writes a cell it cannot back up with the document.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FRD → STTM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07C76"/>
                </a:solidFill>
                <a:latin typeface="Calibri"/>
              </a:rPr>
              <a:t>GOVERNANCE BY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Built for a regulated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0800" cy="2295144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63040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C76"/>
                </a:solidFill>
                <a:latin typeface="Calibri"/>
              </a:rPr>
              <a:t>Nothing invented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0A19A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Strict fields (IDs, file patterns, tables, LOBs) must appear verbatim in the FRD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0A19A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45/45 strict + 30/30 advisory checks passed on the live run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0A19A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'Never relax the audit to make a run pass'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602" y="1325880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2602" y="1325880"/>
            <a:ext cx="50800" cy="2295144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3770" y="1463040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6ED1"/>
                </a:solidFill>
                <a:latin typeface="Calibri"/>
              </a:rPr>
              <a:t>When unsure, it 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3770" y="1965960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2E6ED1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Same rule on two feeds → attribution ambiguity with candidates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E6ED1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Model vs regex disagreement → gated, not guessed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E6ED1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Dictionary confirms what the data proves; the rest goes to a person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5124" y="1325880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FB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5124" y="1325880"/>
            <a:ext cx="50800" cy="2295144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6292" y="1463040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A1F"/>
                </a:solidFill>
                <a:latin typeface="Calibri"/>
              </a:rPr>
              <a:t>A person has the last 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292" y="1965960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8A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Review app: candidate pick / none-of-these / free text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D98A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Resolutions applied first and authoritatively at render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D98A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Every application audited: applied / not applied / stale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77056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77056"/>
            <a:ext cx="50800" cy="2295144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14216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2233"/>
                </a:solidFill>
                <a:latin typeface="Calibri"/>
              </a:rPr>
              <a:t>Data stays in your 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517136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UC volumes frd_raw / sttm_reference / sttm_out; Delta tables for documents, contracts, runs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API key in a Databricks secret scope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No real client documents ever uploaded during build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2602" y="3877056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2602" y="3877056"/>
            <a:ext cx="50800" cy="2295144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4014216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2233"/>
                </a:solidFill>
                <a:latin typeface="Calibri"/>
              </a:rPr>
              <a:t>Fail loud, replay 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3770" y="4517136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No silent retries; max_tokens or refusal raises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Every live run saved as a replay set — demo without a key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77 offline tests, no LLM / network / Spark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5124" y="3877056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5124" y="3877056"/>
            <a:ext cx="50800" cy="2295144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6292" y="4014216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2233"/>
                </a:solidFill>
                <a:latin typeface="Calibri"/>
              </a:rPr>
              <a:t>Scored, not asserted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292" y="4517136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Cell-level eval vs a golden workbook on every run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Hallucination sweep: 0/50 identifiers ungrounded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B7A8C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3A4A5C"/>
                </a:solidFill>
                <a:latin typeface="Calibri"/>
              </a:rPr>
              <a:t>Gate shape may vary run to run; mapping quality did not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FRD → STTM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07C76"/>
                </a:solidFill>
                <a:latin typeface="Calibri"/>
              </a:rPr>
              <a:t>SECOND OF FIVE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Where it fits in the AI-in-Engineering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3506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3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35069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E2233"/>
                </a:solidFill>
                <a:latin typeface="Calibri"/>
              </a:rPr>
              <a:t>BRD → FRD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1678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  <a:latin typeface="Calibri"/>
              </a:rPr>
              <a:t>Business requirements →</a:t>
            </a:r>
          </a:p>
          <a:p>
            <a:pPr algn="ctr"/>
            <a:r>
              <a:rPr sz="1100" b="0" i="0">
                <a:solidFill>
                  <a:srgbClr val="3A4A5C"/>
                </a:solidFill>
                <a:latin typeface="Calibri"/>
              </a:rPr>
              <a:t>functional requirements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925" y="2185416"/>
            <a:ext cx="356616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93693" y="1600200"/>
            <a:ext cx="2350693" cy="1371600"/>
          </a:xfrm>
          <a:prstGeom prst="roundRect">
            <a:avLst>
              <a:gd name="adj" fmla="val 12000"/>
            </a:avLst>
          </a:prstGeom>
          <a:solidFill>
            <a:srgbClr val="00A19A"/>
          </a:solidFill>
          <a:ln w="19050">
            <a:solidFill>
              <a:srgbClr val="00A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693" y="1737360"/>
            <a:ext cx="235069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FRD → STTM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5133" y="2148840"/>
            <a:ext cx="21678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Functional requirements →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source-to-target mapping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7539" y="2185416"/>
            <a:ext cx="356616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47307" y="1600200"/>
            <a:ext cx="23506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3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7307" y="1737360"/>
            <a:ext cx="235069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E2233"/>
                </a:solidFill>
                <a:latin typeface="Calibri"/>
              </a:rPr>
              <a:t>CodeGen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2148840"/>
            <a:ext cx="21678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  <a:latin typeface="Calibri"/>
              </a:rPr>
              <a:t>Mapping contract →</a:t>
            </a:r>
          </a:p>
          <a:p>
            <a:pPr algn="ctr"/>
            <a:r>
              <a:rPr sz="1100" b="0" i="0">
                <a:solidFill>
                  <a:srgbClr val="3A4A5C"/>
                </a:solidFill>
                <a:latin typeface="Calibri"/>
              </a:rPr>
              <a:t>pipeline code + tests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71153" y="2185416"/>
            <a:ext cx="356616" cy="201168"/>
          </a:xfrm>
          <a:prstGeom prst="rightArrow">
            <a:avLst/>
          </a:prstGeom>
          <a:solidFill>
            <a:srgbClr val="C3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00921" y="1600200"/>
            <a:ext cx="23506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3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0921" y="1737360"/>
            <a:ext cx="235069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E2233"/>
                </a:solidFill>
                <a:latin typeface="Calibri"/>
              </a:rPr>
              <a:t>Code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2361" y="2148840"/>
            <a:ext cx="21678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  <a:latin typeface="Calibri"/>
              </a:rPr>
              <a:t>PR / diff →</a:t>
            </a:r>
          </a:p>
          <a:p>
            <a:pPr algn="ctr"/>
            <a:r>
              <a:rPr sz="1100" b="0" i="0">
                <a:solidFill>
                  <a:srgbClr val="3A4A5C"/>
                </a:solidFill>
                <a:latin typeface="Calibri"/>
              </a:rPr>
              <a:t>review findings + 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18407" y="3337560"/>
            <a:ext cx="475488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C3D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8407" y="3410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E2233"/>
                </a:solidFill>
                <a:latin typeface="Calibri"/>
              </a:rPr>
              <a:t>SQL Optimization (standalone)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8407" y="37764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  <a:latin typeface="Calibri"/>
              </a:rPr>
              <a:t>Reads warehouse query telemetry, returns a ranked optimization backlog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7A8C"/>
                </a:solidFill>
                <a:latin typeface="Calibri"/>
              </a:rPr>
              <a:t>Human approval gate between every stage · shared hub + append-only ledger (agent-pipeline-orchestrator)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Upstream is solved: the shared, versioned label contract with the BRD→FRD agent is byte-identical in both repos and tested for drift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Downstream: &lt;doc_id&gt;.contract.json is consumed by CodeGen as its FRD feed contract today — the workbook-derived STTM mapping contract still needs a committed extractor (the program's biggest open gap)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Run rows in frd_contracts / frd_sttm_runs give the orchestrator its status; humans approve before CodeGen is armed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FRD → STTM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07C76"/>
                </a:solidFill>
                <a:latin typeface="Calibri"/>
              </a:rPr>
              <a:t>LIVE END-TO-END RUNS, 2026-08-07 (ANONYMISED 3-FEED FRD, 411 MAPPED COLUMNS)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What we have measured so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56433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012440"/>
            <a:ext cx="2556433" cy="508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2190673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E2233"/>
                </a:solidFill>
                <a:latin typeface="Calibri Light"/>
              </a:rPr>
              <a:t>94.1%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19067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C76"/>
                </a:solidFill>
                <a:latin typeface="Calibri"/>
              </a:rPr>
              <a:t>cell-level match vs. golden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21906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Calibri"/>
              </a:rPr>
              <a:t>3,094 / 3,288 target cells; all 194 misses are planted datatype divergences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5113" y="1325880"/>
            <a:ext cx="2556433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5113" y="3012440"/>
            <a:ext cx="2556433" cy="508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7993" y="1463040"/>
            <a:ext cx="2190673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E2233"/>
                </a:solidFill>
                <a:latin typeface="Calibri Light"/>
              </a:rPr>
              <a:t>0 /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7993" y="2148840"/>
            <a:ext cx="219067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C76"/>
                </a:solidFill>
                <a:latin typeface="Calibri"/>
              </a:rPr>
              <a:t>identifiers invented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993" y="2441448"/>
            <a:ext cx="21906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Calibri"/>
              </a:rPr>
              <a:t>Hallucination sweep; 45/45 strict + 30/30 advisory grounding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325880"/>
            <a:ext cx="2556433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7" y="3012440"/>
            <a:ext cx="2556433" cy="508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027" y="1463040"/>
            <a:ext cx="2190673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0E2233"/>
                </a:solidFill>
                <a:latin typeface="Calibri Light"/>
              </a:rPr>
              <a:t>~33 s · ~$0.15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2148840"/>
            <a:ext cx="219067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C76"/>
                </a:solidFill>
                <a:latin typeface="Calibri"/>
              </a:rPr>
              <a:t>per FRD, one billed 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441448"/>
            <a:ext cx="21906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Calibri"/>
              </a:rPr>
              <a:t>14.6k in / 3.3k out tokens on claude-opus-4-8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5181" y="1325880"/>
            <a:ext cx="2556433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5181" y="3012440"/>
            <a:ext cx="2556433" cy="508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8061" y="1463040"/>
            <a:ext cx="2190673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0E2233"/>
                </a:solidFill>
                <a:latin typeface="Calibri Light"/>
              </a:rPr>
              <a:t>≈ 96%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8061" y="2148840"/>
            <a:ext cx="219067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7C76"/>
                </a:solidFill>
                <a:latin typeface="Calibri"/>
              </a:rPr>
              <a:t>first-pass keep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8061" y="2441448"/>
            <a:ext cx="219067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B7A8C"/>
                </a:solidFill>
                <a:latin typeface="Calibri"/>
              </a:rPr>
              <a:t>118 field values, ~4 proxy-SME edits — vs ≥ 80% acceptance bar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8328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Three live runs produced three different gate shapes (1 blocking → 1 auto-confirmed → 0) at an identical 94.1% and 45/45 strict — non-determinism shows up in what is asked, not in what is mapped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Output-token headroom: ~5% of the 64k budget used → ~75–90 feeds per document before chunking is needed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A19A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A2433"/>
                </a:solidFill>
                <a:latin typeface="Calibri"/>
              </a:rPr>
              <a:t>Serving-model study (model-comparison-eval): cell accuracy is model-invariant; Sonnet 4.6 matches Opus 4.8's gate profile at ≈ $0.08/call vs $0.16 — Haiku is 6× cheaper but fabricated a catalog name and is not production-achievable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A8C"/>
                </a:solidFill>
                <a:latin typeface="Calibri"/>
              </a:rPr>
              <a:t>Source: docs/LIVE_E2E_2026-08-07.md, reports/demo_frd.phase5.md, docs/DEMO_RUNBOOK.md; model economics from model-comparison-eval/README.md and results/cost_projection.csv (n = 2 document families).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32120"/>
            <a:ext cx="10911535" cy="640080"/>
          </a:xfrm>
          <a:prstGeom prst="roundRect">
            <a:avLst>
              <a:gd name="adj" fmla="val 20000"/>
            </a:avLst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5715000"/>
            <a:ext cx="50800" cy="2743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5532120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 real run on a real-shaped document: nothing invented, ~94% of the workbook right first time, for 15 cents and half a minute.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FRD → STTM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07C76"/>
                </a:solidFill>
                <a:latin typeface="Calibri"/>
              </a:rPr>
              <a:t>WHY IT IS WORTH DOING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Expected benefits for ACFC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0800" cy="2295144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63040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C76"/>
                </a:solidFill>
                <a:latin typeface="Calibri"/>
              </a:rPr>
              <a:t>Days →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  <a:latin typeface="Calibri"/>
              </a:rPr>
              <a:t>The workbook is drafted in ~30 s; the analyst's day goes to the handful of flagged items and QA.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602" y="1325880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2602" y="1325880"/>
            <a:ext cx="50800" cy="2295144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3770" y="1463040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C76"/>
                </a:solidFill>
                <a:latin typeface="Calibri"/>
              </a:rPr>
              <a:t>Easy to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3770" y="1965960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  <a:latin typeface="Calibri"/>
              </a:rPr>
              <a:t>Every value points back to the sentence it came from; when an auditor asks 'why is this mapped that way?', the answer is already written 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5124" y="1325880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5124" y="1325880"/>
            <a:ext cx="50800" cy="2295144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6292" y="1463040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6ED1"/>
                </a:solidFill>
                <a:latin typeface="Calibri"/>
              </a:rPr>
              <a:t>Same result every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292" y="1965960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  <a:latin typeface="Calibri"/>
              </a:rPr>
              <a:t>Derivation rules are code — no drift between analysts, feeds or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77056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E6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77056"/>
            <a:ext cx="50800" cy="2295144"/>
          </a:xfrm>
          <a:prstGeom prst="rect">
            <a:avLst/>
          </a:prstGeom>
          <a:solidFill>
            <a:srgbClr val="2E6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14216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6ED1"/>
                </a:solidFill>
                <a:latin typeface="Calibri"/>
              </a:rPr>
              <a:t>Fewer downstream defects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517136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  <a:latin typeface="Calibri"/>
              </a:rPr>
              <a:t>A grounded, contract-conformant mapping means CodeGen builds from facts, not transcription errors.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2602" y="3877056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FB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2602" y="3877056"/>
            <a:ext cx="50800" cy="2295144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4014216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A1F"/>
                </a:solidFill>
                <a:latin typeface="Calibri"/>
              </a:rPr>
              <a:t>Your data stays with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3770" y="4517136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  <a:latin typeface="Calibri"/>
              </a:rPr>
              <a:t>Runs inside your Databricks workspace: UC volumes, secret scope, serverless job — nothing leaves.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5124" y="3877056"/>
            <a:ext cx="3466490" cy="2295144"/>
          </a:xfrm>
          <a:prstGeom prst="roundRect">
            <a:avLst>
              <a:gd name="adj" fmla="val 6000"/>
            </a:avLst>
          </a:prstGeom>
          <a:solidFill>
            <a:srgbClr val="FB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5124" y="3877056"/>
            <a:ext cx="50800" cy="2295144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6292" y="4014216"/>
            <a:ext cx="306415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A1F"/>
                </a:solidFill>
                <a:latin typeface="Calibri"/>
              </a:rPr>
              <a:t>Predictable, tiny run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292" y="4517136"/>
            <a:ext cx="3064154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A4A5C"/>
                </a:solidFill>
                <a:latin typeface="Calibri"/>
              </a:rPr>
              <a:t>~$0.15 per FRD today; ≈ $0.08 on the recommended serving model. Replays cost nothing.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FRD → STTM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007C76"/>
                </a:solidFill>
                <a:latin typeface="Calibri"/>
              </a:rPr>
              <a:t>ASSUMPTIONS ARE PLACEHOLDERS — REPLACE WITH ACFC'S ANALYST EFFORT AND DOCUMENT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Time &amp; cost savings — illustrative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911534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60106"/>
                <a:gridCol w="2030053"/>
                <a:gridCol w="3045079"/>
                <a:gridCol w="1776296"/>
              </a:tblGrid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 FRD (≈3 feeds, ≈400 columns)</a:t>
                      </a:r>
                    </a:p>
                  </a:txBody>
                  <a:tcPr marL="73152" marR="73152" marT="36576" marB="36576" anchor="ctr">
                    <a:solidFill>
                      <a:srgbClr val="0E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Manual today (assumed)</a:t>
                      </a:r>
                    </a:p>
                  </a:txBody>
                  <a:tcPr marL="73152" marR="73152" marT="36576" marB="36576" anchor="ctr">
                    <a:solidFill>
                      <a:srgbClr val="0E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With agent (assumed)</a:t>
                      </a:r>
                    </a:p>
                  </a:txBody>
                  <a:tcPr marL="73152" marR="73152" marT="36576" marB="36576" anchor="ctr">
                    <a:solidFill>
                      <a:srgbClr val="0E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Saving</a:t>
                      </a:r>
                    </a:p>
                  </a:txBody>
                  <a:tcPr marL="73152" marR="73152" marT="36576" marB="36576" anchor="ctr">
                    <a:solidFill>
                      <a:srgbClr val="0E2233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433"/>
                          </a:solidFill>
                          <a:latin typeface="Calibri"/>
                        </a:rPr>
                        <a:t>Read FRD, identify feeds, files, tables, rules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4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0 h (extracted)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4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433"/>
                          </a:solidFill>
                          <a:latin typeface="Calibri"/>
                        </a:rPr>
                        <a:t>Type mapping rows: source / stage / standard for every column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12 h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0 h (rendered)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12 h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433"/>
                          </a:solidFill>
                          <a:latin typeface="Calibri"/>
                        </a:rPr>
                        <a:t>Cross-check against the source data dictionary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3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0 h (automatic)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3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433"/>
                          </a:solidFill>
                          <a:latin typeface="Calibri"/>
                        </a:rPr>
                        <a:t>Resolve gated ambiguities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0.5 h (0–1 items on the demo doc)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433"/>
                          </a:solidFill>
                          <a:latin typeface="Calibri"/>
                        </a:rPr>
                        <a:t>Analyst QA of the workbook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3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2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1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2433"/>
                          </a:solidFill>
                          <a:latin typeface="Calibri"/>
                        </a:rPr>
                        <a:t>LLM cost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≈ $0.15 (measured; ≈ $0.08 on Sonnet 4.6)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4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4F7F9"/>
                    </a:solidFill>
                  </a:tcPr>
                </a:tc>
              </a:tr>
              <a:tr h="440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7C76"/>
                          </a:solidFill>
                          <a:latin typeface="Calibri"/>
                        </a:rPr>
                        <a:t>Total per FRD</a:t>
                      </a:r>
                    </a:p>
                  </a:txBody>
                  <a:tcPr marL="73152" marR="73152" marT="36576" marB="36576" anchor="ctr">
                    <a:solidFill>
                      <a:srgbClr val="E3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7C76"/>
                          </a:solidFill>
                          <a:latin typeface="Calibri"/>
                        </a:rPr>
                        <a:t>22 h</a:t>
                      </a:r>
                    </a:p>
                  </a:txBody>
                  <a:tcPr marL="73152" marR="73152" marT="36576" marB="36576" anchor="ctr">
                    <a:solidFill>
                      <a:srgbClr val="E3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7C76"/>
                          </a:solidFill>
                          <a:latin typeface="Calibri"/>
                        </a:rPr>
                        <a:t>2.5 h + $0.15</a:t>
                      </a:r>
                    </a:p>
                  </a:txBody>
                  <a:tcPr marL="73152" marR="73152" marT="36576" marB="36576" anchor="ctr">
                    <a:solidFill>
                      <a:srgbClr val="E3F5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7C76"/>
                          </a:solidFill>
                          <a:latin typeface="Calibri"/>
                        </a:rPr>
                        <a:t>≈ 19.5 h (~89%)</a:t>
                      </a:r>
                    </a:p>
                  </a:txBody>
                  <a:tcPr marL="73152" marR="73152" marT="36576" marB="36576" anchor="ctr">
                    <a:solidFill>
                      <a:srgbClr val="E3F5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92040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B7A8C"/>
                </a:solidFill>
                <a:latin typeface="Calibri"/>
              </a:rPr>
              <a:t>Source / assumptions: Effort figures are illustrative assumptions, not measurements ('it takes days' is the only baseline stated). Only run time, LLM cost and review-item counts are measured (docs/LIVE_E2E_2026-08-07.md). Example scale-up: 3 FRDs/month × 19.5 h ≈ 700 h/yr; at an illustrative $100/h ≈ $70k/yr vs ≈ $5/yr of LLM spend.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32120"/>
            <a:ext cx="10911535" cy="640080"/>
          </a:xfrm>
          <a:prstGeom prst="roundRect">
            <a:avLst>
              <a:gd name="adj" fmla="val 20000"/>
            </a:avLst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5715000"/>
            <a:ext cx="50800" cy="2743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32120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LLM bill is a rounding error; the case rests on analyst hours and on downstream defects avoided. One real FRD in a pilot would replace every assumption 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FRD → STTM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Deployment &amp;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95747" cy="4846320"/>
          </a:xfrm>
          <a:prstGeom prst="roundRect">
            <a:avLst>
              <a:gd name="adj" fmla="val 4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95747" cy="548640"/>
          </a:xfrm>
          <a:prstGeom prst="roundRect">
            <a:avLst>
              <a:gd name="adj" fmla="val 25000"/>
            </a:avLst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295747" cy="2743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35608"/>
            <a:ext cx="48385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What exists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83854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Databricks Asset Bundle: job frd_sttm_pipeline (ingest → extract → contract_build → render), serverless, manual trigger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Unity Catalog layout: volumes frd_raw / sttm_reference / sttm_out; Delta tables frd_documents, frd_contracts, frd_sttm_runs; secret scope for the API key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Review app (FastAPI + React, Databricks AppKit UI): existing-documents review, new upload, client demo with live runs and zero-call replay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Local mode with the same four scripts and a mock provider — 77 offline tests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Native rebuild spec written: Lakeflow Declarative Pipeline + Genie Code + Model Serving / AI Gateway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325880"/>
            <a:ext cx="5295747" cy="4846320"/>
          </a:xfrm>
          <a:prstGeom prst="roundRect">
            <a:avLst>
              <a:gd name="adj" fmla="val 4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5867" y="1325880"/>
            <a:ext cx="5295747" cy="548640"/>
          </a:xfrm>
          <a:prstGeom prst="roundRect">
            <a:avLst>
              <a:gd name="adj" fmla="val 25000"/>
            </a:avLst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600200"/>
            <a:ext cx="5295747" cy="274320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4467" y="1435608"/>
            <a:ext cx="48385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Pending ACFC decisions /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4467" y="2057400"/>
            <a:ext cx="483854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6B7A8C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Databricks Apps deployment of the review app (workspace access was blocked at build time)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B7A8C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Wire the app's live run to the bundle job; API key via Apps secret; SSE through the Apps proxy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B7A8C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Model Serving / AI Gateway endpoint (Claude via Foundation Model API or external model) instead of the SDK client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B7A8C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Committed workbook → STTM-mapping-contract extractor for CodeGen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B7A8C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A production source-dictionary artifact (the reference workbook stands in today)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FRD → STTM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433"/>
                </a:solidFill>
                <a:latin typeface="Calibri Light"/>
              </a:rPr>
              <a:t>Known gaps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05840" cy="381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95747" cy="4846320"/>
          </a:xfrm>
          <a:prstGeom prst="roundRect">
            <a:avLst>
              <a:gd name="adj" fmla="val 4000"/>
            </a:avLst>
          </a:prstGeom>
          <a:solidFill>
            <a:srgbClr val="FBF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95747" cy="548640"/>
          </a:xfrm>
          <a:prstGeom prst="roundRect">
            <a:avLst>
              <a:gd name="adj" fmla="val 25000"/>
            </a:avLst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295747" cy="274320"/>
          </a:xfrm>
          <a:prstGeom prst="rect">
            <a:avLst/>
          </a:prstGeom>
          <a:solidFill>
            <a:srgbClr val="D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35608"/>
            <a:ext cx="48385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Honest limitations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83854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D98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Tested at scale on one 3-feed anonymised FRD (plus a second document family in the eval repo)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98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Datatypes default to String at both layers — an analyst decision the FRD does not state (the 194 planted misses)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98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Gate shape varies run to run; demos must not depend on a specific count (replay sets are the safe path)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98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Anthropic SDK today; Model Serving port is a spec, not code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D98A1F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Test count and max_tokens in some docs/YAML are stale (77 tests; 64k default)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325880"/>
            <a:ext cx="5295747" cy="4846320"/>
          </a:xfrm>
          <a:prstGeom prst="roundRect">
            <a:avLst>
              <a:gd name="adj" fmla="val 4000"/>
            </a:avLst>
          </a:prstGeom>
          <a:solidFill>
            <a:srgbClr val="E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5867" y="1325880"/>
            <a:ext cx="5295747" cy="548640"/>
          </a:xfrm>
          <a:prstGeom prst="roundRect">
            <a:avLst>
              <a:gd name="adj" fmla="val 25000"/>
            </a:avLst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600200"/>
            <a:ext cx="5295747" cy="27432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4467" y="1435608"/>
            <a:ext cx="48385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Proposed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4467" y="2057400"/>
            <a:ext cx="4838547" cy="3977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Pilot on one real (non-sensitive) FRD at full size — measure keep rate and analyst hours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Databricks wiring: job trigger, key via secret store, live progress through Apps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Build the workbook → mapping-contract extractor and close the CodeGen hand-off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Move serving to Sonnet 4.6 via Model Serving / AI Gateway per the eval findings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A19A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1A2433"/>
                </a:solidFill>
                <a:latin typeface="Calibri"/>
              </a:rPr>
              <a:t>Chunked per-feed extraction for very large FRDs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D8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A8C"/>
                </a:solidFill>
                <a:latin typeface="Calibri"/>
              </a:rPr>
              <a:t>Hexaware × ACFC · AI-in-Engineering  ·  FRD → STTM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A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What we need from ACFC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A19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C3D2DE"/>
                </a:solidFill>
                <a:latin typeface="Calibri"/>
              </a:rPr>
              <a:t>One real (non-sensitive) FRD to test at full size, and its hand-built STTM for scoring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A19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C3D2DE"/>
                </a:solidFill>
                <a:latin typeface="Calibri"/>
              </a:rPr>
              <a:t>A workspace to install into: catalog/schema, volumes, secret scope, Apps approval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A19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C3D2DE"/>
                </a:solidFill>
                <a:latin typeface="Calibri"/>
              </a:rPr>
              <a:t>The production source data dictionary format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A19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C3D2DE"/>
                </a:solidFill>
                <a:latin typeface="Calibri"/>
              </a:rPr>
              <a:t>Baseline numbers: STTMs per month, analyst hours per STTM — to replace the illustrative savings model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A19A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C3D2DE"/>
                </a:solidFill>
                <a:latin typeface="Calibri"/>
              </a:rPr>
              <a:t>A named mapping analyst to own ambiguity resolution in the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1B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3D2DE"/>
                </a:solidFill>
                <a:latin typeface="Calibri"/>
              </a:rPr>
              <a:t>Hexaware × ACFC · AI-in-Engineering  ·  FRD → STTM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19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3D2D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