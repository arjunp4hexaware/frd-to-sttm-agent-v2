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Open. Introduce yourself and Arjun and split the room's expectation: slides first, then a live run of the agent, then questions.</a:t>
            </a:r>
          </a:p>
          <a:p/>
          <a:p>
            <a:r>
              <a:rPr sz="1200">
                <a:latin typeface="Calibri"/>
              </a:rPr>
              <a:t>The three numbers on the right are the whole story in miniature — 94.1% mapping fidelity, zero ungrounded identifiers, about thirty seconds and fifteen cents per document. All measured on a real live run on 7 August 2026, not a mock, not a projection.</a:t>
            </a:r>
          </a:p>
          <a:p/>
          <a:p>
            <a:r>
              <a:rPr sz="1200">
                <a:latin typeface="Calibri"/>
              </a:rPr>
              <a:t>Say plainly: the FRD in the demo is anonymized fixture material. No real client document is used at any point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Keep this to about forty-five seconds. Signal that the demo (item 05) is the centre of gravity and that we will finish with open Q&amp;A.</a:t>
            </a:r>
          </a:p>
          <a:p/>
          <a:p>
            <a:r>
              <a:rPr sz="1200">
                <a:latin typeface="Calibri"/>
              </a:rPr>
              <a:t>Flag the two-hander: agree in advance who takes 03/04 (mechanics) and who takes 06 (value), so the hand-off is not negotiated 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The point of this slide is that the agents are chained by contracts, not by email attachments.</a:t>
            </a:r>
          </a:p>
          <a:p/>
          <a:p>
            <a:r>
              <a:rPr sz="1200">
                <a:latin typeface="Calibri"/>
              </a:rPr>
              <a:t>Upstream is genuinely solved: our label contract is versioned and committed byte-identically to both repositories, with a round-trip test that fails the build on drift.</a:t>
            </a:r>
          </a:p>
          <a:p/>
          <a:p>
            <a:r>
              <a:rPr sz="1200">
                <a:latin typeface="Calibri"/>
              </a:rPr>
              <a:t>Downstream, say the gap out loud — CodeGen needs a workbook-derived mapping contract and no committed tool in the programme produces one yet. Naming it before anyone asks buys credibility for everything else on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Anchor in the audience's own experience — ask whether their mapping workbooks are built by hand today; the answer is almost always yes.</a:t>
            </a:r>
          </a:p>
          <a:p/>
          <a:p>
            <a:r>
              <a:rPr sz="1200">
                <a:latin typeface="Calibri"/>
              </a:rPr>
              <a:t>The right-hand panel is the line to land: we automate the reading and the transcription, not the judgement. Where the FRD is genuinely ambiguous the agent stops and asks rather than guessing. That framing pre-empts the "can we trust it" question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Ninety seconds, no deeper. Walk the four stages left to right; the audience will see these same four stages light up in the demo, so this slide is the map for what they are about to watch.</a:t>
            </a:r>
          </a:p>
          <a:p/>
          <a:p>
            <a:r>
              <a:rPr sz="1200">
                <a:latin typeface="Calibri"/>
              </a:rPr>
              <a:t>The band at the bottom matters more than the boxes: the model reads prose, and deterministic code owns validation, grounding, attribution and rendering. The model never writes a cell that code cannot justify.</a:t>
            </a:r>
          </a:p>
          <a:p/>
          <a:p>
            <a:r>
              <a:rPr sz="1200">
                <a:latin typeface="Calibri"/>
              </a:rPr>
              <a:t>If asked which model: Claude, called through the Anthropic SDK, with the schema and prompt living in our repository — not a black-box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This is the slide for the sceptical engineer and the compliance-minded stakeholder at the same time.</a:t>
            </a:r>
          </a:p>
          <a:p/>
          <a:p>
            <a:r>
              <a:rPr sz="1200">
                <a:latin typeface="Calibri"/>
              </a:rPr>
              <a:t>Grounding audit: every strict field must appear verbatim in the source document. On the live run, 45 of 45 strict checks passed. Stress that we never relax this to make a run go green — a failing audit is a failing run.</a:t>
            </a:r>
          </a:p>
          <a:p/>
          <a:p>
            <a:r>
              <a:rPr sz="1200">
                <a:latin typeface="Calibri"/>
              </a:rPr>
              <a:t>Gating: the agent records an ambiguity rather than choosing; a deterministic data-dictionary cross-check auto-confirms only what the data proves.</a:t>
            </a:r>
          </a:p>
          <a:p/>
          <a:p>
            <a:r>
              <a:rPr sz="1200">
                <a:latin typeface="Calibri"/>
              </a:rPr>
              <a:t>If pushed on the difference between strict and advisory: strict fields are identifiers and must match verbatim; advisory fields are prose and are checked by token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Transition slide. Hand over to whoever is driving the laptop.</a:t>
            </a:r>
          </a:p>
          <a:p/>
          <a:p>
            <a:r>
              <a:rPr sz="1200">
                <a:latin typeface="Calibri"/>
              </a:rPr>
              <a:t>Before starting the run, read the cost-confirmation dialog aloud — one billed call, about $0.15, about thirty-five seconds. The demo tells you what it costs before it spends anything.</a:t>
            </a:r>
          </a:p>
          <a:p/>
          <a:p>
            <a:r>
              <a:rPr sz="1200">
                <a:latin typeface="Calibri"/>
              </a:rPr>
              <a:t>Contingency: if the network misbehaves, switch to Replay and pick the post-fix run. Identical results view, zero API calls, works offline. Do not debug 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Leave this up while the run executes, then walk the results page top to bottom in this order.</a:t>
            </a:r>
          </a:p>
          <a:p/>
          <a:p>
            <a:r>
              <a:rPr sz="1200">
                <a:latin typeface="Calibri"/>
              </a:rPr>
              <a:t>Give the gate strip time even when the counts are zero — zero means nothing needed a human on this run, which is itself the point. If the run shows a flag that then gets auto-confirmed, slow down: that is the best possible outcome, because the flag-then-confirm story renders on screen.</a:t>
            </a:r>
          </a:p>
          <a:p/>
          <a:p>
            <a:r>
              <a:rPr sz="1200">
                <a:latin typeface="Calibri"/>
              </a:rPr>
              <a:t>Runs vary in how much the dictionary can auto-confirm. The mapping quality and the 94.1% eval have not varied across runs — say so before anyone wonders about it.</a:t>
            </a:r>
          </a:p>
          <a:p/>
          <a:p>
            <a:r>
              <a:rPr sz="1200">
                <a:latin typeface="Calibri"/>
              </a:rPr>
              <a:t>Finish by downloading and opening the workbook. That artifact is the deliverable an analyst would otherwise hand-build.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Come back to slides with the workbook still fresh in their minds.</a:t>
            </a:r>
          </a:p>
          <a:p/>
          <a:p>
            <a:r>
              <a:rPr sz="1200">
                <a:latin typeface="Calibri"/>
              </a:rPr>
              <a:t>The number to defend is 94.1%. Every one of the 194 non-matching cells is a datatype difference deliberately built into the test fixture — the eval catches exactly what it should and nothing else. Nothing was missed and nothing was invented.</a:t>
            </a:r>
          </a:p>
          <a:p/>
          <a:p>
            <a:r>
              <a:rPr sz="1200">
                <a:latin typeface="Calibri"/>
              </a:rPr>
              <a:t>The hallucination sweep checked all 50 identifiers in the output — feed names, file patterns, catalogs, schemas, tables, load strategies, requirement ids — for verbatim presence in the source. Zero ungrounded.</a:t>
            </a:r>
          </a:p>
          <a:p/>
          <a:p>
            <a:r>
              <a:rPr sz="1200">
                <a:latin typeface="Calibri"/>
              </a:rPr>
              <a:t>If asked about the keep rate: a proxy-SME review estimated roughly 96% first-pass keep, against an acceptance bar of 80%.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This is the slide to slow down on — it is the reason we are in the room.</a:t>
            </a:r>
          </a:p>
          <a:p/>
          <a:p>
            <a:r>
              <a:rPr sz="1200">
                <a:latin typeface="Calibri"/>
              </a:rPr>
              <a:t>Lead with the top-left card and the bottom-left card: speed, and the fact that your data never leaves your tenancy. For a regulated payer those two usually decide the conversation.</a:t>
            </a:r>
          </a:p>
          <a:p/>
          <a:p>
            <a:r>
              <a:rPr sz="1200">
                <a:latin typeface="Calibri"/>
              </a:rPr>
              <a:t>Auditability is the strongest card technically: the traceability is not a report we generate afterwards, it is a hard gate that runs on every document.</a:t>
            </a:r>
          </a:p>
          <a:p/>
          <a:p>
            <a:r>
              <a:rPr sz="1200">
                <a:latin typeface="Calibri"/>
              </a:rPr>
              <a:t>Close on the bottom-right: the value is not one workbook, it is a governed path from requirement to running pipeline, and every FRD processed here shortens the downstream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Framing line: built for the workspace, currently demoed locally. Say it early so nobody thinks the local demo is the product.</a:t>
            </a:r>
          </a:p>
          <a:p/>
          <a:p>
            <a:r>
              <a:rPr sz="1200">
                <a:latin typeface="Calibri"/>
              </a:rPr>
              <a:t>Left column is real and committed today. Right column is the honest list of port work — three items, all plumbing, none of them touching the pipeline logic or the quality gates.</a:t>
            </a:r>
          </a:p>
          <a:p/>
          <a:p>
            <a:r>
              <a:rPr sz="1200">
                <a:latin typeface="Calibri"/>
              </a:rPr>
              <a:t>If asked about credentials: in the workspace, the key comes from a Databricks secret scope, and there is no key anywhere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one-page honest read. Three things proven, three things next.</a:t>
            </a:r>
          </a:p>
          <a:p/>
          <a:p>
            <a:r>
              <a:rPr sz="1200">
                <a:latin typeface="Calibri"/>
              </a:rPr>
              <a:t>Do not soften the two amber rows. The workspace port and the downstream mapping contract are real work, and being straight about them is what makes the three green rows believable.</a:t>
            </a:r>
          </a:p>
          <a:p/>
          <a:p>
            <a:r>
              <a:rPr sz="1200">
                <a:latin typeface="Calibri"/>
              </a:rPr>
              <a:t>End on the ask: a real, non-sensitive FRD to validate at scale, and a workspace target for the deployment port. Get a name and a date if you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Answers to have ready:</a:t>
            </a:r>
          </a:p>
          <a:p/>
          <a:p>
            <a:r>
              <a:rPr sz="1200">
                <a:latin typeface="Calibri"/>
              </a:rPr>
              <a:t>Larger FRDs — the run used 5% of its output budget, giving roughly 75 to 90 feeds of headroom in one document. Beyond that, per-feed chunked extraction is the known path. Validating on a real large FRD is our ask.</a:t>
            </a:r>
          </a:p>
          <a:p/>
          <a:p>
            <a:r>
              <a:rPr sz="1200">
                <a:latin typeface="Calibri"/>
              </a:rPr>
              <a:t>Genuine ambiguity — it is gated, not guessed. The dictionary auto-confirms what it can prove; everything else goes to a reviewer, whose decision is stored and never re-decided by the heuristic.</a:t>
            </a:r>
          </a:p>
          <a:p/>
          <a:p>
            <a:r>
              <a:rPr sz="1200">
                <a:latin typeface="Calibri"/>
              </a:rPr>
              <a:t>Invented mappings — the grounding audit and the hallucination sweep. Offer to show the audit output.</a:t>
            </a:r>
          </a:p>
          <a:p/>
          <a:p>
            <a:r>
              <a:rPr sz="1200">
                <a:latin typeface="Calibri"/>
              </a:rPr>
              <a:t>Review workload — on the demo document, at most a handful of items per run, often zero.</a:t>
            </a:r>
          </a:p>
          <a:p/>
          <a:p>
            <a:r>
              <a:rPr sz="1200">
                <a:latin typeface="Calibri"/>
              </a:rPr>
              <a:t>Keys and tenancy — Databricks secret scope, Unity Catalog volumes, nothing leaves the workspace.</a:t>
            </a:r>
          </a:p>
          <a:p/>
          <a:p>
            <a:r>
              <a:rPr sz="1200">
                <a:latin typeface="Calibri"/>
              </a:rPr>
              <a:t>CodeGen gap — no committed extractor today; it is scoped work, and we would size it properly rather than guess 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85455" y="0"/>
            <a:ext cx="25400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19A"/>
                </a:solidFill>
                <a:latin typeface="Calibri"/>
              </a:rPr>
              <a:t>AI IN ENGINEERING PROGRAM   ·   AGENT 2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7040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0" i="0">
                <a:solidFill>
                  <a:srgbClr val="FFFFFF"/>
                </a:solidFill>
                <a:latin typeface="Calibri Light"/>
              </a:rPr>
              <a:t>FRD → STTM Agent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600"/>
              </a:spcAft>
            </a:pPr>
            <a:r>
              <a:rPr sz="1650" b="0" i="0">
                <a:solidFill>
                  <a:srgbClr val="C3D2DE"/>
                </a:solidFill>
                <a:latin typeface="Calibri"/>
              </a:rPr>
              <a:t>From an approved Functional Requirements Document to a governed
Source-to-Target Mapping workbook — in about thirty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160520"/>
            <a:ext cx="1188720" cy="3175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Prepared for AmeriHealth   ·   Hexaware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FB4C4"/>
                </a:solidFill>
                <a:latin typeface="Calibri"/>
              </a:rPr>
              <a:t>Presented by Soham &amp; Arjun   |   Live demo included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2656" y="201168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00A19A"/>
                </a:solidFill>
                <a:latin typeface="Calibri Light"/>
              </a:rPr>
              <a:t>94.1%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3D2DE"/>
                </a:solidFill>
                <a:latin typeface="Calibri"/>
              </a:rPr>
              <a:t>cell-level mapping fidelity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3D2DE"/>
                </a:solidFill>
                <a:latin typeface="Calibri"/>
              </a:rPr>
              <a:t>vs. the golden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2656" y="320040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00A19A"/>
                </a:solidFill>
                <a:latin typeface="Calibri Light"/>
              </a:rPr>
              <a:t>0 / 50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3D2DE"/>
                </a:solidFill>
                <a:latin typeface="Calibri"/>
              </a:rPr>
              <a:t>ungrounded identifiers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3D2DE"/>
                </a:solidFill>
                <a:latin typeface="Calibri"/>
              </a:rPr>
              <a:t>in the hallucination sweep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2656" y="438912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00A19A"/>
                </a:solidFill>
                <a:latin typeface="Calibri Light"/>
              </a:rPr>
              <a:t>~33 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3D2DE"/>
                </a:solidFill>
                <a:latin typeface="Calibri"/>
              </a:rPr>
              <a:t>full pipeline, one billed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3D2DE"/>
                </a:solidFill>
                <a:latin typeface="Calibri"/>
              </a:rPr>
              <a:t>model call (about $0.15)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2656" y="58064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E96A8"/>
                </a:solidFill>
                <a:latin typeface="Calibri"/>
              </a:rPr>
              <a:t>Measured on the anonymized demo pair — live
end-to-end run, 7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19A"/>
                </a:solidFill>
                <a:latin typeface="Calibri"/>
              </a:rPr>
              <a:t>PROJECT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589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2433"/>
                </a:solidFill>
                <a:latin typeface="Calibri Light"/>
              </a:rPr>
              <a:t>What we'll cover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5399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C"/>
                </a:solidFill>
                <a:latin typeface="Calibri"/>
              </a:rPr>
              <a:t>About thirty minutes, with the live agent run in the middle and open Q&amp;A at the 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005840" cy="3175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67128"/>
            <a:ext cx="5303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A19A"/>
                </a:solidFill>
                <a:latin typeface="Calibri Ligh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5798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1A2433"/>
                </a:solidFill>
                <a:latin typeface="Calibri"/>
              </a:rPr>
              <a:t>Where this agent fits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C"/>
                </a:solidFill>
                <a:latin typeface="Calibri"/>
              </a:rPr>
              <a:t>The five-agent programme, and the hand-offs on either side of 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962656"/>
            <a:ext cx="4983480" cy="1143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72968"/>
            <a:ext cx="5303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A19A"/>
                </a:solidFill>
                <a:latin typeface="Calibri Ligh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6382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1A2433"/>
                </a:solidFill>
                <a:latin typeface="Calibri"/>
              </a:rPr>
              <a:t>The problem we're solving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C"/>
                </a:solidFill>
                <a:latin typeface="Calibri"/>
              </a:rPr>
              <a:t>Mapping work today: slow, inconsistent, and hard to audit after the fact.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68496"/>
            <a:ext cx="4983480" cy="1143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78808"/>
            <a:ext cx="5303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E6ED1"/>
                </a:solidFill>
                <a:latin typeface="Calibri Ligh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6966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1A2433"/>
                </a:solidFill>
                <a:latin typeface="Calibri"/>
              </a:rPr>
              <a:t>How the agent works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C"/>
                </a:solidFill>
                <a:latin typeface="Calibri"/>
              </a:rPr>
              <a:t>Four stages, and the split between what the model does and what code does.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974336"/>
            <a:ext cx="4983480" cy="1143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84648"/>
            <a:ext cx="5303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E6ED1"/>
                </a:solidFill>
                <a:latin typeface="Calibri Light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7550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1A2433"/>
                </a:solidFill>
                <a:latin typeface="Calibri"/>
              </a:rPr>
              <a:t>Trust architecture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C"/>
                </a:solidFill>
                <a:latin typeface="Calibri"/>
              </a:rPr>
              <a:t>Verbatim grounding audit, ambiguity gating, human-in-the-loop 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980176"/>
            <a:ext cx="4983480" cy="1143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167128"/>
            <a:ext cx="5303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D98A1F"/>
                </a:solidFill>
                <a:latin typeface="Calibri Light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15798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1A2433"/>
                </a:solidFill>
                <a:latin typeface="Calibri"/>
              </a:rPr>
              <a:t>Live demo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C"/>
                </a:solidFill>
                <a:latin typeface="Calibri"/>
              </a:rPr>
              <a:t>An FRD in, an STTM workbook out — run on the spot, with an offline backup.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2962656"/>
            <a:ext cx="4983480" cy="1143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172968"/>
            <a:ext cx="5303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D98A1F"/>
                </a:solidFill>
                <a:latin typeface="Calibri Light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16382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1A2433"/>
                </a:solidFill>
                <a:latin typeface="Calibri"/>
              </a:rPr>
              <a:t>Proof &amp; value for AmeriHealth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C"/>
                </a:solidFill>
                <a:latin typeface="Calibri"/>
              </a:rPr>
              <a:t>Measured results from the live run, and what they mean for delivery.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968496"/>
            <a:ext cx="4983480" cy="1143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178808"/>
            <a:ext cx="5303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B7A8C"/>
                </a:solidFill>
                <a:latin typeface="Calibri Light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16966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1A2433"/>
                </a:solidFill>
                <a:latin typeface="Calibri"/>
              </a:rPr>
              <a:t>Status, roadmap &amp; Q&amp;A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C"/>
                </a:solidFill>
                <a:latin typeface="Calibri"/>
              </a:rPr>
              <a:t>What is proven, what is still port work, and your questions.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4974336"/>
            <a:ext cx="4983480" cy="1143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400800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6B7A8C"/>
                </a:solidFill>
                <a:latin typeface="Calibri"/>
              </a:rPr>
              <a:t>FRD → STTM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00055" y="64008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A8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19A"/>
                </a:solidFill>
                <a:latin typeface="Calibri"/>
              </a:rPr>
              <a:t>WHERE THIS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589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2433"/>
                </a:solidFill>
                <a:latin typeface="Calibri Light"/>
              </a:rPr>
              <a:t>Second agent in a five-agent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5399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C"/>
                </a:solidFill>
                <a:latin typeface="Calibri"/>
              </a:rPr>
              <a:t>Each agent consumes the previous one's approved output through a versioned, machine-readable contract.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005840" cy="3175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2395728" cy="1389888"/>
          </a:xfrm>
          <a:prstGeom prst="rect">
            <a:avLst/>
          </a:prstGeom>
          <a:solidFill>
            <a:srgbClr val="F4F7F9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414016"/>
            <a:ext cx="19933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A2433"/>
                </a:solidFill>
                <a:latin typeface="Calibri Light"/>
              </a:rPr>
              <a:t>BRD → FRD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Business requirements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to functional spec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64408" y="2761488"/>
            <a:ext cx="310896" cy="237744"/>
          </a:xfrm>
          <a:prstGeom prst="rightArrow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66744" y="2194560"/>
            <a:ext cx="2395728" cy="1389888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2" y="2414016"/>
            <a:ext cx="19933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C8ECE9"/>
                </a:solidFill>
                <a:latin typeface="Calibri"/>
              </a:rPr>
              <a:t>YOU ARE HERE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 Light"/>
              </a:rPr>
              <a:t>FRD → STTM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5EEEC"/>
                </a:solidFill>
                <a:latin typeface="Calibri"/>
              </a:rPr>
              <a:t>Mapping workbook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5EEEC"/>
                </a:solidFill>
                <a:latin typeface="Calibri"/>
              </a:rPr>
              <a:t>+ feed contract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53912" y="2761488"/>
            <a:ext cx="310896" cy="237744"/>
          </a:xfrm>
          <a:prstGeom prst="rightArrow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56248" y="2194560"/>
            <a:ext cx="2395728" cy="1389888"/>
          </a:xfrm>
          <a:prstGeom prst="rect">
            <a:avLst/>
          </a:prstGeom>
          <a:solidFill>
            <a:srgbClr val="F4F7F9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2414016"/>
            <a:ext cx="19933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A2433"/>
                </a:solidFill>
                <a:latin typeface="Calibri Light"/>
              </a:rPr>
              <a:t>CodeGen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Pipeline code from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the mapping contract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043416" y="2761488"/>
            <a:ext cx="310896" cy="237744"/>
          </a:xfrm>
          <a:prstGeom prst="rightArrow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45752" y="2194560"/>
            <a:ext cx="2395728" cy="1389888"/>
          </a:xfrm>
          <a:prstGeom prst="rect">
            <a:avLst/>
          </a:prstGeom>
          <a:solidFill>
            <a:srgbClr val="F4F7F9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2414016"/>
            <a:ext cx="19933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A2433"/>
                </a:solidFill>
                <a:latin typeface="Calibri Light"/>
              </a:rPr>
              <a:t>Code Review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Automated review of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the generated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49040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B7A8C"/>
                </a:solidFill>
                <a:latin typeface="Calibri"/>
              </a:rPr>
              <a:t>SQL Optimization runs as a standalone fifth agent alongside this chain.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114800"/>
            <a:ext cx="5090007" cy="2084831"/>
          </a:xfrm>
          <a:prstGeom prst="rect">
            <a:avLst/>
          </a:prstGeom>
          <a:solidFill>
            <a:srgbClr val="F4F7F9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114800"/>
            <a:ext cx="40640" cy="2084831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4334256"/>
            <a:ext cx="45779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3"/>
                </a:solidFill>
                <a:latin typeface="Calibri"/>
              </a:rPr>
              <a:t>Upstream — solved, and versioned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4663440"/>
            <a:ext cx="4577943" cy="1362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This agent and the BRD→FRD agent share one versioned label contract, committed byte-identically to both repos.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Section headings, requirement-ID families and placeholders are read from that file, never hardcoded.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A round-trip test suite fails the build if the two copies drift apart.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7" y="4114800"/>
            <a:ext cx="5090007" cy="2084831"/>
          </a:xfrm>
          <a:prstGeom prst="rect">
            <a:avLst/>
          </a:prstGeom>
          <a:solidFill>
            <a:srgbClr val="F4F7F9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4447" y="4114800"/>
            <a:ext cx="40640" cy="2084831"/>
          </a:xfrm>
          <a:prstGeom prst="rect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0479" y="4334256"/>
            <a:ext cx="45779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3"/>
                </a:solidFill>
                <a:latin typeface="Calibri"/>
              </a:rPr>
              <a:t>Downstream — the gap we're flagging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0479" y="4663440"/>
            <a:ext cx="4577943" cy="1362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This agent emits the FRD feed contract that CodeGen consumes. That half works today.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CodeGen also needs a workbook-derived mapping contract, and no committed tool produces it yet.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Closing this is the highest-value next step for the programme — and we are not hiding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00800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6B7A8C"/>
                </a:solidFill>
                <a:latin typeface="Calibri"/>
              </a:rPr>
              <a:t>FRD → STTM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00055" y="64008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A8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19A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589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2433"/>
                </a:solidFill>
                <a:latin typeface="Calibri Light"/>
              </a:rPr>
              <a:t>Source-to-target mapping is the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5399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C"/>
                </a:solidFill>
                <a:latin typeface="Calibri"/>
              </a:rPr>
              <a:t>The FRD is approved and the target model is known — yet the mapping workbook is still assembled by hand, one cell at a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005840" cy="3175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276856"/>
            <a:ext cx="91440" cy="91440"/>
          </a:xfrm>
          <a:prstGeom prst="ellipse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1A2433"/>
                </a:solidFill>
                <a:latin typeface="Calibri"/>
              </a:rPr>
              <a:t>Slow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A5C"/>
                </a:solidFill>
                <a:latin typeface="Calibri"/>
              </a:rPr>
              <a:t>An analyst reads the whole FRD, cross-references the data dictionary, and hand-builds every row of the workbook. Days of effort per document.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64408"/>
            <a:ext cx="91440" cy="91440"/>
          </a:xfrm>
          <a:prstGeom prst="ellipse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8211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1A2433"/>
                </a:solidFill>
                <a:latin typeface="Calibri"/>
              </a:rPr>
              <a:t>Inconsistent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A5C"/>
                </a:solidFill>
                <a:latin typeface="Calibri"/>
              </a:rPr>
              <a:t>Two analysts reading the same FRD produce two different workbooks. Naming, load strategies and rule attribution drift between feeds and teams.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51960"/>
            <a:ext cx="91440" cy="91440"/>
          </a:xfrm>
          <a:prstGeom prst="ellipse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6966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1A2433"/>
                </a:solidFill>
                <a:latin typeface="Calibri"/>
              </a:rPr>
              <a:t>Hard to audit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A5C"/>
                </a:solidFill>
                <a:latin typeface="Calibri"/>
              </a:rPr>
              <a:t>Six months later, nobody can say which sentence in the FRD justified a given mapping cell. Reconstructing that is manual archaeology.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239512"/>
            <a:ext cx="91440" cy="91440"/>
          </a:xfrm>
          <a:prstGeom prst="ellipse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15721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1A2433"/>
                </a:solidFill>
                <a:latin typeface="Calibri"/>
              </a:rPr>
              <a:t>A blocker for everything downstream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A5C"/>
                </a:solidFill>
                <a:latin typeface="Calibri"/>
              </a:rPr>
              <a:t>Code generation, testing and review all wait on the workbook. The slowest manual step sets the pace for the whole delivery chain.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2194560"/>
            <a:ext cx="4510735" cy="3950208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2194560"/>
            <a:ext cx="4510735" cy="4064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633472"/>
            <a:ext cx="3779215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1" i="0">
                <a:solidFill>
                  <a:srgbClr val="00A19A"/>
                </a:solidFill>
                <a:latin typeface="Calibri"/>
              </a:rPr>
              <a:t>WHAT WE ARE AUTOMATING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2100" b="0" i="0">
                <a:solidFill>
                  <a:srgbClr val="FFFFFF"/>
                </a:solidFill>
                <a:latin typeface="Calibri Light"/>
              </a:rPr>
              <a:t>The reading and the
transcription — not
the judgement.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>
                <a:solidFill>
                  <a:srgbClr val="C3D2DE"/>
                </a:solidFill>
                <a:latin typeface="Calibri"/>
              </a:rPr>
              <a:t>The agent extracts what the document actually says, checks every value back against the source text, and builds the workbook.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Where the document is genuinely ambiguous, it stops and asks a human rather than guessing.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00800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6B7A8C"/>
                </a:solidFill>
                <a:latin typeface="Calibri"/>
              </a:rPr>
              <a:t>FRD → STTM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00055" y="64008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A8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19A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589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2433"/>
                </a:solidFill>
                <a:latin typeface="Calibri Light"/>
              </a:rPr>
              <a:t>Four stages, one job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5399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C"/>
                </a:solidFill>
                <a:latin typeface="Calibri"/>
              </a:rPr>
              <a:t>Runs as a Databricks job on serverless compute, or as four plain scripts — the same committed code either 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005840" cy="3175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2615184" cy="2615184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2615184" cy="508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450592"/>
            <a:ext cx="21579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0A19A"/>
                </a:solidFill>
                <a:latin typeface="Calibri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50" b="1" i="0">
                <a:solidFill>
                  <a:srgbClr val="1A2433"/>
                </a:solidFill>
                <a:latin typeface="Calibri Light"/>
              </a:rPr>
              <a:t>Ingest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B7A8C"/>
                </a:solidFill>
                <a:latin typeface="Calibri"/>
              </a:rPr>
              <a:t>FRD .docx → markdown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474720"/>
            <a:ext cx="215798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·  Parses the approved FRD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·  Section labels from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    shared contract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·  Lands in a Delta table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33572" y="3383280"/>
            <a:ext cx="228600" cy="237744"/>
          </a:xfrm>
          <a:prstGeom prst="rightArrow">
            <a:avLst/>
          </a:prstGeom>
          <a:solidFill>
            <a:srgbClr val="C2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03320" y="2194560"/>
            <a:ext cx="2615184" cy="2615184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194560"/>
            <a:ext cx="2615184" cy="50800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41064" y="2450592"/>
            <a:ext cx="21579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6ED1"/>
                </a:solidFill>
                <a:latin typeface="Calibri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50" b="1" i="0">
                <a:solidFill>
                  <a:srgbClr val="1A2433"/>
                </a:solidFill>
                <a:latin typeface="Calibri Light"/>
              </a:rPr>
              <a:t>Extract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B7A8C"/>
                </a:solidFill>
                <a:latin typeface="Calibri"/>
              </a:rPr>
              <a:t>the one model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1064" y="3474720"/>
            <a:ext cx="215798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·  Claude reads the FRD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    against a strict schema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·  Streaming, validated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    client-side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·  Fails loudly, never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    silently retries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59652" y="3383280"/>
            <a:ext cx="228600" cy="237744"/>
          </a:xfrm>
          <a:prstGeom prst="rightArrow">
            <a:avLst/>
          </a:prstGeom>
          <a:solidFill>
            <a:srgbClr val="C2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194560"/>
            <a:ext cx="2615184" cy="2615184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29400" y="2194560"/>
            <a:ext cx="2615184" cy="50800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7144" y="2450592"/>
            <a:ext cx="21579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6ED1"/>
                </a:solidFill>
                <a:latin typeface="Calibri"/>
              </a:rPr>
              <a:t>03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50" b="1" i="0">
                <a:solidFill>
                  <a:srgbClr val="1A2433"/>
                </a:solidFill>
                <a:latin typeface="Calibri Light"/>
              </a:rPr>
              <a:t>Contract build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B7A8C"/>
                </a:solidFill>
                <a:latin typeface="Calibri"/>
              </a:rPr>
              <a:t>validate · audit ·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3474720"/>
            <a:ext cx="215798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·  Schema validation 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    regex enrichment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·  Verbatim grounding audit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·  Ambiguities gated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    for review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285732" y="3383280"/>
            <a:ext cx="228600" cy="237744"/>
          </a:xfrm>
          <a:prstGeom prst="rightArrow">
            <a:avLst/>
          </a:prstGeom>
          <a:solidFill>
            <a:srgbClr val="C2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55480" y="2194560"/>
            <a:ext cx="2615184" cy="2615184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55480" y="2194560"/>
            <a:ext cx="2615184" cy="508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3224" y="2450592"/>
            <a:ext cx="21579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0A19A"/>
                </a:solidFill>
                <a:latin typeface="Calibri"/>
              </a:rPr>
              <a:t>04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50" b="1" i="0">
                <a:solidFill>
                  <a:srgbClr val="1A2433"/>
                </a:solidFill>
                <a:latin typeface="Calibri Light"/>
              </a:rPr>
              <a:t>Render + eval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B7A8C"/>
                </a:solidFill>
                <a:latin typeface="Calibri"/>
              </a:rPr>
              <a:t>the deliverable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3224" y="3474720"/>
            <a:ext cx="215798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·  Data-dictionary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    cross-check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·  Renders the client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    STTM workbook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·  Cell-level eval vs.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3A4A5C"/>
                </a:solidFill>
                <a:latin typeface="Calibri"/>
              </a:rPr>
              <a:t>    reference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10637215" cy="932688"/>
          </a:xfrm>
          <a:prstGeom prst="rect">
            <a:avLst/>
          </a:prstGeom>
          <a:solidFill>
            <a:srgbClr val="F4F7F9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40640" cy="932688"/>
          </a:xfrm>
          <a:prstGeom prst="rect">
            <a:avLst/>
          </a:prstGeom>
          <a:solidFill>
            <a:srgbClr val="1A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" y="5266944"/>
            <a:ext cx="99971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A2433"/>
                </a:solidFill>
                <a:latin typeface="Calibri"/>
              </a:rPr>
              <a:t>Deliberate division of labour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A4A5C"/>
                </a:solidFill>
                <a:latin typeface="Calibri"/>
              </a:rPr>
              <a:t>The model reads prose and scattered requirement tables. </a:t>
            </a:r>
            <a:r>
              <a:rPr sz="1250" b="1">
                <a:solidFill>
                  <a:srgbClr val="1A2433"/>
                </a:solidFill>
                <a:latin typeface="Calibri"/>
              </a:rPr>
              <a:t>Deterministic code owns everything else</a:t>
            </a:r>
            <a:r>
              <a:rPr sz="1250" b="0">
                <a:solidFill>
                  <a:srgbClr val="3A4A5C"/>
                </a:solidFill>
                <a:latin typeface="Calibri"/>
              </a:rPr>
              <a:t> — validation, regex-able facts, grounding checks, rule attribution and the rendering of the workbook itself.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00800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6B7A8C"/>
                </a:solidFill>
                <a:latin typeface="Calibri"/>
              </a:rPr>
              <a:t>FRD → STTM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00055" y="64008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A8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19A"/>
                </a:solidFill>
                <a:latin typeface="Calibri"/>
              </a:rPr>
              <a:t>TRUST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589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2433"/>
                </a:solidFill>
                <a:latin typeface="Calibri Light"/>
              </a:rPr>
              <a:t>Why you can put this in front of an auditor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5399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C"/>
                </a:solidFill>
                <a:latin typeface="Calibri"/>
              </a:rPr>
              <a:t>Three mechanisms — all deterministic, all running on every single document.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005840" cy="3175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3362858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40640" cy="2944368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414016"/>
            <a:ext cx="290565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19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651760"/>
            <a:ext cx="285079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2433"/>
                </a:solidFill>
                <a:latin typeface="Calibri"/>
              </a:rPr>
              <a:t>Verbatim grounding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980944"/>
            <a:ext cx="2850794" cy="1984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Every strict field the model produces must appear verbatim in the source document; prose fields are checked by token overlap.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On the live run: 45 of 45 strict and 30 of 30 advisory checks passed.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This is the quality gate. It is never relaxed to make a run pass.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4418" y="2194560"/>
            <a:ext cx="3362858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4418" y="2194560"/>
            <a:ext cx="40640" cy="2944368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0450" y="2414016"/>
            <a:ext cx="290565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ED1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0450" y="2651760"/>
            <a:ext cx="285079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2433"/>
                </a:solidFill>
                <a:latin typeface="Calibri"/>
              </a:rPr>
              <a:t>Ambiguity gating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0450" y="2980944"/>
            <a:ext cx="2850794" cy="1984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Where the FRD does not say which feed a rule belongs to, the agent records a gated ambiguity instead of choosing.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A deterministic data-dictionary cross-check then auto-confirms whatever the data itself proves.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Anything it cannot prove waits for a person.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1596" y="2194560"/>
            <a:ext cx="3362858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1596" y="2194560"/>
            <a:ext cx="40640" cy="2944368"/>
          </a:xfrm>
          <a:prstGeom prst="rect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7628" y="2414016"/>
            <a:ext cx="290565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8A1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7628" y="2651760"/>
            <a:ext cx="285079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2433"/>
                </a:solidFill>
                <a:latin typeface="Calibri"/>
              </a:rPr>
              <a:t>Human-in-the-loop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7628" y="2980944"/>
            <a:ext cx="2850794" cy="1984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A review app shows each gated item with its candidates and source context.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The reviewer picks or overrides, and that decision is written into the contract — never re-decided by the heuristic.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Your analysts stay the decision-makers.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230368"/>
            <a:ext cx="10637215" cy="96012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5413248"/>
            <a:ext cx="990569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0A19A"/>
                </a:solidFill>
                <a:latin typeface="Calibri"/>
              </a:rPr>
              <a:t>THE RESULT, IN ONE SENTENCE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Every value in the workbook is traced back to the sentence that justified it, and nothing the agent is unsure of reaches the workbook unreviewed.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00800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6B7A8C"/>
                </a:solidFill>
                <a:latin typeface="Calibri"/>
              </a:rPr>
              <a:t>FRD → STTM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00055" y="64008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A8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8A1F"/>
                </a:solidFill>
                <a:latin typeface="Calibri"/>
              </a:rP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749807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4800" b="0" i="0">
                <a:solidFill>
                  <a:srgbClr val="FFFFFF"/>
                </a:solidFill>
                <a:latin typeface="Calibri Light"/>
              </a:rPr>
              <a:t>The Agent Demo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C3D2DE"/>
                </a:solidFill>
                <a:latin typeface="Calibri"/>
              </a:rPr>
              <a:t>One approved FRD in. One STTM workbook out.
Run live, on this laptop, in about thirty seconds.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5074920"/>
            <a:ext cx="100584" cy="100584"/>
          </a:xfrm>
          <a:prstGeom prst="ellipse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330952"/>
            <a:ext cx="21671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Ingest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4C4"/>
                </a:solidFill>
                <a:latin typeface="Calibri"/>
              </a:rPr>
              <a:t>docx → markdown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" y="5116068"/>
            <a:ext cx="2084832" cy="15240"/>
          </a:xfrm>
          <a:prstGeom prst="rect">
            <a:avLst/>
          </a:prstGeom>
          <a:solidFill>
            <a:srgbClr val="3C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64408" y="5074920"/>
            <a:ext cx="100584" cy="100584"/>
          </a:xfrm>
          <a:prstGeom prst="ellipse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5330952"/>
            <a:ext cx="21671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Extract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4C4"/>
                </a:solidFill>
                <a:latin typeface="Calibri"/>
              </a:rPr>
              <a:t>one live model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65576" y="5116068"/>
            <a:ext cx="2084832" cy="15240"/>
          </a:xfrm>
          <a:prstGeom prst="rect">
            <a:avLst/>
          </a:prstGeom>
          <a:solidFill>
            <a:srgbClr val="3C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51576" y="5074920"/>
            <a:ext cx="100584" cy="100584"/>
          </a:xfrm>
          <a:prstGeom prst="ellipse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51576" y="5330952"/>
            <a:ext cx="21671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Contract build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4C4"/>
                </a:solidFill>
                <a:latin typeface="Calibri"/>
              </a:rPr>
              <a:t>validate · audit · gate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52744" y="5116068"/>
            <a:ext cx="2084832" cy="15240"/>
          </a:xfrm>
          <a:prstGeom prst="rect">
            <a:avLst/>
          </a:prstGeom>
          <a:solidFill>
            <a:srgbClr val="3C5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38744" y="5074920"/>
            <a:ext cx="100584" cy="100584"/>
          </a:xfrm>
          <a:prstGeom prst="ellipse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5330952"/>
            <a:ext cx="21671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Render + eval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B4C4"/>
                </a:solidFill>
                <a:latin typeface="Calibri"/>
              </a:rPr>
              <a:t>workbook +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6935" y="214884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D98A1F"/>
                </a:solidFill>
                <a:latin typeface="Calibri"/>
              </a:rPr>
              <a:t>BACKUP PLAN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3D2DE"/>
                </a:solidFill>
                <a:latin typeface="Calibri"/>
              </a:rPr>
              <a:t>Every demo run is saved. If the network misbehaves we replay a recorded run — the same screens, zero API calls, fully offline.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19A"/>
                </a:solidFill>
                <a:latin typeface="Calibri"/>
              </a:rPr>
              <a:t>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589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2433"/>
                </a:solidFill>
                <a:latin typeface="Calibri Light"/>
              </a:rPr>
              <a:t>What to watch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5399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C"/>
                </a:solidFill>
                <a:latin typeface="Calibri"/>
              </a:rPr>
              <a:t>Five moments on the results screen — each one is a claim we can defend.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005840" cy="3175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67128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8A1F"/>
                </a:solidFill>
                <a:latin typeface="Calibri Ligh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57984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A2433"/>
                </a:solidFill>
                <a:latin typeface="Calibri"/>
              </a:rPr>
              <a:t>Extraction summary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C"/>
                </a:solidFill>
                <a:latin typeface="Calibri"/>
              </a:rPr>
              <a:t>Three feeds, their file patterns, target tables and rules. All of it came out of the document — nothing is templated.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8A1F"/>
                </a:solidFill>
                <a:latin typeface="Calibri Ligh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62656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A2433"/>
                </a:solidFill>
                <a:latin typeface="Calibri"/>
              </a:rPr>
              <a:t>The gate strip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C"/>
                </a:solidFill>
                <a:latin typeface="Calibri"/>
              </a:rPr>
              <a:t>"N detected, M auto-confirmed against the data dictionary, K awaiting human review." The human-in-the-loop centrepiece.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76472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8A1F"/>
                </a:solidFill>
                <a:latin typeface="Calibri Ligh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67328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A2433"/>
                </a:solidFill>
                <a:latin typeface="Calibri"/>
              </a:rPr>
              <a:t>The verdict tile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C"/>
                </a:solidFill>
                <a:latin typeface="Calibri"/>
              </a:rPr>
              <a:t>A dictionary-correct extraction earns a PASS. A flag survives only when a human genuinely needs to look at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81144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8A1F"/>
                </a:solidFill>
                <a:latin typeface="Calibri Light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572000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A2433"/>
                </a:solidFill>
                <a:latin typeface="Calibri"/>
              </a:rPr>
              <a:t>Eval vs. the golden workbook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C"/>
                </a:solidFill>
                <a:latin typeface="Calibri"/>
              </a:rPr>
              <a:t>94.1% of cells match a hand-built reference. Every remaining cell is a difference deliberately built into the fixture.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85816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8A1F"/>
                </a:solidFill>
                <a:latin typeface="Calibri Light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376672"/>
            <a:ext cx="5257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A2433"/>
                </a:solidFill>
                <a:latin typeface="Calibri"/>
              </a:rPr>
              <a:t>The workbook itself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C"/>
                </a:solidFill>
                <a:latin typeface="Calibri"/>
              </a:rPr>
              <a:t>We download and open the .xlsx — the artifact a mapping analyst would otherwise hand-build.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2157984"/>
            <a:ext cx="4465015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0" y="2157984"/>
            <a:ext cx="40640" cy="1883664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2377440"/>
            <a:ext cx="395295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3"/>
                </a:solidFill>
                <a:latin typeface="Calibri"/>
              </a:rPr>
              <a:t>Honesty about the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2706624"/>
            <a:ext cx="3952951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3A4A5C"/>
                </a:solidFill>
                <a:latin typeface="Calibri"/>
              </a:rPr>
              <a:t>The demo states its cost before it spends anything: one billed call, roughly $0.15, about thirty-five seconds.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3A4A5C"/>
                </a:solidFill>
                <a:latin typeface="Calibri"/>
              </a:rPr>
              <a:t>Runs vary in how much the dictionary can auto-confirm. The mapping quality and the 94.1% eval have not varied.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4242816"/>
            <a:ext cx="4465015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49440" y="4242816"/>
            <a:ext cx="40640" cy="1883664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5472" y="4462272"/>
            <a:ext cx="395295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3"/>
                </a:solidFill>
                <a:latin typeface="Calibri"/>
              </a:rPr>
              <a:t>Data handling — non-negotiable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4791456"/>
            <a:ext cx="3952951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3A4A5C"/>
                </a:solidFill>
                <a:latin typeface="Calibri"/>
              </a:rPr>
              <a:t>No real client document is used in this demo. The FRD on screen is anonymized and cleared for viewing.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3A4A5C"/>
                </a:solidFill>
                <a:latin typeface="Calibri"/>
              </a:rPr>
              <a:t>In the deployed shape, documents and outputs stay inside your own Databricks workspace and Unity Catalog volumes.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00800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6B7A8C"/>
                </a:solidFill>
                <a:latin typeface="Calibri"/>
              </a:rPr>
              <a:t>FRD → STTM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00055" y="64008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A8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19A"/>
                </a:solidFill>
                <a:latin typeface="Calibri"/>
              </a:rPr>
              <a:t>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589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2433"/>
                </a:solidFill>
                <a:latin typeface="Calibri Light"/>
              </a:rPr>
              <a:t>Measured on a live end-to-end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5399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C"/>
                </a:solidFill>
                <a:latin typeface="Calibri"/>
              </a:rPr>
              <a:t>Anonymized demo FRD → rendered workbook, on the committed pipeline, 7 August 2026. Not a mock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005840" cy="3175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2453563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2453563" cy="4064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414016"/>
            <a:ext cx="20878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2433"/>
                </a:solidFill>
                <a:latin typeface="Calibri Light"/>
              </a:rPr>
              <a:t>94.1%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980944"/>
            <a:ext cx="20878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0A19A"/>
                </a:solidFill>
                <a:latin typeface="Calibri"/>
              </a:rPr>
              <a:t>MAPPING FIDELITY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7A8C"/>
                </a:solidFill>
                <a:latin typeface="Calibri"/>
              </a:rPr>
              <a:t>3,094 of 3,288 cells match the golden reference workbook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5123" y="2194560"/>
            <a:ext cx="2453563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5123" y="2194560"/>
            <a:ext cx="2453563" cy="4064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6291" y="2414016"/>
            <a:ext cx="20878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2433"/>
                </a:solidFill>
                <a:latin typeface="Calibri Light"/>
              </a:rPr>
              <a:t>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6291" y="2980944"/>
            <a:ext cx="20878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0A19A"/>
                </a:solidFill>
                <a:latin typeface="Calibri"/>
              </a:rPr>
              <a:t>HALLUCINATION SWEEP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7A8C"/>
                </a:solidFill>
                <a:latin typeface="Calibri"/>
              </a:rPr>
              <a:t>Every identifier traced verbatim to the FRD or the workbook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2194560"/>
            <a:ext cx="2453563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2194560"/>
            <a:ext cx="2453563" cy="40640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4175" y="2414016"/>
            <a:ext cx="20878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2433"/>
                </a:solidFill>
                <a:latin typeface="Calibri Light"/>
              </a:rPr>
              <a:t>45 / 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4175" y="2980944"/>
            <a:ext cx="20878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6ED1"/>
                </a:solidFill>
                <a:latin typeface="Calibri"/>
              </a:rPr>
              <a:t>STRICT GROUNDING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7A8C"/>
                </a:solidFill>
                <a:latin typeface="Calibri"/>
              </a:rPr>
              <a:t>Plus 30 of 30 advisory checks — the quality gate passed clean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0891" y="2194560"/>
            <a:ext cx="2453563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0891" y="2194560"/>
            <a:ext cx="2453563" cy="40640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2059" y="2414016"/>
            <a:ext cx="20878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2433"/>
                </a:solidFill>
                <a:latin typeface="Calibri Light"/>
              </a:rPr>
              <a:t>~33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059" y="2980944"/>
            <a:ext cx="20878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E6ED1"/>
                </a:solidFill>
                <a:latin typeface="Calibri"/>
              </a:rPr>
              <a:t>END TO END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7A8C"/>
                </a:solidFill>
                <a:latin typeface="Calibri"/>
              </a:rPr>
              <a:t>One billed model call, about $0.15 per document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023360"/>
            <a:ext cx="5090007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023360"/>
            <a:ext cx="40640" cy="2084831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" y="4242816"/>
            <a:ext cx="45779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3"/>
                </a:solidFill>
                <a:latin typeface="Calibri"/>
              </a:rPr>
              <a:t>What the numbers mean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" y="4572000"/>
            <a:ext cx="4577943" cy="1362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Every one of the 194 non-matching cells is a datatype difference deliberately built into the test fixture. The eval catches exactly what it should.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No mapping was missed, and none was invented.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A proxy-SME review estimated a first-pass keep rate of roughly 96% — against an acceptance bar of 80%.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4447" y="4023360"/>
            <a:ext cx="5090007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4447" y="4023360"/>
            <a:ext cx="40640" cy="2084831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0479" y="4242816"/>
            <a:ext cx="457794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3"/>
                </a:solidFill>
                <a:latin typeface="Calibri"/>
              </a:rPr>
              <a:t>Engineering posture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0479" y="4572000"/>
            <a:ext cx="4577943" cy="1362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77 offline unit tests — no network, no model calls and no cluster needed to run them.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Headroom of roughly 75–90 feeds in one document; this run used 5% of its output budget.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The pipeline fails loudly on schema violations, refusals or truncation — it never retries into a plausible answer.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400800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6B7A8C"/>
                </a:solidFill>
                <a:latin typeface="Calibri"/>
              </a:rPr>
              <a:t>FRD → STTM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0055" y="64008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A8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19A"/>
                </a:solidFill>
                <a:latin typeface="Calibri"/>
              </a:rPr>
              <a:t>THE VALUE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589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2433"/>
                </a:solidFill>
                <a:latin typeface="Calibri Light"/>
              </a:rPr>
              <a:t>Why this matters for AmeriHealth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05840" cy="3175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3362858" cy="2066543"/>
          </a:xfrm>
          <a:prstGeom prst="rect">
            <a:avLst/>
          </a:prstGeom>
          <a:solidFill>
            <a:srgbClr val="F4F7F9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40640" cy="2066543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65376"/>
            <a:ext cx="285079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3"/>
                </a:solidFill>
                <a:latin typeface="Calibri"/>
              </a:rPr>
              <a:t>Days of work become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194560"/>
            <a:ext cx="2850794" cy="1344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0" i="0">
                <a:solidFill>
                  <a:srgbClr val="3A4A5C"/>
                </a:solidFill>
                <a:latin typeface="Calibri"/>
              </a:rPr>
              <a:t>The hand-built workbook is the slowest step between an approved FRD and working pipeline code. The agent produces it in about thirty seconds.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0" i="0">
                <a:solidFill>
                  <a:srgbClr val="3A4A5C"/>
                </a:solidFill>
                <a:latin typeface="Calibri"/>
              </a:rPr>
              <a:t>Analysts move from transcription to review — the part that needs their expertise.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4418" y="1645920"/>
            <a:ext cx="3362858" cy="2066543"/>
          </a:xfrm>
          <a:prstGeom prst="rect">
            <a:avLst/>
          </a:prstGeom>
          <a:solidFill>
            <a:srgbClr val="F4F7F9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4418" y="1645920"/>
            <a:ext cx="40640" cy="2066543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0450" y="1865376"/>
            <a:ext cx="285079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3"/>
                </a:solidFill>
                <a:latin typeface="Calibri"/>
              </a:rPr>
              <a:t>Auditable by 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0450" y="2194560"/>
            <a:ext cx="2850794" cy="1344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0" i="0">
                <a:solidFill>
                  <a:srgbClr val="3A4A5C"/>
                </a:solidFill>
                <a:latin typeface="Calibri"/>
              </a:rPr>
              <a:t>Every value is traced verbatim to the sentence that justified it, and that check is a hard gate on every run.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0" i="0">
                <a:solidFill>
                  <a:srgbClr val="3A4A5C"/>
                </a:solidFill>
                <a:latin typeface="Calibri"/>
              </a:rPr>
              <a:t>When an auditor asks why a field maps the way it does, the answer is recorded, not reconstructed.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1596" y="1645920"/>
            <a:ext cx="3362858" cy="2066543"/>
          </a:xfrm>
          <a:prstGeom prst="rect">
            <a:avLst/>
          </a:prstGeom>
          <a:solidFill>
            <a:srgbClr val="F4F7F9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596" y="1645920"/>
            <a:ext cx="40640" cy="2066543"/>
          </a:xfrm>
          <a:prstGeom prst="rect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7628" y="1865376"/>
            <a:ext cx="285079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3"/>
                </a:solidFill>
                <a:latin typeface="Calibri"/>
              </a:rPr>
              <a:t>Consistent across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7628" y="2194560"/>
            <a:ext cx="2850794" cy="1344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0" i="0">
                <a:solidFill>
                  <a:srgbClr val="3A4A5C"/>
                </a:solidFill>
                <a:latin typeface="Calibri"/>
              </a:rPr>
              <a:t>Two analysts reading one FRD produce two workbooks. The agent produces the same structure every time.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0" i="0">
                <a:solidFill>
                  <a:srgbClr val="3A4A5C"/>
                </a:solidFill>
                <a:latin typeface="Calibri"/>
              </a:rPr>
              <a:t>Naming, load strategies and rule attribution stop drifting — which is what makes downstream automation possible.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858768"/>
            <a:ext cx="3362858" cy="2066543"/>
          </a:xfrm>
          <a:prstGeom prst="rect">
            <a:avLst/>
          </a:prstGeom>
          <a:solidFill>
            <a:srgbClr val="F4F7F9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858768"/>
            <a:ext cx="40640" cy="2066543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" y="4078224"/>
            <a:ext cx="285079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3"/>
                </a:solidFill>
                <a:latin typeface="Calibri"/>
              </a:rPr>
              <a:t>Your data stays with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" y="4407408"/>
            <a:ext cx="2850794" cy="1344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0" i="0">
                <a:solidFill>
                  <a:srgbClr val="3A4A5C"/>
                </a:solidFill>
                <a:latin typeface="Calibri"/>
              </a:rPr>
              <a:t>Built for Databricks: documents and outputs live in your Unity Catalog volumes, and credentials come from a secret scope.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0" i="0">
                <a:solidFill>
                  <a:srgbClr val="3A4A5C"/>
                </a:solidFill>
                <a:latin typeface="Calibri"/>
              </a:rPr>
              <a:t>The PHI posture is a design constraint — this demo runs only on anonymized material.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4418" y="3858768"/>
            <a:ext cx="3362858" cy="2066543"/>
          </a:xfrm>
          <a:prstGeom prst="rect">
            <a:avLst/>
          </a:prstGeom>
          <a:solidFill>
            <a:srgbClr val="F4F7F9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4418" y="3858768"/>
            <a:ext cx="40640" cy="2066543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70450" y="4078224"/>
            <a:ext cx="285079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3"/>
                </a:solidFill>
                <a:latin typeface="Calibri"/>
              </a:rPr>
              <a:t>Humans stay in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0450" y="4407408"/>
            <a:ext cx="2850794" cy="1344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0" i="0">
                <a:solidFill>
                  <a:srgbClr val="3A4A5C"/>
                </a:solidFill>
                <a:latin typeface="Calibri"/>
              </a:rPr>
              <a:t>The agent never guesses. It flags an ambiguity, auto-confirms only what the data dictionary proves, and routes the rest to a reviewer.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0" i="0">
                <a:solidFill>
                  <a:srgbClr val="3A4A5C"/>
                </a:solidFill>
                <a:latin typeface="Calibri"/>
              </a:rPr>
              <a:t>Adoption means reviewing a short list of open questions, not trusting a black box.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51596" y="3858768"/>
            <a:ext cx="3362858" cy="2066543"/>
          </a:xfrm>
          <a:prstGeom prst="rect">
            <a:avLst/>
          </a:prstGeom>
          <a:solidFill>
            <a:srgbClr val="F4F7F9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1596" y="3858768"/>
            <a:ext cx="40640" cy="2066543"/>
          </a:xfrm>
          <a:prstGeom prst="rect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7628" y="4078224"/>
            <a:ext cx="285079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3"/>
                </a:solidFill>
                <a:latin typeface="Calibri"/>
              </a:rPr>
              <a:t>It compounds downstream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7628" y="4407408"/>
            <a:ext cx="2850794" cy="1344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0" i="0">
                <a:solidFill>
                  <a:srgbClr val="3A4A5C"/>
                </a:solidFill>
                <a:latin typeface="Calibri"/>
              </a:rPr>
              <a:t>The contract this agent emits is what CodeGen consumes, which in turn feeds automated code review.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180" b="0" i="0">
                <a:solidFill>
                  <a:srgbClr val="3A4A5C"/>
                </a:solidFill>
                <a:latin typeface="Calibri"/>
              </a:rPr>
              <a:t>Every FRD processed here shortens the whole chain: a governed path from requirement to running pipeline.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00800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6B7A8C"/>
                </a:solidFill>
                <a:latin typeface="Calibri"/>
              </a:rPr>
              <a:t>FRD → STTM Agent   ·   Value for AmeriHealth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00055" y="64008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A8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19A"/>
                </a:solidFill>
                <a:latin typeface="Calibr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589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2433"/>
                </a:solidFill>
                <a:latin typeface="Calibri Light"/>
              </a:rPr>
              <a:t>Built for your Databricks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5399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C"/>
                </a:solidFill>
                <a:latin typeface="Calibri"/>
              </a:rPr>
              <a:t>Demoed locally today; the workspace shape is already defined in the repository.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005840" cy="3175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57984"/>
            <a:ext cx="5067147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57984"/>
            <a:ext cx="40640" cy="310896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377440"/>
            <a:ext cx="45550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433"/>
                </a:solidFill>
                <a:latin typeface="Calibri"/>
              </a:rPr>
              <a:t>In place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706624"/>
            <a:ext cx="4555083" cy="2386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0" i="0">
                <a:solidFill>
                  <a:srgbClr val="3A4A5C"/>
                </a:solidFill>
                <a:latin typeface="Calibri"/>
              </a:rPr>
              <a:t>An asset bundle defines a single job chaining all four stages with explicit dependencies, on serverless compute.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0" i="0">
                <a:solidFill>
                  <a:srgbClr val="3A4A5C"/>
                </a:solidFill>
                <a:latin typeface="Calibri"/>
              </a:rPr>
              <a:t>Unity Catalog volumes hold raw FRDs, reference workbooks and outputs — client documents never leave the workspace.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0" i="0">
                <a:solidFill>
                  <a:srgbClr val="3A4A5C"/>
                </a:solidFill>
                <a:latin typeface="Calibri"/>
              </a:rPr>
              <a:t>Anthropic credentials are read from a Databricks secret scope; no key exists in the repository.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0" i="0">
                <a:solidFill>
                  <a:srgbClr val="3A4A5C"/>
                </a:solidFill>
                <a:latin typeface="Calibri"/>
              </a:rPr>
              <a:t>The review app is packaged as a Databricks App on the officially supported stack.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0" i="0">
                <a:solidFill>
                  <a:srgbClr val="3A4A5C"/>
                </a:solidFill>
                <a:latin typeface="Calibri"/>
              </a:rPr>
              <a:t>Orchestration retries are deliberately disabled — deterministic errors must surface, not be retried away.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7307" y="2157984"/>
            <a:ext cx="5067147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47307" y="2157984"/>
            <a:ext cx="40640" cy="3108960"/>
          </a:xfrm>
          <a:prstGeom prst="rect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3339" y="2377440"/>
            <a:ext cx="45550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433"/>
                </a:solidFill>
                <a:latin typeface="Calibri"/>
              </a:rPr>
              <a:t>The remaining port work — named, not hidden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3339" y="2706624"/>
            <a:ext cx="4555083" cy="2386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0" i="0">
                <a:solidFill>
                  <a:srgbClr val="3A4A5C"/>
                </a:solidFill>
                <a:latin typeface="Calibri"/>
              </a:rPr>
              <a:t>The demo runs pipeline stages as local processes; in the workspace it triggers the bundle job and reads outputs from Unity Catalog.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0" i="0">
                <a:solidFill>
                  <a:srgbClr val="3A4A5C"/>
                </a:solidFill>
                <a:latin typeface="Calibri"/>
              </a:rPr>
              <a:t>The review app's API key must arrive through a Databricks Apps secret resource rather than a local environment file.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0" i="0">
                <a:solidFill>
                  <a:srgbClr val="3A4A5C"/>
                </a:solidFill>
                <a:latin typeface="Calibri"/>
              </a:rPr>
              <a:t>Live progress streaming through the Apps proxy is expected to work but has not been exercised against a real workspace.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20" b="0" i="0">
                <a:solidFill>
                  <a:srgbClr val="3A4A5C"/>
                </a:solidFill>
                <a:latin typeface="Calibri"/>
              </a:rPr>
              <a:t>None of this touches the pipeline logic or the quality gates — it is plumbing between the same components.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504688"/>
            <a:ext cx="10637215" cy="768096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5724144"/>
            <a:ext cx="9905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A19A"/>
                </a:solidFill>
                <a:latin typeface="Calibri"/>
              </a:rPr>
              <a:t>The framing: </a:t>
            </a:r>
            <a:r>
              <a:rPr sz="1350" b="0">
                <a:solidFill>
                  <a:srgbClr val="FFFFFF"/>
                </a:solidFill>
                <a:latin typeface="Calibri"/>
              </a:rPr>
              <a:t>built for the workspace, currently demoed locally. The four stages you watch running are the same committed code a workspace job would run.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00800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6B7A8C"/>
                </a:solidFill>
                <a:latin typeface="Calibri"/>
              </a:rPr>
              <a:t>FRD → STTM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4008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A8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19A"/>
                </a:solidFill>
                <a:latin typeface="Calibri"/>
              </a:rPr>
              <a:t>STATUS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589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A2433"/>
                </a:solidFill>
                <a:latin typeface="Calibri Light"/>
              </a:rPr>
              <a:t>Where we are, and what we would do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5399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C"/>
                </a:solidFill>
                <a:latin typeface="Calibri"/>
              </a:rPr>
              <a:t>An honest read: the pipeline and its quality gates are proven; the surrounding integration is the work ahead.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005840" cy="31750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10637215" cy="56692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231136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3"/>
                </a:solidFill>
                <a:latin typeface="Calibri"/>
              </a:rPr>
              <a:t>Extraction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7368" y="222199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PROVEN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240280"/>
            <a:ext cx="5882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Live end-to-end run: 94.1% fidelity, zero hallucinations, ~96% estimated first-pass keep 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81635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3"/>
                </a:solidFill>
                <a:latin typeface="Calibri"/>
              </a:rPr>
              <a:t>Grounding &amp; gating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87368" y="28072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825496"/>
            <a:ext cx="5882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45/45 strict and 30/30 advisory checks, with human review wired end-to-end and unit-tested.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273552"/>
            <a:ext cx="10637215" cy="56692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340156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3"/>
                </a:solidFill>
                <a:latin typeface="Calibri"/>
              </a:rPr>
              <a:t>Upstream hand-off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87368" y="339242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PROVEN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410712"/>
            <a:ext cx="5882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Versioned label contract shared byte-identically with the BRD→FRD agent, guarded by tests.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398678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3"/>
                </a:solidFill>
                <a:latin typeface="Calibri"/>
              </a:rPr>
              <a:t>Workspace 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87368" y="397764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995928"/>
            <a:ext cx="5882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Trigger the bundle job from the app, source secrets via an Apps resource, exercise streaming.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443984"/>
            <a:ext cx="10637215" cy="566928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" y="457200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3"/>
                </a:solidFill>
                <a:latin typeface="Calibri"/>
              </a:rPr>
              <a:t>Downstream contract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87368" y="4562856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581144"/>
            <a:ext cx="5882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Emit the workbook-derived mapping contract CodeGen needs — the programme's biggest open gap.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" y="5157216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3"/>
                </a:solidFill>
                <a:latin typeface="Calibri"/>
              </a:rPr>
              <a:t>Scale 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87368" y="514807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166360"/>
            <a:ext cx="5882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3A4A5C"/>
                </a:solidFill>
                <a:latin typeface="Calibri"/>
              </a:rPr>
              <a:t>Run against a real, larger FRD to confirm the 75–90 feed headroom and tune chunking if needed.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852160"/>
            <a:ext cx="10637215" cy="676656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5852160"/>
            <a:ext cx="40640" cy="676656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" y="6053328"/>
            <a:ext cx="99056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A19A"/>
                </a:solidFill>
                <a:latin typeface="Calibri"/>
              </a:rPr>
              <a:t>Our ask: </a:t>
            </a:r>
            <a:r>
              <a:rPr sz="1350" b="0">
                <a:solidFill>
                  <a:srgbClr val="FFFFFF"/>
                </a:solidFill>
                <a:latin typeface="Calibri"/>
              </a:rPr>
              <a:t>a real, non-sensitive FRD to validate at scale, and a workspace target for the deployment port.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400800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6B7A8C"/>
                </a:solidFill>
                <a:latin typeface="Calibri"/>
              </a:rPr>
              <a:t>FRD → STTM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0055" y="64008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6B7A8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19695" y="0"/>
            <a:ext cx="25400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19A"/>
                </a:solidFill>
                <a:latin typeface="Calibri"/>
              </a:rPr>
              <a:t>SECTION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6400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5000" b="0" i="0">
                <a:solidFill>
                  <a:srgbClr val="FFFFFF"/>
                </a:solidFill>
                <a:latin typeface="Calibri Light"/>
              </a:rPr>
              <a:t>Questions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3D2DE"/>
                </a:solidFill>
                <a:latin typeface="Calibri"/>
              </a:rPr>
              <a:t>Happy to go back into the demo, open the workbook, or walk through any part of the pipeline in detail.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480560"/>
            <a:ext cx="1188720" cy="3175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8006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Soham  ·  Arjun   |   Hexaware — AI in Engineering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4C4"/>
                </a:solidFill>
                <a:latin typeface="Calibri"/>
              </a:rPr>
              <a:t>FRD → STTM Agent   ·   Agent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1783080"/>
            <a:ext cx="32918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050" b="1" i="0">
                <a:solidFill>
                  <a:srgbClr val="00A19A"/>
                </a:solidFill>
                <a:latin typeface="Calibri"/>
              </a:rPr>
              <a:t>LIKELY QUESTIONS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C3D2DE"/>
                </a:solidFill>
                <a:latin typeface="Calibri"/>
              </a:rPr>
              <a:t>—  How does it behave on an FRD far larger than the demo?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C3D2DE"/>
                </a:solidFill>
                <a:latin typeface="Calibri"/>
              </a:rPr>
              <a:t>—  What happens when the document is genuinely ambiguous?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C3D2DE"/>
                </a:solidFill>
                <a:latin typeface="Calibri"/>
              </a:rPr>
              <a:t>—  How do we know it hasn't invented a mapping?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C3D2DE"/>
                </a:solidFill>
                <a:latin typeface="Calibri"/>
              </a:rPr>
              <a:t>—  What does the review workload look like per document?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C3D2DE"/>
                </a:solidFill>
                <a:latin typeface="Calibri"/>
              </a:rPr>
              <a:t>—  How does this reach our workspace, and who holds the keys?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C3D2DE"/>
                </a:solidFill>
                <a:latin typeface="Calibri"/>
              </a:rPr>
              <a:t>—  What is the effort to close the CodeGen hand-off gap?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