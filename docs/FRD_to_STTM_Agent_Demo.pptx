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Open. Introduce yourself and Arjun and split the room's expectation: slides first, then a live run of the agent, then questions.</a:t>
            </a:r>
          </a:p>
          <a:p/>
          <a:p>
            <a:r>
              <a:rPr sz="1200">
                <a:latin typeface="Calibri"/>
              </a:rPr>
              <a:t>The three numbers on the right are the whole story in miniature — 94.1% mapping fidelity, zero ungrounded identifiers, about thirty seconds and fifteen cents per document. All measured on a real live run on 7 August 2026, not a mock, not a projection.</a:t>
            </a:r>
          </a:p>
          <a:p/>
          <a:p>
            <a:r>
              <a:rPr sz="1200">
                <a:latin typeface="Calibri"/>
              </a:rPr>
              <a:t>Say plainly: the FRD in the demo is anonymized fixture material. No real client document is used at any point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Keep this to about forty-five seconds. Signal that the demo (item 05) is the centre of gravity and that we will finish with open Q&amp;A.</a:t>
            </a:r>
          </a:p>
          <a:p/>
          <a:p>
            <a:r>
              <a:rPr sz="1200">
                <a:latin typeface="Calibri"/>
              </a:rPr>
              <a:t>Flag the two-hander: agree in advance who takes 03/04 (mechanics) and who takes 06 (value), so the hand-off is not negotiated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point of this slide is that the agents are chained by contracts, not by email attachments.</a:t>
            </a:r>
          </a:p>
          <a:p/>
          <a:p>
            <a:r>
              <a:rPr sz="1200">
                <a:latin typeface="Calibri"/>
              </a:rPr>
              <a:t>Upstream is genuinely solved: our label contract is versioned and committed byte-identically to both repositories, with a round-trip test that fails the build on drift.</a:t>
            </a:r>
          </a:p>
          <a:p/>
          <a:p>
            <a:r>
              <a:rPr sz="1200">
                <a:latin typeface="Calibri"/>
              </a:rPr>
              <a:t>Downstream, say the gap out loud — CodeGen needs a workbook-derived mapping contract and no committed tool in the programme produces one yet. Naming it before anyone asks buys credibility for everything else on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Anchor in the audience's own experience — ask whether their mapping workbooks are built by hand today; the answer is almost always yes.</a:t>
            </a:r>
          </a:p>
          <a:p/>
          <a:p>
            <a:r>
              <a:rPr sz="1200">
                <a:latin typeface="Calibri"/>
              </a:rPr>
              <a:t>The right-hand panel is the line to land: we automate the reading and the transcription, not the judgement. Where the FRD is genuinely ambiguous the agent stops and asks rather than guessing. That framing pre-empts the "can we trust it" question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Ninety seconds, no deeper. Walk the four stages left to right; the audience will see these same four stages light up in the demo, so this slide is the map for what they are about to watch.</a:t>
            </a:r>
          </a:p>
          <a:p/>
          <a:p>
            <a:r>
              <a:rPr sz="1200">
                <a:latin typeface="Calibri"/>
              </a:rPr>
              <a:t>The band at the bottom matters more than the boxes: the model reads prose, and deterministic code owns validation, grounding, attribution and rendering. The model never writes a cell that code cannot justify.</a:t>
            </a:r>
          </a:p>
          <a:p/>
          <a:p>
            <a:r>
              <a:rPr sz="1200">
                <a:latin typeface="Calibri"/>
              </a:rPr>
              <a:t>If asked which model: Claude, called through the Anthropic SDK, with the schema and prompt living in our repository — not a black-box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for the sceptical engineer and the compliance-minded stakeholder at the same time.</a:t>
            </a:r>
          </a:p>
          <a:p/>
          <a:p>
            <a:r>
              <a:rPr sz="1200">
                <a:latin typeface="Calibri"/>
              </a:rPr>
              <a:t>Grounding audit: every strict field must appear verbatim in the source document. On the live run, 45 of 45 strict checks passed. Stress that we never relax this to make a run go green — a failing audit is a failing run.</a:t>
            </a:r>
          </a:p>
          <a:p/>
          <a:p>
            <a:r>
              <a:rPr sz="1200">
                <a:latin typeface="Calibri"/>
              </a:rPr>
              <a:t>Gating: the agent records an ambiguity rather than choosing; a deterministic data-dictionary cross-check auto-confirms only what the data proves.</a:t>
            </a:r>
          </a:p>
          <a:p/>
          <a:p>
            <a:r>
              <a:rPr sz="1200">
                <a:latin typeface="Calibri"/>
              </a:rPr>
              <a:t>If pushed on the difference between strict and softer checks: strict fields are identifiers and must match verbatim; the softer (advisory) fields are prose and are checked by token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Transition slide. Hand over to whoever is driving the laptop.</a:t>
            </a:r>
          </a:p>
          <a:p/>
          <a:p>
            <a:r>
              <a:rPr sz="1200">
                <a:latin typeface="Calibri"/>
              </a:rPr>
              <a:t>Before starting the run, read the cost-confirmation dialog aloud — one billed call, about $0.15, about thirty-five seconds. The demo tells you what it costs before it spends anything.</a:t>
            </a:r>
          </a:p>
          <a:p/>
          <a:p>
            <a:r>
              <a:rPr sz="1200">
                <a:latin typeface="Calibri"/>
              </a:rPr>
              <a:t>Contingency: if the network misbehaves, switch to Replay and pick the post-fix run. Identical results view, zero API calls, works offline. Do not debug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Leave this up while the run executes, then walk the results page top to bottom in this order.</a:t>
            </a:r>
          </a:p>
          <a:p/>
          <a:p>
            <a:r>
              <a:rPr sz="1200">
                <a:latin typeface="Calibri"/>
              </a:rPr>
              <a:t>Give the gate strip time even when the counts are zero — zero means nothing needed a human on this run, which is itself the point. If the run shows a flag that then gets auto-confirmed, slow down: that is the best possible outcome, because the flag-then-confirm story renders on screen.</a:t>
            </a:r>
          </a:p>
          <a:p/>
          <a:p>
            <a:r>
              <a:rPr sz="1200">
                <a:latin typeface="Calibri"/>
              </a:rPr>
              <a:t>Runs vary in how much the dictionary can auto-confirm. The mapping quality and the 94.1% eval have not varied across runs — say so before anyone wonders about it.</a:t>
            </a:r>
          </a:p>
          <a:p/>
          <a:p>
            <a:r>
              <a:rPr sz="1200">
                <a:latin typeface="Calibri"/>
              </a:rPr>
              <a:t>Finish by downloading and opening the workbook. That artifact is the deliverable an analyst would otherwise hand-build.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Come back to slides with the workbook still fresh in their minds.</a:t>
            </a:r>
          </a:p>
          <a:p/>
          <a:p>
            <a:r>
              <a:rPr sz="1200">
                <a:latin typeface="Calibri"/>
              </a:rPr>
              <a:t>The number to defend is 94.1%. Every one of the 194 non-matching cells is a datatype difference deliberately built into the test fixture — the eval catches exactly what it should and nothing else. Nothing was missed and nothing was invented.</a:t>
            </a:r>
          </a:p>
          <a:p/>
          <a:p>
            <a:r>
              <a:rPr sz="1200">
                <a:latin typeface="Calibri"/>
              </a:rPr>
              <a:t>The hallucination sweep checked all 50 identifiers in the output — feed names, file patterns, catalogs, schemas, tables, load strategies, requirement ids — for verbatim presence in the source. Zero ungrounded.</a:t>
            </a:r>
          </a:p>
          <a:p/>
          <a:p>
            <a:r>
              <a:rPr sz="1200">
                <a:latin typeface="Calibri"/>
              </a:rPr>
              <a:t>If asked about the keep rate: a proxy-SME review estimated roughly 96% first-pass keep, against an acceptance bar of 80%.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to slow down on — it is the reason we are in the room.</a:t>
            </a:r>
          </a:p>
          <a:p/>
          <a:p>
            <a:r>
              <a:rPr sz="1200">
                <a:latin typeface="Calibri"/>
              </a:rPr>
              <a:t>Lead with the top-left card and the bottom-left card: speed, and the fact that your data never leaves your tenancy. For a regulated payer those two usually decide the conversation.</a:t>
            </a:r>
          </a:p>
          <a:p/>
          <a:p>
            <a:r>
              <a:rPr sz="1200">
                <a:latin typeface="Calibri"/>
              </a:rPr>
              <a:t>Auditability is the strongest card technically: the traceability is not a report we generate afterwards, it is a hard gate that runs on every document.</a:t>
            </a:r>
          </a:p>
          <a:p/>
          <a:p>
            <a:r>
              <a:rPr sz="1200">
                <a:latin typeface="Calibri"/>
              </a:rPr>
              <a:t>Close on the bottom-right: the value is not one workbook, it is a governed path from requirement to running pipeline, and every FRD processed here shortens the downstream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Framing line: built for the workspace, currently demoed locally. Say it early so nobody thinks the local demo is the product.</a:t>
            </a:r>
          </a:p>
          <a:p/>
          <a:p>
            <a:r>
              <a:rPr sz="1200">
                <a:latin typeface="Calibri"/>
              </a:rPr>
              <a:t>Left column is real and committed today. Right column is the honest list of port work — three items, all plumbing, none of them touching the pipeline logic or the quality gates.</a:t>
            </a:r>
          </a:p>
          <a:p/>
          <a:p>
            <a:r>
              <a:rPr sz="1200">
                <a:latin typeface="Calibri"/>
              </a:rPr>
              <a:t>If asked about credentials: in the workspace, the key comes from a Databricks secret scope, and there is no key anywhere in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one-page honest read. Three things proven, three things next.</a:t>
            </a:r>
          </a:p>
          <a:p/>
          <a:p>
            <a:r>
              <a:rPr sz="1200">
                <a:latin typeface="Calibri"/>
              </a:rPr>
              <a:t>Do not soften the two amber rows. The workspace port and the downstream mapping contract are real work, and being straight about them is what makes the three green rows believable.</a:t>
            </a:r>
          </a:p>
          <a:p/>
          <a:p>
            <a:r>
              <a:rPr sz="1200">
                <a:latin typeface="Calibri"/>
              </a:rPr>
              <a:t>End on the ask: a real, non-sensitive FRD to validate at scale, and a workspace target for the deployment port. Get a name and a date if you 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Answers to have ready:</a:t>
            </a:r>
          </a:p>
          <a:p/>
          <a:p>
            <a:r>
              <a:rPr sz="1200">
                <a:latin typeface="Calibri"/>
              </a:rPr>
              <a:t>Larger FRDs — the run used 5% of its output budget, giving roughly 75 to 90 feeds of headroom in one document. Beyond that, per-feed chunked extraction is the known path. Validating on a real large FRD is our ask.</a:t>
            </a:r>
          </a:p>
          <a:p/>
          <a:p>
            <a:r>
              <a:rPr sz="1200">
                <a:latin typeface="Calibri"/>
              </a:rPr>
              <a:t>Genuine ambiguity — it is gated, not guessed. The dictionary auto-confirms what it can prove; everything else goes to a reviewer, whose decision is stored and never re-decided by the heuristic.</a:t>
            </a:r>
          </a:p>
          <a:p/>
          <a:p>
            <a:r>
              <a:rPr sz="1200">
                <a:latin typeface="Calibri"/>
              </a:rPr>
              <a:t>Invented mappings — the grounding audit and the hallucination sweep. Offer to show the audit output.</a:t>
            </a:r>
          </a:p>
          <a:p/>
          <a:p>
            <a:r>
              <a:rPr sz="1200">
                <a:latin typeface="Calibri"/>
              </a:rPr>
              <a:t>Review workload — on the demo document, at most a handful of items per run, often zero.</a:t>
            </a:r>
          </a:p>
          <a:p/>
          <a:p>
            <a:r>
              <a:rPr sz="1200">
                <a:latin typeface="Calibri"/>
              </a:rPr>
              <a:t>Keys and tenancy — Databricks secret scope, Unity Catalog volumes, nothing leaves the workspace.</a:t>
            </a:r>
          </a:p>
          <a:p/>
          <a:p>
            <a:r>
              <a:rPr sz="1200">
                <a:latin typeface="Calibri"/>
              </a:rPr>
              <a:t>CodeGen gap — no committed extractor today; it is scoped work, and we would size it properly rather than guess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85455" y="0"/>
            <a:ext cx="4206240" cy="6858000"/>
          </a:xfrm>
          <a:prstGeom prst="rect">
            <a:avLst/>
          </a:prstGeom>
          <a:solidFill>
            <a:srgbClr val="1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85455" y="0"/>
            <a:ext cx="25400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A19A"/>
                </a:solidFill>
                <a:latin typeface="Calibri"/>
              </a:rPr>
              <a:t>AI IN ENGINEERING PROGRAM   ·   AGENT 2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7040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000" b="0" i="0">
                <a:solidFill>
                  <a:srgbClr val="FFFFFF"/>
                </a:solidFill>
                <a:latin typeface="Calibri Light"/>
              </a:rPr>
              <a:t>FRD → STTM Agent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650" b="0" i="0">
                <a:solidFill>
                  <a:srgbClr val="C3D2DE"/>
                </a:solidFill>
                <a:latin typeface="Calibri"/>
              </a:rPr>
              <a:t>It reads an approved FRD document and builds the STTM mapping
spreadsheet for you — in about thirty seconds.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160520"/>
            <a:ext cx="1188720" cy="3175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Prepared for AmeriHealth   ·   Hexaware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9FB4C4"/>
                </a:solidFill>
                <a:latin typeface="Calibri"/>
              </a:rPr>
              <a:t>Presented by Soham &amp; Arjun   |   Live demo included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2656" y="2011680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00A19A"/>
                </a:solidFill>
                <a:latin typeface="Calibri Light"/>
              </a:rPr>
              <a:t>94.1%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3D2DE"/>
                </a:solidFill>
                <a:latin typeface="Calibri"/>
              </a:rPr>
              <a:t>of spreadsheet cells match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3D2DE"/>
                </a:solidFill>
                <a:latin typeface="Calibri"/>
              </a:rPr>
              <a:t>hand-made answer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42656" y="3200400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00A19A"/>
                </a:solidFill>
                <a:latin typeface="Calibri Light"/>
              </a:rPr>
              <a:t>0 / 50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3D2DE"/>
                </a:solidFill>
                <a:latin typeface="Calibri"/>
              </a:rPr>
              <a:t>names checked — every single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3D2DE"/>
                </a:solidFill>
                <a:latin typeface="Calibri"/>
              </a:rPr>
              <a:t>one is really in the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2656" y="4389120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00A19A"/>
                </a:solidFill>
                <a:latin typeface="Calibri Light"/>
              </a:rPr>
              <a:t>~33 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3D2DE"/>
                </a:solidFill>
                <a:latin typeface="Calibri"/>
              </a:rPr>
              <a:t>start to finish, one paid AI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3D2DE"/>
                </a:solidFill>
                <a:latin typeface="Calibri"/>
              </a:rPr>
              <a:t>call (about 15 cents)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2656" y="58064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E96A8"/>
                </a:solidFill>
                <a:latin typeface="Calibri"/>
              </a:rPr>
              <a:t>Measured on a scrubbed practice document —
real run, 7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A19A"/>
                </a:solidFill>
                <a:latin typeface="Calibri"/>
              </a:rPr>
              <a:t>PROJECT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589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2433"/>
                </a:solidFill>
                <a:latin typeface="Calibri Light"/>
              </a:rPr>
              <a:t>What we'll cover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5399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C"/>
                </a:solidFill>
                <a:latin typeface="Calibri"/>
              </a:rPr>
              <a:t>About thirty minutes. The live run sits in the middle, and we finish with your questions.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05840" cy="3175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67128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A19A"/>
                </a:solidFill>
                <a:latin typeface="Calibri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57984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Where this agent fits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It's one of five helpers that pass work to each other, one to the next.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62656"/>
            <a:ext cx="4983480" cy="1143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A19A"/>
                </a:solidFill>
                <a:latin typeface="Calibri Ligh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163824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The problem we're solving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Making mapping spreadsheets by hand is slow, uneven, and hard to check later.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4983480" cy="1143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78808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E6ED1"/>
                </a:solidFill>
                <a:latin typeface="Calibri Ligh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169664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How the agent works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Four simple steps — and what the AI does versus what plain code does.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974336"/>
            <a:ext cx="4983480" cy="1143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84648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E6ED1"/>
                </a:solidFill>
                <a:latin typeface="Calibri Ligh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75504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Why you can trust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It shows its work on every value, and it asks a person when it isn't sure.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980176"/>
            <a:ext cx="4983480" cy="1143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167128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D98A1F"/>
                </a:solidFill>
                <a:latin typeface="Calibri Light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157984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Live demo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A document goes in, a spreadsheet comes out — run right here, with an offline backup.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962656"/>
            <a:ext cx="4983480" cy="1143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172968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D98A1F"/>
                </a:solidFill>
                <a:latin typeface="Calibri Light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163824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Proof &amp; value for AmeriHealth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Real measured results, and what they mean for your teams.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3968496"/>
            <a:ext cx="4983480" cy="1143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178808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B7A8C"/>
                </a:solidFill>
                <a:latin typeface="Calibri Light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169664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Status, roadmap &amp; Q&amp;A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What's done, what's next, and your questions.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4974336"/>
            <a:ext cx="4983480" cy="1143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400800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>
                <a:solidFill>
                  <a:srgbClr val="6B7A8C"/>
                </a:solidFill>
                <a:latin typeface="Calibri"/>
              </a:rPr>
              <a:t>FRD → STTM 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400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6B7A8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A19A"/>
                </a:solidFill>
                <a:latin typeface="Calibri"/>
              </a:rPr>
              <a:t>WHERE THIS 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589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2433"/>
                </a:solidFill>
                <a:latin typeface="Calibri Light"/>
              </a:rPr>
              <a:t>The second of five helpers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5399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C"/>
                </a:solidFill>
                <a:latin typeface="Calibri"/>
              </a:rPr>
              <a:t>Each helper hands its finished work to the next one as a file a computer can read — not as an email attachment.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05840" cy="3175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94560"/>
            <a:ext cx="2395728" cy="1389888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414016"/>
            <a:ext cx="19933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A2433"/>
                </a:solidFill>
                <a:latin typeface="Calibri Light"/>
              </a:rPr>
              <a:t>BRD → FRD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Turns business wishes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into a working spec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64408" y="2761488"/>
            <a:ext cx="310896" cy="237744"/>
          </a:xfrm>
          <a:prstGeom prst="rightArrow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66744" y="2194560"/>
            <a:ext cx="2395728" cy="1389888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7912" y="2414016"/>
            <a:ext cx="19933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C8ECE9"/>
                </a:solidFill>
                <a:latin typeface="Calibri"/>
              </a:rPr>
              <a:t>YOU ARE HERE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 Light"/>
              </a:rPr>
              <a:t>FRD → STTM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5EEEC"/>
                </a:solidFill>
                <a:latin typeface="Calibri"/>
              </a:rPr>
              <a:t>Makes the mapping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5EEEC"/>
                </a:solidFill>
                <a:latin typeface="Calibri"/>
              </a:rPr>
              <a:t>spreadsheet + contract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153912" y="2761488"/>
            <a:ext cx="310896" cy="237744"/>
          </a:xfrm>
          <a:prstGeom prst="rightArrow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56248" y="2194560"/>
            <a:ext cx="2395728" cy="1389888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2414016"/>
            <a:ext cx="19933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A2433"/>
                </a:solidFill>
                <a:latin typeface="Calibri Light"/>
              </a:rPr>
              <a:t>CodeGen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Writes the pipeline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code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043416" y="2761488"/>
            <a:ext cx="310896" cy="237744"/>
          </a:xfrm>
          <a:prstGeom prst="rightArrow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45752" y="2194560"/>
            <a:ext cx="2395728" cy="1389888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2414016"/>
            <a:ext cx="199339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A2433"/>
                </a:solidFill>
                <a:latin typeface="Calibri Light"/>
              </a:rPr>
              <a:t>Code Review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Checks the generated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4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A8C"/>
                </a:solidFill>
                <a:latin typeface="Calibri"/>
              </a:rPr>
              <a:t>SQL Optimization runs as a standalone fifth helper alongside this chain.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114800"/>
            <a:ext cx="5090007" cy="2084831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114800"/>
            <a:ext cx="40640" cy="2084831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2" y="4334256"/>
            <a:ext cx="4577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3"/>
                </a:solidFill>
                <a:latin typeface="Calibri"/>
              </a:rPr>
              <a:t>Upstream — already solved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" y="4663440"/>
            <a:ext cx="4577943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This agent and the BRD→FRD agent read the same shared rule file, kept word-for-word identical in both code bases.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Headings, ID formats and placeholders all come from that file — never typed into the code.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If the two copies ever differ, the tests fail the build.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4114800"/>
            <a:ext cx="5090007" cy="2084831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4447" y="4114800"/>
            <a:ext cx="40640" cy="2084831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0479" y="4334256"/>
            <a:ext cx="4577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3"/>
                </a:solidFill>
                <a:latin typeface="Calibri"/>
              </a:rPr>
              <a:t>Downstream — one missing piece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0479" y="4663440"/>
            <a:ext cx="4577943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This agent already makes the file CodeGen reads. That part works today.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But CodeGen also needs a second file made from the spreadsheet — and no tool makes it yet.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Building that tool is the most useful next step. We're saying so up front.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00800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>
                <a:solidFill>
                  <a:srgbClr val="6B7A8C"/>
                </a:solidFill>
                <a:latin typeface="Calibri"/>
              </a:rPr>
              <a:t>FRD → STTM 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0055" y="6400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6B7A8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A19A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589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2433"/>
                </a:solidFill>
                <a:latin typeface="Calibri Light"/>
              </a:rPr>
              <a:t>Making these spreadsheets by hand is the bottleneck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5399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C"/>
                </a:solidFill>
                <a:latin typeface="Calibri"/>
              </a:rPr>
              <a:t>The document is approved and the targets are known — yet someone still types the whole spreadsheet, one cell at a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05840" cy="3175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276856"/>
            <a:ext cx="91440" cy="91440"/>
          </a:xfrm>
          <a:prstGeom prst="ellipse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1945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Slow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C"/>
                </a:solidFill>
                <a:latin typeface="Calibri"/>
              </a:rPr>
              <a:t>A person reads the whole FRD, cross-checks the data dictionary, and types every row of the spreadsheet by hand. It takes days.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64408"/>
            <a:ext cx="91440" cy="91440"/>
          </a:xfrm>
          <a:prstGeom prst="ellipse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8211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Uneven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C"/>
                </a:solidFill>
                <a:latin typeface="Calibri"/>
              </a:rPr>
              <a:t>Two people reading the same document make two different spreadsheets. Names and rules drift between feeds and teams.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251960"/>
            <a:ext cx="91440" cy="91440"/>
          </a:xfrm>
          <a:prstGeom prst="ellipse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6966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Hard to check later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C"/>
                </a:solidFill>
                <a:latin typeface="Calibri"/>
              </a:rPr>
              <a:t>Months later, nobody remembers which sentence in the document a spreadsheet cell came from. Finding out again is digging.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239512"/>
            <a:ext cx="91440" cy="91440"/>
          </a:xfrm>
          <a:prstGeom prst="ellipse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15721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1" i="0">
                <a:solidFill>
                  <a:srgbClr val="1A2433"/>
                </a:solidFill>
                <a:latin typeface="Calibri"/>
              </a:rPr>
              <a:t>It holds everything up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C"/>
                </a:solidFill>
                <a:latin typeface="Calibri"/>
              </a:rPr>
              <a:t>Code, tests and reviews all wait for this spreadsheet. The slowest manual step sets the pace for everything after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2194560"/>
            <a:ext cx="4510735" cy="3950208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03720" y="2194560"/>
            <a:ext cx="4510735" cy="4064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2633472"/>
            <a:ext cx="3779215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 i="0">
                <a:solidFill>
                  <a:srgbClr val="00A19A"/>
                </a:solidFill>
                <a:latin typeface="Calibri"/>
              </a:rPr>
              <a:t>WHAT WE'RE AUTOMATING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600"/>
              </a:spcAft>
            </a:pPr>
            <a:r>
              <a:rPr sz="2100" b="0" i="0">
                <a:solidFill>
                  <a:srgbClr val="FFFFFF"/>
                </a:solidFill>
                <a:latin typeface="Calibri Light"/>
              </a:rPr>
              <a:t>The reading and the
typing — not the
thinking.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0" i="0">
                <a:solidFill>
                  <a:srgbClr val="C3D2DE"/>
                </a:solidFill>
                <a:latin typeface="Calibri"/>
              </a:rPr>
              <a:t>The agent copies out what the document actually says, checks every value back against the text, and fills in the spreadsheet.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When the document isn't clear, it stops and asks a person instead of guessing.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00800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>
                <a:solidFill>
                  <a:srgbClr val="6B7A8C"/>
                </a:solidFill>
                <a:latin typeface="Calibri"/>
              </a:rPr>
              <a:t>FRD → STTM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00055" y="6400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6B7A8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A19A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589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2433"/>
                </a:solidFill>
                <a:latin typeface="Calibri Light"/>
              </a:rPr>
              <a:t>Four steps, one job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5399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C"/>
                </a:solidFill>
                <a:latin typeface="Calibri"/>
              </a:rPr>
              <a:t>Runs on Databricks or on a plain laptop — the exact same code either 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05840" cy="3175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94560"/>
            <a:ext cx="2615184" cy="2615184"/>
          </a:xfrm>
          <a:prstGeom prst="rect">
            <a:avLst/>
          </a:prstGeom>
          <a:solidFill>
            <a:srgbClr val="FFFFFF"/>
          </a:solidFill>
          <a:ln w="11430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2615184" cy="508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450592"/>
            <a:ext cx="21579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A19A"/>
                </a:solidFill>
                <a:latin typeface="Calibri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 i="0">
                <a:solidFill>
                  <a:srgbClr val="1A2433"/>
                </a:solidFill>
                <a:latin typeface="Calibri Light"/>
              </a:rPr>
              <a:t>Ingest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B7A8C"/>
                </a:solidFill>
                <a:latin typeface="Calibri"/>
              </a:rPr>
              <a:t>read the document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" y="3474720"/>
            <a:ext cx="21579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Opens the FRD file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Turns it into plain text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Saves it in a table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33572" y="3383280"/>
            <a:ext cx="228600" cy="237744"/>
          </a:xfrm>
          <a:prstGeom prst="rightArrow">
            <a:avLst/>
          </a:prstGeom>
          <a:solidFill>
            <a:srgbClr val="C2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2194560"/>
            <a:ext cx="2615184" cy="2615184"/>
          </a:xfrm>
          <a:prstGeom prst="rect">
            <a:avLst/>
          </a:prstGeom>
          <a:solidFill>
            <a:srgbClr val="FFFFFF"/>
          </a:solidFill>
          <a:ln w="11430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03320" y="2194560"/>
            <a:ext cx="2615184" cy="50800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41064" y="2450592"/>
            <a:ext cx="21579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6ED1"/>
                </a:solidFill>
                <a:latin typeface="Calibri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 i="0">
                <a:solidFill>
                  <a:srgbClr val="1A2433"/>
                </a:solidFill>
                <a:latin typeface="Calibri Light"/>
              </a:rPr>
              <a:t>Extract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B7A8C"/>
                </a:solidFill>
                <a:latin typeface="Calibri"/>
              </a:rPr>
              <a:t>the one AI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41064" y="3474720"/>
            <a:ext cx="21579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Claude reads the text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Fills in a strict form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If it can't, it stops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    and says so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59652" y="3383280"/>
            <a:ext cx="228600" cy="237744"/>
          </a:xfrm>
          <a:prstGeom prst="rightArrow">
            <a:avLst/>
          </a:prstGeom>
          <a:solidFill>
            <a:srgbClr val="C2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29400" y="2194560"/>
            <a:ext cx="2615184" cy="2615184"/>
          </a:xfrm>
          <a:prstGeom prst="rect">
            <a:avLst/>
          </a:prstGeom>
          <a:solidFill>
            <a:srgbClr val="FFFFFF"/>
          </a:solidFill>
          <a:ln w="11430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29400" y="2194560"/>
            <a:ext cx="2615184" cy="50800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67144" y="2450592"/>
            <a:ext cx="21579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6ED1"/>
                </a:solidFill>
                <a:latin typeface="Calibri"/>
              </a:rPr>
              <a:t>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 i="0">
                <a:solidFill>
                  <a:srgbClr val="1A2433"/>
                </a:solidFill>
                <a:latin typeface="Calibri Light"/>
              </a:rPr>
              <a:t>Contract build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B7A8C"/>
                </a:solidFill>
                <a:latin typeface="Calibri"/>
              </a:rPr>
              <a:t>check everything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7144" y="3474720"/>
            <a:ext cx="21579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Checks the form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    filled in right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Checks each value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    really in the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Sets unclear things aside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285732" y="3383280"/>
            <a:ext cx="228600" cy="237744"/>
          </a:xfrm>
          <a:prstGeom prst="rightArrow">
            <a:avLst/>
          </a:prstGeom>
          <a:solidFill>
            <a:srgbClr val="C2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55480" y="2194560"/>
            <a:ext cx="2615184" cy="2615184"/>
          </a:xfrm>
          <a:prstGeom prst="rect">
            <a:avLst/>
          </a:prstGeom>
          <a:solidFill>
            <a:srgbClr val="FFFFFF"/>
          </a:solidFill>
          <a:ln w="11430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55480" y="2194560"/>
            <a:ext cx="2615184" cy="508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3224" y="2450592"/>
            <a:ext cx="21579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A19A"/>
                </a:solidFill>
                <a:latin typeface="Calibri"/>
              </a:rPr>
              <a:t>04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50" b="1" i="0">
                <a:solidFill>
                  <a:srgbClr val="1A2433"/>
                </a:solidFill>
                <a:latin typeface="Calibri Light"/>
              </a:rPr>
              <a:t>Render + eval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B7A8C"/>
                </a:solidFill>
                <a:latin typeface="Calibri"/>
              </a:rPr>
              <a:t>make the spreadsheet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93224" y="3474720"/>
            <a:ext cx="21579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Double-checks with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    data dictionary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Builds the STTM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    spreadsheet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·  Scores it against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A4A5C"/>
                </a:solidFill>
                <a:latin typeface="Calibri"/>
              </a:rPr>
              <a:t>    answer sheet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10637215" cy="932688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40640" cy="932688"/>
          </a:xfrm>
          <a:prstGeom prst="rect">
            <a:avLst/>
          </a:prstGeom>
          <a:solidFill>
            <a:srgbClr val="1A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" y="5266944"/>
            <a:ext cx="99971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A2433"/>
                </a:solidFill>
                <a:latin typeface="Calibri"/>
              </a:rPr>
              <a:t>Who does what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4A5C"/>
                </a:solidFill>
                <a:latin typeface="Calibri"/>
              </a:rPr>
              <a:t>The AI only reads the document and copies things out. </a:t>
            </a:r>
            <a:r>
              <a:rPr sz="1250" b="1">
                <a:solidFill>
                  <a:srgbClr val="1A2433"/>
                </a:solidFill>
                <a:latin typeface="Calibri"/>
              </a:rPr>
              <a:t>Plain, predictable code does everything else</a:t>
            </a:r>
            <a:r>
              <a:rPr sz="1250" b="0">
                <a:solidFill>
                  <a:srgbClr val="3A4A5C"/>
                </a:solidFill>
                <a:latin typeface="Calibri"/>
              </a:rPr>
              <a:t> — the checking, the deciding, and the building of the spreadsheet. The AI never writes a cell the code can't back 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00800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>
                <a:solidFill>
                  <a:srgbClr val="6B7A8C"/>
                </a:solidFill>
                <a:latin typeface="Calibri"/>
              </a:rPr>
              <a:t>FRD → STTM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0055" y="6400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6B7A8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A19A"/>
                </a:solidFill>
                <a:latin typeface="Calibri"/>
              </a:rPr>
              <a:t>WHY TRUST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589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2433"/>
                </a:solidFill>
                <a:latin typeface="Calibri Light"/>
              </a:rPr>
              <a:t>Why you can trust what it makes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5399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C"/>
                </a:solidFill>
                <a:latin typeface="Calibri"/>
              </a:rPr>
              <a:t>Three simple habits — followed by plain code, on every single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05840" cy="3175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94560"/>
            <a:ext cx="3362858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40640" cy="2944368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414016"/>
            <a:ext cx="29056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A19A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651760"/>
            <a:ext cx="28507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A2433"/>
                </a:solidFill>
                <a:latin typeface="Calibri"/>
              </a:rPr>
              <a:t>It shows its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2980944"/>
            <a:ext cx="2850794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Every important value it writes must appear word-for-word in the source document. Looser text is checked for close match.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On the live run: all 45 strict checks and all 30 softer checks passed.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This rule is never loosened just to make a run pass.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2194560"/>
            <a:ext cx="3362858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2194560"/>
            <a:ext cx="40640" cy="2944368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414016"/>
            <a:ext cx="29056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6ED1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51760"/>
            <a:ext cx="28507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A2433"/>
                </a:solidFill>
                <a:latin typeface="Calibri"/>
              </a:rPr>
              <a:t>When unsure, it 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2980944"/>
            <a:ext cx="2850794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If the document doesn't say which feed a rule belongs to, the agent doesn't pick one — it sets the question aside.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A plain code check against the data dictionary then confirms whatever the data itself can prove.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Whatever it can't prove waits for a person.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1596" y="2194560"/>
            <a:ext cx="3362858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1596" y="2194560"/>
            <a:ext cx="40640" cy="2944368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7628" y="2414016"/>
            <a:ext cx="29056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98A1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2651760"/>
            <a:ext cx="28507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A2433"/>
                </a:solidFill>
                <a:latin typeface="Calibri"/>
              </a:rPr>
              <a:t>A person has the last word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980944"/>
            <a:ext cx="2850794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A small review app lists each open question with its options and the text it came from.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The reviewer picks an answer; that answer is saved and the agent never overrides it.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Your analysts stay in charge.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230368"/>
            <a:ext cx="10637215" cy="96012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24712" y="5413248"/>
            <a:ext cx="99056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A19A"/>
                </a:solidFill>
                <a:latin typeface="Calibri"/>
              </a:rPr>
              <a:t>IN ONE SENTENCE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Every cell in the spreadsheet can be traced back to the sentence it came from — and nothing the agent is unsure about goes out without a person looking first.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00800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>
                <a:solidFill>
                  <a:srgbClr val="6B7A8C"/>
                </a:solidFill>
                <a:latin typeface="Calibri"/>
              </a:rPr>
              <a:t>FRD → STTM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400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6B7A8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17720"/>
            <a:ext cx="12191695" cy="2240280"/>
          </a:xfrm>
          <a:prstGeom prst="rect">
            <a:avLst/>
          </a:prstGeom>
          <a:solidFill>
            <a:srgbClr val="1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8A1F"/>
                </a:solidFill>
                <a:latin typeface="Calibri"/>
              </a:rPr>
              <a:t>SECTION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749807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4800" b="0" i="0">
                <a:solidFill>
                  <a:srgbClr val="FFFFFF"/>
                </a:solidFill>
                <a:latin typeface="Calibri Light"/>
              </a:rPr>
              <a:t>The Agent Demo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C3D2DE"/>
                </a:solidFill>
                <a:latin typeface="Calibri"/>
              </a:rPr>
              <a:t>One FRD document goes in. One STTM spreadsheet comes out.
Live, on this laptop, in about thirty seconds.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5074920"/>
            <a:ext cx="100584" cy="100584"/>
          </a:xfrm>
          <a:prstGeom prst="ellipse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330952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Ingest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FB4C4"/>
                </a:solidFill>
                <a:latin typeface="Calibri"/>
              </a:rPr>
              <a:t>read the document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" y="5116068"/>
            <a:ext cx="2084832" cy="15240"/>
          </a:xfrm>
          <a:prstGeom prst="rect">
            <a:avLst/>
          </a:prstGeom>
          <a:solidFill>
            <a:srgbClr val="3C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64408" y="5074920"/>
            <a:ext cx="100584" cy="100584"/>
          </a:xfrm>
          <a:prstGeom prst="ellipse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4408" y="5330952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Extract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FB4C4"/>
                </a:solidFill>
                <a:latin typeface="Calibri"/>
              </a:rPr>
              <a:t>the one AI 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65576" y="5116068"/>
            <a:ext cx="2084832" cy="15240"/>
          </a:xfrm>
          <a:prstGeom prst="rect">
            <a:avLst/>
          </a:prstGeom>
          <a:solidFill>
            <a:srgbClr val="3C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51576" y="5074920"/>
            <a:ext cx="100584" cy="100584"/>
          </a:xfrm>
          <a:prstGeom prst="ellipse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51576" y="5330952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Contract build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FB4C4"/>
                </a:solidFill>
                <a:latin typeface="Calibri"/>
              </a:rPr>
              <a:t>check everything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52744" y="5116068"/>
            <a:ext cx="2084832" cy="15240"/>
          </a:xfrm>
          <a:prstGeom prst="rect">
            <a:avLst/>
          </a:prstGeom>
          <a:solidFill>
            <a:srgbClr val="3C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38744" y="5074920"/>
            <a:ext cx="100584" cy="100584"/>
          </a:xfrm>
          <a:prstGeom prst="ellipse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5330952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Render + eval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FB4C4"/>
                </a:solidFill>
                <a:latin typeface="Calibri"/>
              </a:rPr>
              <a:t>spreadsheet +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6935" y="2148840"/>
            <a:ext cx="3017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D98A1F"/>
                </a:solidFill>
                <a:latin typeface="Calibri"/>
              </a:rPr>
              <a:t>BACKUP PLAN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3D2DE"/>
                </a:solidFill>
                <a:latin typeface="Calibri"/>
              </a:rPr>
              <a:t>Every demo run is saved. If the internet acts up, we replay a saved run — the same screens, no internet needed at 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A19A"/>
                </a:solidFill>
                <a:latin typeface="Calibri"/>
              </a:rPr>
              <a:t>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589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2433"/>
                </a:solidFill>
                <a:latin typeface="Calibri Light"/>
              </a:rPr>
              <a:t>What to watch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5399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C"/>
                </a:solidFill>
                <a:latin typeface="Calibri"/>
              </a:rPr>
              <a:t>Five moments on the results screen — each one backs up something we've claimed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05840" cy="3175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67128"/>
            <a:ext cx="411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98A1F"/>
                </a:solidFill>
                <a:latin typeface="Calibri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157984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A2433"/>
                </a:solidFill>
                <a:latin typeface="Calibri"/>
              </a:rPr>
              <a:t>What it found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Three data feeds, their file names, target tables and rules. All of it read out of the document — none of it pre-written.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411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98A1F"/>
                </a:solidFill>
                <a:latin typeface="Calibri Ligh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62656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A2433"/>
                </a:solidFill>
                <a:latin typeface="Calibri"/>
              </a:rPr>
              <a:t>The gate strip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"N unclear things found, M proven by the data, K waiting for a person." This is the ask-a-human part, live on screen.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76472"/>
            <a:ext cx="411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98A1F"/>
                </a:solidFill>
                <a:latin typeface="Calibri Ligh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7673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A2433"/>
                </a:solidFill>
                <a:latin typeface="Calibri"/>
              </a:rPr>
              <a:t>The verdict tile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PASS means nothing needs a second look. A warning stays up only when a person really should look at something.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81144"/>
            <a:ext cx="411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98A1F"/>
                </a:solidFill>
                <a:latin typeface="Calibri Light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572000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A2433"/>
                </a:solidFill>
                <a:latin typeface="Calibri"/>
              </a:rPr>
              <a:t>The score vs. the answer sheet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94.1% of cells match a hand-made reference. The rest differ on purpose — we planted those differences to test the scoring.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85816"/>
            <a:ext cx="411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98A1F"/>
                </a:solidFill>
                <a:latin typeface="Calibri Light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376672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A2433"/>
                </a:solidFill>
                <a:latin typeface="Calibri"/>
              </a:rPr>
              <a:t>The spreadsheet itself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C"/>
                </a:solidFill>
                <a:latin typeface="Calibri"/>
              </a:rPr>
              <a:t>We download and open the file — the thing a person would otherwise spend days making.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2157984"/>
            <a:ext cx="4465015" cy="1883664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0" y="2157984"/>
            <a:ext cx="40640" cy="1883664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2377440"/>
            <a:ext cx="39529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3"/>
                </a:solidFill>
                <a:latin typeface="Calibri"/>
              </a:rPr>
              <a:t>It tells you the cost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2706624"/>
            <a:ext cx="3952951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3A4A5C"/>
                </a:solidFill>
                <a:latin typeface="Calibri"/>
              </a:rPr>
              <a:t>Before running, it says exactly what it will spend: one paid AI call, about 15 cents, about 35 seconds.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3A4A5C"/>
                </a:solidFill>
                <a:latin typeface="Calibri"/>
              </a:rPr>
              <a:t>Runs differ in how many questions get auto-answered. The spreadsheet and its 94.1% score haven't varied.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4242816"/>
            <a:ext cx="4465015" cy="1883664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49440" y="4242816"/>
            <a:ext cx="40640" cy="1883664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462272"/>
            <a:ext cx="395295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3"/>
                </a:solidFill>
                <a:latin typeface="Calibri"/>
              </a:rPr>
              <a:t>No real documents — ever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5472" y="4791456"/>
            <a:ext cx="3952951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3A4A5C"/>
                </a:solidFill>
                <a:latin typeface="Calibri"/>
              </a:rPr>
              <a:t>The document on screen is scrubbed of anything real and approved for showing.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3A4A5C"/>
                </a:solidFill>
                <a:latin typeface="Calibri"/>
              </a:rPr>
              <a:t>In real use, documents and results stay inside your own Databricks workspace and never leave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00800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>
                <a:solidFill>
                  <a:srgbClr val="6B7A8C"/>
                </a:solidFill>
                <a:latin typeface="Calibri"/>
              </a:rPr>
              <a:t>FRD → STTM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00055" y="6400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6B7A8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A19A"/>
                </a:solidFill>
                <a:latin typeface="Calibri"/>
              </a:rPr>
              <a:t>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589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2433"/>
                </a:solidFill>
                <a:latin typeface="Calibri Light"/>
              </a:rPr>
              <a:t>Real numbers from a real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5399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C"/>
                </a:solidFill>
                <a:latin typeface="Calibri"/>
              </a:rPr>
              <a:t>One scrubbed practice FRD, through the real pipeline, 7 August 2026. Nothing simulated.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05840" cy="3175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94560"/>
            <a:ext cx="2453563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2453563" cy="4064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2414016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2433"/>
                </a:solidFill>
                <a:latin typeface="Calibri Light"/>
              </a:rPr>
              <a:t>94.1%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980944"/>
            <a:ext cx="208780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A19A"/>
                </a:solidFill>
                <a:latin typeface="Calibri"/>
              </a:rPr>
              <a:t>SPREADSHEET MATCH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7A8C"/>
                </a:solidFill>
                <a:latin typeface="Calibri"/>
              </a:rPr>
              <a:t>3,094 of 3,288 cells match the hand-made answer sheet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5123" y="2194560"/>
            <a:ext cx="2453563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5123" y="2194560"/>
            <a:ext cx="2453563" cy="4064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6291" y="2414016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2433"/>
                </a:solidFill>
                <a:latin typeface="Calibri Light"/>
              </a:rPr>
              <a:t>0 / 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6291" y="2980944"/>
            <a:ext cx="208780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A19A"/>
                </a:solidFill>
                <a:latin typeface="Calibri"/>
              </a:rPr>
              <a:t>NOTHING MADE UP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7A8C"/>
                </a:solidFill>
                <a:latin typeface="Calibri"/>
              </a:rPr>
              <a:t>Every name it wrote really appears in the source document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2194560"/>
            <a:ext cx="2453563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2194560"/>
            <a:ext cx="2453563" cy="40640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4175" y="2414016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2433"/>
                </a:solidFill>
                <a:latin typeface="Calibri Light"/>
              </a:rPr>
              <a:t>45 / 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4175" y="2980944"/>
            <a:ext cx="208780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6ED1"/>
                </a:solidFill>
                <a:latin typeface="Calibri"/>
              </a:rPr>
              <a:t>SHOW-YOUR-WORK CHECKS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7A8C"/>
                </a:solidFill>
                <a:latin typeface="Calibri"/>
              </a:rPr>
              <a:t>Plus all 30 softer checks — passed without one miss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0891" y="2194560"/>
            <a:ext cx="2453563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0891" y="2194560"/>
            <a:ext cx="2453563" cy="40640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059" y="2414016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A2433"/>
                </a:solidFill>
                <a:latin typeface="Calibri Light"/>
              </a:rPr>
              <a:t>~33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059" y="2980944"/>
            <a:ext cx="208780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6ED1"/>
                </a:solidFill>
                <a:latin typeface="Calibri"/>
              </a:rPr>
              <a:t>START TO FINISH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7A8C"/>
                </a:solidFill>
                <a:latin typeface="Calibri"/>
              </a:rPr>
              <a:t>One paid AI call, about 15 cents per document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023360"/>
            <a:ext cx="5090007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023360"/>
            <a:ext cx="40640" cy="2084831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2" y="4242816"/>
            <a:ext cx="4577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3"/>
                </a:solidFill>
                <a:latin typeface="Calibri"/>
              </a:rPr>
              <a:t>What the numbers mean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" y="4572000"/>
            <a:ext cx="4577943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All 194 non-matching cells are differences we planted on purpose, to prove the scoring notices them. It caught exactly those — nothing more.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It missed nothing, and it invented nothing.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An expert reviewing the output would keep about 96% of it exactly as-is. The bar we had to clear was 80%.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4447" y="4023360"/>
            <a:ext cx="5090007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4447" y="4023360"/>
            <a:ext cx="40640" cy="2084831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0479" y="4242816"/>
            <a:ext cx="4577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3"/>
                </a:solidFill>
                <a:latin typeface="Calibri"/>
              </a:rPr>
              <a:t>Built carefully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0479" y="4572000"/>
            <a:ext cx="4577943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77 automatic tests that run with no internet, no AI calls and no cluster.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It has room for a document with roughly 75–90 feeds; this one used just 5% of that room.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When something is wrong it stops and says so, loudly. It never quietly retries its way to a nice-looking answer.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00800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>
                <a:solidFill>
                  <a:srgbClr val="6B7A8C"/>
                </a:solidFill>
                <a:latin typeface="Calibri"/>
              </a:rPr>
              <a:t>FRD → STTM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0055" y="6400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6B7A8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A19A"/>
                </a:solidFill>
                <a:latin typeface="Calibri"/>
              </a:rPr>
              <a:t>THE VALUE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589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2433"/>
                </a:solidFill>
                <a:latin typeface="Calibri Light"/>
              </a:rPr>
              <a:t>Why this matters for AmeriHealth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05840" cy="3175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45920"/>
            <a:ext cx="3362858" cy="2066543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45920"/>
            <a:ext cx="40640" cy="2066543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65376"/>
            <a:ext cx="28507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Days of work become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194560"/>
            <a:ext cx="285079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The spreadsheet is the slowest step between an approved FRD and working code. The agent makes it in about thirty seconds.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Your people go from typing to checking — the part that actually needs their judgement.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4418" y="1645920"/>
            <a:ext cx="3362858" cy="2066543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4418" y="1645920"/>
            <a:ext cx="40640" cy="2066543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0450" y="1865376"/>
            <a:ext cx="28507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Easy to audit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0450" y="2194560"/>
            <a:ext cx="285079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Every value points back to the sentence it came from, and that check runs on every single document.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When an auditor asks "why is this mapped that way?", the answer is already written down.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1596" y="1645920"/>
            <a:ext cx="3362858" cy="2066543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1596" y="1645920"/>
            <a:ext cx="40640" cy="2066543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7628" y="1865376"/>
            <a:ext cx="28507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Same result every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7628" y="2194560"/>
            <a:ext cx="285079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Two people make two different spreadsheets. The agent makes the same one every time, from the same rules.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Names and rules stop drifting between teams — which is what lets the later steps be automated too.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858768"/>
            <a:ext cx="3362858" cy="2066543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858768"/>
            <a:ext cx="40640" cy="2066543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2" y="4078224"/>
            <a:ext cx="28507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Your data stays with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407408"/>
            <a:ext cx="285079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Built for Databricks: documents and results live in your own Unity Catalog storage, and keys live in a locked secret store.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Keeping patient data safe is a design rule here — this demo only ever uses scrubbed documents.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4418" y="3858768"/>
            <a:ext cx="3362858" cy="2066543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14418" y="3858768"/>
            <a:ext cx="40640" cy="2066543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70450" y="4078224"/>
            <a:ext cx="28507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People stay in charge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0450" y="4407408"/>
            <a:ext cx="285079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The agent never guesses. Unclear things are set aside, proven ones are confirmed by the data, and the rest goes to a reviewer.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Adopting it means checking a short list of questions — not trusting a black box.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51596" y="3858768"/>
            <a:ext cx="3362858" cy="2066543"/>
          </a:xfrm>
          <a:prstGeom prst="rect">
            <a:avLst/>
          </a:prstGeom>
          <a:solidFill>
            <a:srgbClr val="F4F7F9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1596" y="3858768"/>
            <a:ext cx="40640" cy="2066543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7628" y="4078224"/>
            <a:ext cx="28507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It pays off down the 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7628" y="4407408"/>
            <a:ext cx="285079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What this agent produces is exactly what CodeGen consumes, which then feeds Code Review.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0" i="0">
                <a:solidFill>
                  <a:srgbClr val="3A4A5C"/>
                </a:solidFill>
                <a:latin typeface="Calibri"/>
              </a:rPr>
              <a:t>Every document processed here speeds up the whole chain, from requirement to running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00800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>
                <a:solidFill>
                  <a:srgbClr val="6B7A8C"/>
                </a:solidFill>
                <a:latin typeface="Calibri"/>
              </a:rPr>
              <a:t>FRD → STTM Agent   ·   Value for AmeriHealth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00055" y="6400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6B7A8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A19A"/>
                </a:solidFill>
                <a:latin typeface="Calibri"/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589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2433"/>
                </a:solidFill>
                <a:latin typeface="Calibri Light"/>
              </a:rPr>
              <a:t>Built for your Databricks workspace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5399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C"/>
                </a:solidFill>
                <a:latin typeface="Calibri"/>
              </a:rPr>
              <a:t>Shown on a laptop today; the workspace version is already written into the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05840" cy="3175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57984"/>
            <a:ext cx="5067147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57984"/>
            <a:ext cx="40640" cy="310896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377440"/>
            <a:ext cx="45550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3"/>
                </a:solidFill>
                <a:latin typeface="Calibri"/>
              </a:rPr>
              <a:t>Ready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706624"/>
            <a:ext cx="4555083" cy="2386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20" b="0" i="0">
                <a:solidFill>
                  <a:srgbClr val="3A4A5C"/>
                </a:solidFill>
                <a:latin typeface="Calibri"/>
              </a:rPr>
              <a:t>One Databricks job runs all four steps in order, on serverless compute — no machines for you to manage.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20" b="0" i="0">
                <a:solidFill>
                  <a:srgbClr val="3A4A5C"/>
                </a:solidFill>
                <a:latin typeface="Calibri"/>
              </a:rPr>
              <a:t>Documents and results live in Unity Catalog storage and never leave your workspace.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20" b="0" i="0">
                <a:solidFill>
                  <a:srgbClr val="3A4A5C"/>
                </a:solidFill>
                <a:latin typeface="Calibri"/>
              </a:rPr>
              <a:t>The AI key sits in Databricks' locked secret store; there is no key anywhere in the code.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20" b="0" i="0">
                <a:solidFill>
                  <a:srgbClr val="3A4A5C"/>
                </a:solidFill>
                <a:latin typeface="Calibri"/>
              </a:rPr>
              <a:t>The review app is packaged the official Databricks way.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20" b="0" i="0">
                <a:solidFill>
                  <a:srgbClr val="3A4A5C"/>
                </a:solidFill>
                <a:latin typeface="Calibri"/>
              </a:rPr>
              <a:t>If a step fails, the job stops and says so — it never quietly retries past a real problem.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157984"/>
            <a:ext cx="5067147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7307" y="2157984"/>
            <a:ext cx="40640" cy="3108960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3339" y="2377440"/>
            <a:ext cx="45550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3"/>
                </a:solidFill>
                <a:latin typeface="Calibri"/>
              </a:rPr>
              <a:t>Still to do — three plumbing items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339" y="2706624"/>
            <a:ext cx="4555083" cy="2386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20" b="0" i="0">
                <a:solidFill>
                  <a:srgbClr val="3A4A5C"/>
                </a:solidFill>
                <a:latin typeface="Calibri"/>
              </a:rPr>
              <a:t>Today the demo runs the steps on the laptop; the workspace version will press the Databricks job button instead.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20" b="0" i="0">
                <a:solidFill>
                  <a:srgbClr val="3A4A5C"/>
                </a:solidFill>
                <a:latin typeface="Calibri"/>
              </a:rPr>
              <a:t>The app's AI key must come from Databricks' secret store rather than a local file.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20" b="0" i="0">
                <a:solidFill>
                  <a:srgbClr val="3A4A5C"/>
                </a:solidFill>
                <a:latin typeface="Calibri"/>
              </a:rPr>
              <a:t>Live progress updates through Databricks' front door should work, but haven't been tried against a real workspace yet.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900"/>
              </a:spcAft>
            </a:pPr>
            <a:r>
              <a:rPr sz="1220" b="0" i="0">
                <a:solidFill>
                  <a:srgbClr val="3A4A5C"/>
                </a:solidFill>
                <a:latin typeface="Calibri"/>
              </a:rPr>
              <a:t>None of this changes how the agent reads, checks or builds — it's plumbing between the same parts.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504688"/>
            <a:ext cx="10637215" cy="768096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4712" y="5724144"/>
            <a:ext cx="9905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A19A"/>
                </a:solidFill>
                <a:latin typeface="Calibri"/>
              </a:rPr>
              <a:t>The framing: </a:t>
            </a:r>
            <a:r>
              <a:rPr sz="1350" b="0">
                <a:solidFill>
                  <a:srgbClr val="FFFFFF"/>
                </a:solidFill>
                <a:latin typeface="Calibri"/>
              </a:rPr>
              <a:t>built for the workspace, shown on a laptop. What you watched running is the exact same code the workspace would run.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00800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>
                <a:solidFill>
                  <a:srgbClr val="6B7A8C"/>
                </a:solidFill>
                <a:latin typeface="Calibri"/>
              </a:rPr>
              <a:t>FRD → STTM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00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6B7A8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372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A19A"/>
                </a:solidFill>
                <a:latin typeface="Calibri"/>
              </a:rPr>
              <a:t>STATUS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589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1A2433"/>
                </a:solidFill>
                <a:latin typeface="Calibri Light"/>
              </a:rPr>
              <a:t>Where we are, and 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95399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8C"/>
                </a:solidFill>
                <a:latin typeface="Calibri"/>
              </a:rPr>
              <a:t>The honest picture: the agent and its checks are proven; the wiring around them is the remaining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1005840" cy="31750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10637215" cy="566928"/>
          </a:xfrm>
          <a:prstGeom prst="rect">
            <a:avLst/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23113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Reading quality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87368" y="222199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PROVEN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40280"/>
            <a:ext cx="5882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Real run: 94.1% match, nothing made up, and about 96% of the output keepable exactly as-is.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281635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Checks &amp; asking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87368" y="28072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PROVEN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825496"/>
            <a:ext cx="5882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All 45 strict + 30 softer checks passed, and the ask-a-person flow works end to end.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273552"/>
            <a:ext cx="10637215" cy="566928"/>
          </a:xfrm>
          <a:prstGeom prst="rect">
            <a:avLst/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340156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Hand-off from upstream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87368" y="339242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PROVEN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410712"/>
            <a:ext cx="5882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Both agents read one shared rule file, kept word-for-word identical by tests.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" y="398678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Databricks wiring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87368" y="397764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995928"/>
            <a:ext cx="5882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Press the workspace job button from the app, move the key, and test live progress updates.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443984"/>
            <a:ext cx="10637215" cy="566928"/>
          </a:xfrm>
          <a:prstGeom prst="rect">
            <a:avLst/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7200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The file for CodeGen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87368" y="4562856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581144"/>
            <a:ext cx="5882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Build the tool that makes the extra file CodeGen needs — the program's biggest missing piece.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15721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3"/>
                </a:solidFill>
                <a:latin typeface="Calibri"/>
              </a:rPr>
              <a:t>Bigger documents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87368" y="514807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5166360"/>
            <a:ext cx="5882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3A4A5C"/>
                </a:solidFill>
                <a:latin typeface="Calibri"/>
              </a:rPr>
              <a:t>Try a real, larger FRD to confirm the roughly 75–90 feed headroom holds up.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852160"/>
            <a:ext cx="10637215" cy="676656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852160"/>
            <a:ext cx="40640" cy="676656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24712" y="6053328"/>
            <a:ext cx="99056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A19A"/>
                </a:solidFill>
                <a:latin typeface="Calibri"/>
              </a:rPr>
              <a:t>Our ask: </a:t>
            </a:r>
            <a:r>
              <a:rPr sz="1350" b="0">
                <a:solidFill>
                  <a:srgbClr val="FFFFFF"/>
                </a:solidFill>
                <a:latin typeface="Calibri"/>
              </a:rPr>
              <a:t>one real (non-sensitive) FRD to test at full size, and a workspace to install into.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00800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50">
                <a:solidFill>
                  <a:srgbClr val="6B7A8C"/>
                </a:solidFill>
                <a:latin typeface="Calibri"/>
              </a:rPr>
              <a:t>FRD → STTM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0055" y="6400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6B7A8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19695" y="0"/>
            <a:ext cx="4572000" cy="6858000"/>
          </a:xfrm>
          <a:prstGeom prst="rect">
            <a:avLst/>
          </a:prstGeom>
          <a:solidFill>
            <a:srgbClr val="1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19695" y="0"/>
            <a:ext cx="25400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A19A"/>
                </a:solidFill>
                <a:latin typeface="Calibri"/>
              </a:rPr>
              <a:t>SECTION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6400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5000" b="0" i="0">
                <a:solidFill>
                  <a:srgbClr val="FFFFFF"/>
                </a:solidFill>
                <a:latin typeface="Calibri Light"/>
              </a:rPr>
              <a:t>Questions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3D2DE"/>
                </a:solidFill>
                <a:latin typeface="Calibri"/>
              </a:rPr>
              <a:t>Happy to run the demo again, open the spreadsheet, or walk through any part in as much detail as you like.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80560"/>
            <a:ext cx="1188720" cy="3175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006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Soham  ·  Arjun   |   Hexaware — AI in Engineering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4C4"/>
                </a:solidFill>
                <a:latin typeface="Calibri"/>
              </a:rPr>
              <a:t>FRD → STTM Agent   ·   Agent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6895" y="1783080"/>
            <a:ext cx="329184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050" b="1" i="0">
                <a:solidFill>
                  <a:srgbClr val="00A19A"/>
                </a:solidFill>
                <a:latin typeface="Calibri"/>
              </a:rPr>
              <a:t>LIKELY QUESTIONS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C3D2DE"/>
                </a:solidFill>
                <a:latin typeface="Calibri"/>
              </a:rPr>
              <a:t>—  What about much bigger documents?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C3D2DE"/>
                </a:solidFill>
                <a:latin typeface="Calibri"/>
              </a:rPr>
              <a:t>—  What happens when the document is unclear?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C3D2DE"/>
                </a:solidFill>
                <a:latin typeface="Calibri"/>
              </a:rPr>
              <a:t>—  How do we know it didn't make something up?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C3D2DE"/>
                </a:solidFill>
                <a:latin typeface="Calibri"/>
              </a:rPr>
              <a:t>—  How much checking is left for a person to do?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C3D2DE"/>
                </a:solidFill>
                <a:latin typeface="Calibri"/>
              </a:rPr>
              <a:t>—  How does it get into our workspace — and who holds the keys?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C3D2DE"/>
                </a:solidFill>
                <a:latin typeface="Calibri"/>
              </a:rPr>
              <a:t>—  How big is the missing CodeGen piece?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