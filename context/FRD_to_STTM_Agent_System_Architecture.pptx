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210311" y="27432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4320" y="210311"/>
            <a:ext cx="0" cy="128017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53367" y="274320"/>
            <a:ext cx="128016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17375" y="210311"/>
            <a:ext cx="0" cy="128017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0311" y="658368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53367" y="6583680"/>
            <a:ext cx="128016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917375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5F6B7C"/>
                </a:solidFill>
                <a:latin typeface="Calibri"/>
              </a:rPr>
              <a:t>HEXAWARE  ·  AMERIHEALTH CARITAS  ·  AGENT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FRD → STTM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solution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371600"/>
            <a:ext cx="11094415" cy="102412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148132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5642A6"/>
                </a:solidFill>
                <a:latin typeface="Calibri"/>
              </a:rPr>
              <a:t>SYSTEM OF RECORD</a:t>
            </a:r>
          </a:p>
        </p:txBody>
      </p:sp>
      <p:pic>
        <p:nvPicPr>
          <p:cNvPr id="15" name="Picture 14" descr="share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43075"/>
            <a:ext cx="548640" cy="5372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63040" y="17190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C2127"/>
                </a:solidFill>
                <a:latin typeface="Calibri"/>
              </a:rPr>
              <a:t>Microsoft 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011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F343C"/>
                </a:solidFill>
                <a:latin typeface="Calibri"/>
              </a:rPr>
              <a:t>The client's document library — the only place anything is authored or approved.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79" y="1673352"/>
            <a:ext cx="2331720" cy="56692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w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7" y="1795145"/>
            <a:ext cx="347472" cy="32334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532119" y="1746504"/>
            <a:ext cx="16916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FRD_&lt;name&gt;.docx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19" y="1965960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input — approved requirements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673352"/>
            <a:ext cx="2331720" cy="566928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exc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7" y="1795145"/>
            <a:ext cx="347472" cy="32334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46719" y="1746504"/>
            <a:ext cx="16916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STTM_&lt;name&gt;.xlsx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1965960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input — becomes a template</a:t>
            </a:r>
          </a:p>
        </p:txBody>
      </p:sp>
      <p:pic>
        <p:nvPicPr>
          <p:cNvPr id="26" name="Picture 25" descr="ent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19" y="1761966"/>
            <a:ext cx="457200" cy="40798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52760" y="169164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C2127"/>
                </a:solidFill>
                <a:latin typeface="Calibri"/>
              </a:rPr>
              <a:t>Entra ID app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Microsoft Graph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Sites.Selected · read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89120" y="2395728"/>
            <a:ext cx="0" cy="393192"/>
          </a:xfrm>
          <a:prstGeom prst="line">
            <a:avLst/>
          </a:prstGeom>
          <a:ln w="19050">
            <a:solidFill>
              <a:srgbClr val="2F34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17136" y="2491740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2F343C"/>
                </a:solidFill>
                <a:latin typeface="Calibri"/>
              </a:rPr>
              <a:t>00  sync on app start-up — imports every FRD_* / STTM_* not yet in Unity Catalog · never writes 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788920"/>
            <a:ext cx="11094415" cy="239572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9525">
            <a:solidFill>
              <a:srgbClr val="D3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28986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007067"/>
                </a:solidFill>
                <a:latin typeface="Calibri"/>
              </a:rPr>
              <a:t>DATA PLATFORM</a:t>
            </a:r>
          </a:p>
        </p:txBody>
      </p:sp>
      <p:pic>
        <p:nvPicPr>
          <p:cNvPr id="32" name="Picture 31" descr="databrick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020" y="3063239"/>
            <a:ext cx="784039" cy="4389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40280" y="3118103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Databricks</a:t>
            </a:r>
            <a:r>
              <a:rPr sz="1000" b="0">
                <a:solidFill>
                  <a:srgbClr val="2F343C"/>
                </a:solidFill>
                <a:latin typeface="Calibri"/>
              </a:rPr>
              <a:t>   — Jobs run the pipeline, Apps serve the reviewer, Unity Catalog holds every file and table.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566160"/>
            <a:ext cx="3063240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unitycatalo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890" y="3712463"/>
            <a:ext cx="1229763" cy="4206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41832" y="4224528"/>
            <a:ext cx="273405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Volumes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 FRDs, approved STTMs, the corpus index, every run's artifacts</a:t>
            </a:r>
          </a:p>
          <a:p>
            <a:pPr algn="l">
              <a:lnSpc>
                <a:spcPct val="106000"/>
              </a:lnSpc>
            </a:pPr>
            <a:r>
              <a:rPr sz="850" b="1">
                <a:solidFill>
                  <a:srgbClr val="007067"/>
                </a:solidFill>
                <a:latin typeface="Consolas"/>
              </a:rPr>
              <a:t>frd_raw · sttm_reference · sttm_out</a:t>
            </a:r>
          </a:p>
          <a:p>
            <a:pPr algn="l">
              <a:lnSpc>
                <a:spcPct val="106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Delta tables</a:t>
            </a:r>
            <a:r>
              <a:rPr sz="950" b="0">
                <a:solidFill>
                  <a:srgbClr val="2F343C"/>
                </a:solidFill>
                <a:latin typeface="Calibri"/>
              </a:rPr>
              <a:t>  —  run history and contracts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23360" y="3566160"/>
            <a:ext cx="4892040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187952" y="3675887"/>
            <a:ext cx="45628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Generation job</a:t>
            </a:r>
            <a:r>
              <a:rPr sz="950" b="0">
                <a:solidFill>
                  <a:srgbClr val="2F343C"/>
                </a:solidFill>
                <a:latin typeface="Calibri"/>
              </a:rPr>
              <a:t>   Databricks Jobs · serverless · stages 01–04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87952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279392" y="4069080"/>
            <a:ext cx="88925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9392" y="4233672"/>
            <a:ext cx="88925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Ingest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9392" y="4434840"/>
            <a:ext cx="88925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docx → markdown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269229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351526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42966" y="4069080"/>
            <a:ext cx="88925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04D2C"/>
                </a:solidFill>
                <a:latin typeface="Consolas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2966" y="4233672"/>
            <a:ext cx="88925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04D2C"/>
                </a:solidFill>
                <a:latin typeface="Calibri"/>
              </a:rPr>
              <a:t>Extract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2966" y="4434840"/>
            <a:ext cx="88925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04D2C"/>
                </a:solidFill>
                <a:latin typeface="Calibri"/>
              </a:rPr>
              <a:t>the one model call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32804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515100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606540" y="4069080"/>
            <a:ext cx="88925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6540" y="4233672"/>
            <a:ext cx="88925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Audit · 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06540" y="4434840"/>
            <a:ext cx="88925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verbatim grounding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596377" y="4334256"/>
            <a:ext cx="73152" cy="0"/>
          </a:xfrm>
          <a:prstGeom prst="line">
            <a:avLst/>
          </a:prstGeom>
          <a:ln w="952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678674" y="4005072"/>
            <a:ext cx="1072134" cy="64008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770114" y="4069080"/>
            <a:ext cx="88925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07067"/>
                </a:solidFill>
                <a:latin typeface="Consolas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0114" y="4233672"/>
            <a:ext cx="88925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C2127"/>
                </a:solidFill>
                <a:latin typeface="Calibri"/>
              </a:rPr>
              <a:t>Render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0114" y="4434840"/>
            <a:ext cx="88925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2F343C"/>
                </a:solidFill>
                <a:latin typeface="Calibri"/>
              </a:rPr>
              <a:t>STTM + contract</a:t>
            </a:r>
          </a:p>
        </p:txBody>
      </p:sp>
      <p:pic>
        <p:nvPicPr>
          <p:cNvPr id="58" name="Picture 57" descr="clau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7952" y="4755451"/>
            <a:ext cx="914400" cy="2000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138928" y="4736592"/>
            <a:ext cx="36118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2F343C"/>
                </a:solidFill>
                <a:latin typeface="Calibri"/>
              </a:rPr>
              <a:t>Anthropic API — one call per document, in stage 02; everything else is deterministic code.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98280" y="3566160"/>
            <a:ext cx="2316175" cy="1463040"/>
          </a:xfrm>
          <a:prstGeom prst="roundRect">
            <a:avLst>
              <a:gd name="adj" fmla="val 4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262872" y="3675887"/>
            <a:ext cx="1986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2127"/>
                </a:solidFill>
                <a:latin typeface="Calibri"/>
              </a:rPr>
              <a:t>Review app</a:t>
            </a:r>
            <a:r>
              <a:rPr sz="950" b="0">
                <a:solidFill>
                  <a:srgbClr val="2F343C"/>
                </a:solidFill>
                <a:latin typeface="Calibri"/>
              </a:rPr>
              <a:t>   Databricks Apps</a:t>
            </a:r>
          </a:p>
        </p:txBody>
      </p:sp>
      <p:pic>
        <p:nvPicPr>
          <p:cNvPr id="62" name="Picture 61" descr="fasta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2872" y="4027543"/>
            <a:ext cx="777240" cy="147081"/>
          </a:xfrm>
          <a:prstGeom prst="rect">
            <a:avLst/>
          </a:prstGeom>
        </p:spPr>
      </p:pic>
      <p:pic>
        <p:nvPicPr>
          <p:cNvPr id="63" name="Picture 62" descr="reac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22408" y="3982275"/>
            <a:ext cx="256032" cy="228473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262872" y="4297680"/>
            <a:ext cx="198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On start-up: syncs SharePoint → Unity Catalog. Then pick an FRD · run (confirm-gated) · answer what the agent could not settle · re-render · download.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389120" y="5184648"/>
            <a:ext cx="0" cy="356616"/>
          </a:xfrm>
          <a:prstGeom prst="line">
            <a:avLst/>
          </a:prstGeom>
          <a:ln w="19050">
            <a:solidFill>
              <a:srgbClr val="2F343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517136" y="5262372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2F343C"/>
                </a:solidFill>
                <a:latin typeface="Calibri"/>
              </a:rPr>
              <a:t>draft STTM  .xlsx  +  feed contract  .json   →   to a person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5541264"/>
            <a:ext cx="5212080" cy="84124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77240" y="5632703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866103"/>
                </a:solidFill>
                <a:latin typeface="Calibri"/>
              </a:rPr>
              <a:t>HUMAN REVIEW</a:t>
            </a:r>
          </a:p>
        </p:txBody>
      </p:sp>
      <p:pic>
        <p:nvPicPr>
          <p:cNvPr id="69" name="Picture 68" descr="us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" y="5907024"/>
            <a:ext cx="384048" cy="38404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325880" y="5870448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43C"/>
                </a:solidFill>
                <a:latin typeface="Calibri"/>
              </a:rPr>
              <a:t>The reviewer approves the STTM (edits in Excel if needed) and uploads it to SharePoint themselves. The next start-up sync pairs it — it becomes a template.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89320" y="5541264"/>
            <a:ext cx="5653735" cy="841248"/>
          </a:xfrm>
          <a:prstGeom prst="roundRect">
            <a:avLst>
              <a:gd name="adj" fmla="val 2500"/>
            </a:avLst>
          </a:prstGeom>
          <a:solidFill>
            <a:srgbClr val="F6F7F9"/>
          </a:solidFill>
          <a:ln w="12700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217920" y="5632703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5642A6"/>
                </a:solidFill>
                <a:latin typeface="Calibri"/>
              </a:rPr>
              <a:t>OUTPUTS · DOWNSTREAM</a:t>
            </a:r>
          </a:p>
        </p:txBody>
      </p:sp>
      <p:pic>
        <p:nvPicPr>
          <p:cNvPr id="73" name="Picture 72" descr="exc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5937376"/>
            <a:ext cx="347472" cy="32334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647688" y="58795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STTM workbook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.xlsx · client dialect</a:t>
            </a:r>
          </a:p>
        </p:txBody>
      </p:sp>
      <p:pic>
        <p:nvPicPr>
          <p:cNvPr id="75" name="Picture 74" descr="js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5925312"/>
            <a:ext cx="329184" cy="329184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458200" y="587959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C2127"/>
                </a:solidFill>
                <a:latin typeface="Calibri"/>
              </a:rPr>
              <a:t>Feed contract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2F343C"/>
                </a:solidFill>
                <a:latin typeface="Calibri"/>
              </a:rPr>
              <a:t>contract.json · machine-readable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058400" y="6089903"/>
            <a:ext cx="228600" cy="0"/>
          </a:xfrm>
          <a:prstGeom prst="line">
            <a:avLst/>
          </a:prstGeom>
          <a:ln w="15875">
            <a:solidFill>
              <a:srgbClr val="7961D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378440" y="5879592"/>
            <a:ext cx="117317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5642A6"/>
                </a:solidFill>
                <a:latin typeface="Calibri"/>
              </a:rPr>
              <a:t>CodeGen agent</a:t>
            </a:r>
          </a:p>
          <a:p>
            <a:pPr algn="l">
              <a:lnSpc>
                <a:spcPct val="100000"/>
              </a:lnSpc>
            </a:pPr>
            <a:r>
              <a:rPr sz="950" b="1">
                <a:solidFill>
                  <a:srgbClr val="5642A6"/>
                </a:solidFill>
                <a:latin typeface="Calibri"/>
              </a:rPr>
              <a:t>Code Review agent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1371600" y="5376672"/>
            <a:ext cx="0" cy="164592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347472" y="5376672"/>
            <a:ext cx="1024128" cy="0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47472" y="1883664"/>
            <a:ext cx="0" cy="3493008"/>
          </a:xfrm>
          <a:prstGeom prst="line">
            <a:avLst/>
          </a:prstGeom>
          <a:ln w="15875">
            <a:solidFill>
              <a:srgbClr val="D198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47472" y="1883664"/>
            <a:ext cx="182880" cy="0"/>
          </a:xfrm>
          <a:prstGeom prst="line">
            <a:avLst/>
          </a:prstGeom>
          <a:ln w="15875">
            <a:solidFill>
              <a:srgbClr val="D1980B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 rot="16200000">
            <a:off x="-877824" y="3602735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866103"/>
                </a:solidFill>
                <a:latin typeface="Calibri"/>
              </a:rPr>
              <a:t>approved STTM goes back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651052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A04D2C"/>
                </a:solidFill>
                <a:latin typeface="Calibri"/>
              </a:rPr>
              <a:t>the model proposes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007067"/>
                </a:solidFill>
                <a:latin typeface="Calibri"/>
              </a:rPr>
              <a:t>deterministic code audits and decides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  ·     </a:t>
            </a:r>
            <a:r>
              <a:rPr sz="1100" b="1">
                <a:solidFill>
                  <a:srgbClr val="866103"/>
                </a:solidFill>
                <a:latin typeface="Calibri"/>
              </a:rPr>
              <a:t>a person resolves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