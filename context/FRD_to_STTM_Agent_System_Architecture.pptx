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210311" y="27432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4320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53367" y="27432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917375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0311" y="658368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53367" y="658368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917375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F6B7C"/>
                </a:solidFill>
                <a:latin typeface="Calibri"/>
              </a:rPr>
              <a:t>HEXAWARE  ·  AMERIHEALTH CARITAS  ·  AI-IN-ENGINEERING  ·  AGENT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836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11418"/>
                </a:solidFill>
                <a:latin typeface="Calibri"/>
              </a:rPr>
              <a:t>FRD → STTM Agent</a:t>
            </a:r>
            <a:r>
              <a:rPr sz="1600" b="0">
                <a:solidFill>
                  <a:srgbClr val="5F6B7C"/>
                </a:solidFill>
                <a:latin typeface="Calibri"/>
              </a:rPr>
              <a:t>   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1704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F343C"/>
                </a:solidFill>
                <a:latin typeface="Calibri"/>
              </a:rPr>
              <a:t>An approved requirements document becomes an audited source-to-target mapping — every fact checked against the source text, every ambiguity routed to a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536192"/>
            <a:ext cx="3589934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796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1600200"/>
            <a:ext cx="358993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00">
                <a:solidFill>
                  <a:srgbClr val="5642A6"/>
                </a:solidFill>
                <a:latin typeface="Calibri"/>
              </a:rPr>
              <a:t>PULLS FROM SHAREPOINT · NEVER WRITES 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48302" y="1536192"/>
            <a:ext cx="233172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48302" y="1600200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00">
                <a:solidFill>
                  <a:srgbClr val="A04D2C"/>
                </a:solidFill>
                <a:latin typeface="Calibri"/>
              </a:rPr>
              <a:t>1 MODEL CALL PER DOCUMENT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89750" y="1536192"/>
            <a:ext cx="233172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A3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89750" y="1600200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00">
                <a:solidFill>
                  <a:srgbClr val="007067"/>
                </a:solidFill>
                <a:latin typeface="Calibri"/>
              </a:rPr>
              <a:t>VERDICTS COMPUTED IN 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011680"/>
            <a:ext cx="1874519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" y="2235708"/>
            <a:ext cx="100584" cy="100584"/>
          </a:xfrm>
          <a:prstGeom prst="ellipse">
            <a:avLst/>
          </a:prstGeom>
          <a:solidFill>
            <a:srgbClr val="796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20">
                <a:solidFill>
                  <a:srgbClr val="5642A6"/>
                </a:solidFill>
                <a:latin typeface="Consolas"/>
              </a:rPr>
              <a:t>SRC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243230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SharePoint</a:t>
            </a:r>
          </a:p>
        </p:txBody>
      </p:sp>
      <p:pic>
        <p:nvPicPr>
          <p:cNvPr id="24" name="Picture 23" descr="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72" y="2157984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8096" y="2816352"/>
            <a:ext cx="14538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2F343C"/>
                </a:solidFill>
                <a:latin typeface="Calibri"/>
              </a:rPr>
              <a:t>System of record. The sync pulls FRDs and STTMs into Databricks and never writes back.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49624"/>
            <a:ext cx="1581911" cy="804672"/>
          </a:xfrm>
          <a:prstGeom prst="roundRect">
            <a:avLst>
              <a:gd name="adj" fmla="val 3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rd_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140" y="3867912"/>
            <a:ext cx="1493519" cy="768095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697480" y="2011680"/>
            <a:ext cx="1783080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884932" y="2235708"/>
            <a:ext cx="100584" cy="100584"/>
          </a:xfrm>
          <a:prstGeom prst="ellipse">
            <a:avLst/>
          </a:prstGeom>
          <a:solidFill>
            <a:srgbClr val="00A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9981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20">
                <a:solidFill>
                  <a:srgbClr val="007067"/>
                </a:solidFill>
                <a:latin typeface="Consolas"/>
              </a:rPr>
              <a:t>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6936" y="243230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Scheduled sync</a:t>
            </a:r>
          </a:p>
        </p:txBody>
      </p:sp>
      <p:pic>
        <p:nvPicPr>
          <p:cNvPr id="32" name="Picture 31" descr="refre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5072" y="215798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16936" y="2816352"/>
            <a:ext cx="13624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2F343C"/>
                </a:solidFill>
                <a:latin typeface="Calibri"/>
              </a:rPr>
              <a:t>Every 15 minutes, incremental. Pairs each FRD with its STTM and indexes the corpus in Unity Catalog. Zero model calls.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2011680"/>
            <a:ext cx="2560320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4942332" y="2235708"/>
            <a:ext cx="100584" cy="100584"/>
          </a:xfrm>
          <a:prstGeom prst="ellipse">
            <a:avLst/>
          </a:prstGeom>
          <a:solidFill>
            <a:srgbClr val="00A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5721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20">
                <a:solidFill>
                  <a:srgbClr val="007067"/>
                </a:solidFill>
                <a:latin typeface="Consolas"/>
              </a:rPr>
              <a:t>01–04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74336" y="2432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Generation job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74336" y="2816352"/>
            <a:ext cx="213969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2F343C"/>
                </a:solidFill>
                <a:latin typeface="Calibri"/>
              </a:rPr>
              <a:t>Four stages on Databricks. Extract is the single Claude call; parsing, grounding audit, gate and render are code.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89520" y="2011680"/>
            <a:ext cx="1691640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776972" y="2235708"/>
            <a:ext cx="100584" cy="100584"/>
          </a:xfrm>
          <a:prstGeom prst="ellipse">
            <a:avLst/>
          </a:prstGeom>
          <a:solidFill>
            <a:srgbClr val="D198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9185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20">
                <a:solidFill>
                  <a:srgbClr val="866103"/>
                </a:solidFill>
                <a:latin typeface="Consolas"/>
              </a:rPr>
              <a:t>HITL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08976" y="2432304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Review app</a:t>
            </a:r>
          </a:p>
        </p:txBody>
      </p:sp>
      <p:pic>
        <p:nvPicPr>
          <p:cNvPr id="43" name="Picture 42" descr="u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5672" y="2157984"/>
            <a:ext cx="274320" cy="2743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808976" y="2816352"/>
            <a:ext cx="127101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2F343C"/>
                </a:solidFill>
                <a:latin typeface="Calibri"/>
              </a:rPr>
              <a:t>Pick an FRD, run, answer what the agent could not settle, re-render — then upload the approved STTM yourself.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55480" y="2011680"/>
            <a:ext cx="2084831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9742932" y="2235708"/>
            <a:ext cx="100584" cy="100584"/>
          </a:xfrm>
          <a:prstGeom prst="ellipse">
            <a:avLst/>
          </a:prstGeom>
          <a:solidFill>
            <a:srgbClr val="796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57815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20">
                <a:solidFill>
                  <a:srgbClr val="5642A6"/>
                </a:solidFill>
                <a:latin typeface="Consolas"/>
              </a:rPr>
              <a:t>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74936" y="2432304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Outputs</a:t>
            </a:r>
          </a:p>
        </p:txBody>
      </p:sp>
      <p:pic>
        <p:nvPicPr>
          <p:cNvPr id="49" name="Picture 48" descr="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4824" y="2157984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774936" y="2816352"/>
            <a:ext cx="16642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2F343C"/>
                </a:solidFill>
                <a:latin typeface="Calibri"/>
              </a:rPr>
              <a:t>STTM workbook + feed contract → CodeGen and Code Review agents.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701784" y="3849624"/>
            <a:ext cx="1792223" cy="804672"/>
          </a:xfrm>
          <a:prstGeom prst="roundRect">
            <a:avLst>
              <a:gd name="adj" fmla="val 3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sttm_she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9759" y="3867912"/>
            <a:ext cx="1156273" cy="768096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4974336" y="3904487"/>
            <a:ext cx="461771" cy="457200"/>
          </a:xfrm>
          <a:prstGeom prst="roundRect">
            <a:avLst>
              <a:gd name="adj" fmla="val 10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974336" y="3968496"/>
            <a:ext cx="46177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7067"/>
                </a:solidFill>
                <a:latin typeface="Consola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74336" y="4123944"/>
            <a:ext cx="4617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C2127"/>
                </a:solidFill>
                <a:latin typeface="Calibri"/>
              </a:rPr>
              <a:t>Ingest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445252" y="4133087"/>
            <a:ext cx="73152" cy="0"/>
          </a:xfrm>
          <a:prstGeom prst="line">
            <a:avLst/>
          </a:prstGeom>
          <a:ln w="9525">
            <a:solidFill>
              <a:srgbClr val="C5CBD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5527548" y="3904487"/>
            <a:ext cx="461771" cy="457200"/>
          </a:xfrm>
          <a:prstGeom prst="roundRect">
            <a:avLst>
              <a:gd name="adj" fmla="val 10000"/>
            </a:avLst>
          </a:prstGeom>
          <a:solidFill>
            <a:srgbClr val="FBEEE8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527548" y="3968496"/>
            <a:ext cx="46177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A04D2C"/>
                </a:solidFill>
                <a:latin typeface="Consolas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27548" y="4123944"/>
            <a:ext cx="4617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A04D2C"/>
                </a:solidFill>
                <a:latin typeface="Calibri"/>
              </a:rPr>
              <a:t>Extract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998464" y="4133087"/>
            <a:ext cx="73152" cy="0"/>
          </a:xfrm>
          <a:prstGeom prst="line">
            <a:avLst/>
          </a:prstGeom>
          <a:ln w="9525">
            <a:solidFill>
              <a:srgbClr val="C5CBD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080760" y="3904487"/>
            <a:ext cx="461771" cy="457200"/>
          </a:xfrm>
          <a:prstGeom prst="roundRect">
            <a:avLst>
              <a:gd name="adj" fmla="val 10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080760" y="3968496"/>
            <a:ext cx="46177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7067"/>
                </a:solidFill>
                <a:latin typeface="Consolas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4123944"/>
            <a:ext cx="4617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C2127"/>
                </a:solidFill>
                <a:latin typeface="Calibri"/>
              </a:rPr>
              <a:t>Audit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551676" y="4133087"/>
            <a:ext cx="73152" cy="0"/>
          </a:xfrm>
          <a:prstGeom prst="line">
            <a:avLst/>
          </a:prstGeom>
          <a:ln w="9525">
            <a:solidFill>
              <a:srgbClr val="C5CBD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633972" y="3904487"/>
            <a:ext cx="461771" cy="457200"/>
          </a:xfrm>
          <a:prstGeom prst="roundRect">
            <a:avLst>
              <a:gd name="adj" fmla="val 10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633972" y="3968496"/>
            <a:ext cx="46177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7067"/>
                </a:solidFill>
                <a:latin typeface="Consolas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33972" y="4123944"/>
            <a:ext cx="4617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C2127"/>
                </a:solidFill>
                <a:latin typeface="Calibri"/>
              </a:rPr>
              <a:t>Render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74336" y="445312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A04D2C"/>
                </a:solidFill>
                <a:latin typeface="Calibri"/>
              </a:rPr>
              <a:t>02 is the only model call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441448" y="2560320"/>
            <a:ext cx="237744" cy="0"/>
          </a:xfrm>
          <a:prstGeom prst="line">
            <a:avLst/>
          </a:prstGeom>
          <a:ln w="15875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498848" y="2560320"/>
            <a:ext cx="237744" cy="0"/>
          </a:xfrm>
          <a:prstGeom prst="line">
            <a:avLst/>
          </a:prstGeom>
          <a:ln w="15875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333488" y="2560320"/>
            <a:ext cx="237744" cy="0"/>
          </a:xfrm>
          <a:prstGeom prst="line">
            <a:avLst/>
          </a:prstGeom>
          <a:ln w="15875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299448" y="2560320"/>
            <a:ext cx="237744" cy="0"/>
          </a:xfrm>
          <a:prstGeom prst="line">
            <a:avLst/>
          </a:prstGeom>
          <a:ln w="15875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229600" y="4800600"/>
            <a:ext cx="0" cy="237744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1188719" y="5038344"/>
            <a:ext cx="7040881" cy="0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188719" y="4818888"/>
            <a:ext cx="0" cy="219456"/>
          </a:xfrm>
          <a:prstGeom prst="line">
            <a:avLst/>
          </a:prstGeom>
          <a:ln w="15875">
            <a:solidFill>
              <a:srgbClr val="D1980B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7280" y="5111496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866103"/>
                </a:solidFill>
                <a:latin typeface="Calibri"/>
              </a:rPr>
              <a:t>the reviewer uploads the approved STTM   →   the next sync pairs it   →   it becomes a template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48640" y="5760720"/>
            <a:ext cx="11094415" cy="0"/>
          </a:xfrm>
          <a:prstGeom prst="line">
            <a:avLst/>
          </a:prstGeom>
          <a:ln w="6350">
            <a:solidFill>
              <a:srgbClr val="D3D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48640" y="5888736"/>
            <a:ext cx="8686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04D2C"/>
                </a:solidFill>
                <a:latin typeface="Calibri"/>
              </a:rPr>
              <a:t>the model proposes</a:t>
            </a:r>
            <a:r>
              <a:rPr sz="1200" b="0">
                <a:solidFill>
                  <a:srgbClr val="C5CBD3"/>
                </a:solidFill>
                <a:latin typeface="Calibri"/>
              </a:rPr>
              <a:t>      ·      </a:t>
            </a:r>
            <a:r>
              <a:rPr sz="1200" b="1">
                <a:solidFill>
                  <a:srgbClr val="007067"/>
                </a:solidFill>
                <a:latin typeface="Calibri"/>
              </a:rPr>
              <a:t>deterministic code audits and decides</a:t>
            </a:r>
            <a:r>
              <a:rPr sz="1200" b="0">
                <a:solidFill>
                  <a:srgbClr val="C5CBD3"/>
                </a:solidFill>
                <a:latin typeface="Calibri"/>
              </a:rPr>
              <a:t>      ·      </a:t>
            </a:r>
            <a:r>
              <a:rPr sz="1200" b="1">
                <a:solidFill>
                  <a:srgbClr val="866103"/>
                </a:solidFill>
                <a:latin typeface="Calibri"/>
              </a:rPr>
              <a:t>a person resolves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F343C"/>
                </a:solidFill>
                <a:latin typeface="Calibri"/>
              </a:rPr>
              <a:t>Grounding checks, gate status, pairing verdicts, template choice and eval scores are computed in code, never by the model. Fail loud — no silent mock, no silent live, no stale copies.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53935" y="594360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F6B7C"/>
                </a:solidFill>
                <a:latin typeface="Calibri"/>
              </a:rPr>
              <a:t>staging · 2026-08-22 · verified offline · live deploy pending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