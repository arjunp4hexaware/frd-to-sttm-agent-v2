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210311" y="274320"/>
            <a:ext cx="128017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4320" y="210311"/>
            <a:ext cx="0" cy="128017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53367" y="274320"/>
            <a:ext cx="128016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917375" y="210311"/>
            <a:ext cx="0" cy="128017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0311" y="6583680"/>
            <a:ext cx="128017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" y="6519672"/>
            <a:ext cx="0" cy="128016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53367" y="6583680"/>
            <a:ext cx="128016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917375" y="6519672"/>
            <a:ext cx="0" cy="128016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60">
                <a:solidFill>
                  <a:srgbClr val="8F99A8"/>
                </a:solidFill>
                <a:latin typeface="Courier New"/>
              </a:rPr>
              <a:t>HEXAWARE  ·  AMERIHEALTH CARITAS  ·  AI-IN-ENGINEERING  ·  AGENT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836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FRD → STTM Agent</a:t>
            </a:r>
            <a:r>
              <a:rPr sz="1600" b="0">
                <a:solidFill>
                  <a:srgbClr val="8F99A8"/>
                </a:solidFill>
                <a:latin typeface="Calibri"/>
              </a:rPr>
              <a:t>   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1704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5CBD3"/>
                </a:solidFill>
                <a:latin typeface="Calibri"/>
              </a:rPr>
              <a:t>An approved requirements document becomes an audited source-to-target mapping — every fact checked against the source text, every ambiguity routed to a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536192"/>
            <a:ext cx="2011679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34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1600200"/>
            <a:ext cx="20116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spc="100">
                <a:solidFill>
                  <a:srgbClr val="9881F3"/>
                </a:solidFill>
                <a:latin typeface="Courier New"/>
              </a:rPr>
              <a:t>READ-ONLY SHAREPOINT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70048" y="1536192"/>
            <a:ext cx="2432303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A4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670048" y="1600200"/>
            <a:ext cx="2432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spc="100">
                <a:solidFill>
                  <a:srgbClr val="D97757"/>
                </a:solidFill>
                <a:latin typeface="Courier New"/>
              </a:rPr>
              <a:t>1 MODEL CALL PER DOCUMENT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1536192"/>
            <a:ext cx="2432303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070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12080" y="1600200"/>
            <a:ext cx="2432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spc="100">
                <a:solidFill>
                  <a:srgbClr val="13C9BA"/>
                </a:solidFill>
                <a:latin typeface="Courier New"/>
              </a:rPr>
              <a:t>VERDICTS COMPUTED IN 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011680"/>
            <a:ext cx="2011680" cy="2788920"/>
          </a:xfrm>
          <a:prstGeom prst="roundRect">
            <a:avLst>
              <a:gd name="adj" fmla="val 35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" y="2235708"/>
            <a:ext cx="100584" cy="100584"/>
          </a:xfrm>
          <a:prstGeom prst="ellipse">
            <a:avLst/>
          </a:prstGeom>
          <a:solidFill>
            <a:srgbClr val="988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9881F3"/>
                </a:solidFill>
                <a:latin typeface="Courier New"/>
              </a:rPr>
              <a:t>SRC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2432304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F6F7F9"/>
                </a:solidFill>
                <a:latin typeface="Calibri"/>
              </a:rPr>
              <a:t>SharePoint</a:t>
            </a:r>
          </a:p>
        </p:txBody>
      </p:sp>
      <p:pic>
        <p:nvPicPr>
          <p:cNvPr id="24" name="Picture 23" descr="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4832" y="2157984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8096" y="2816352"/>
            <a:ext cx="1591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5CBD3"/>
                </a:solidFill>
                <a:latin typeface="Calibri"/>
              </a:rPr>
              <a:t>System of record. FRDs in, approved STTMs back. The agent only ever reads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758183"/>
            <a:ext cx="1719072" cy="896112"/>
          </a:xfrm>
          <a:prstGeom prst="roundRect">
            <a:avLst>
              <a:gd name="adj" fmla="val 3000"/>
            </a:avLst>
          </a:prstGeom>
          <a:solidFill>
            <a:srgbClr val="252A31"/>
          </a:solidFill>
          <a:ln w="9525">
            <a:solidFill>
              <a:srgbClr val="404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rd_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952" y="3776472"/>
            <a:ext cx="1337055" cy="85953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834640" y="2011680"/>
            <a:ext cx="1874519" cy="2788920"/>
          </a:xfrm>
          <a:prstGeom prst="roundRect">
            <a:avLst>
              <a:gd name="adj" fmla="val 35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3022092" y="2235708"/>
            <a:ext cx="100584" cy="100584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3697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13C9BA"/>
                </a:solidFill>
                <a:latin typeface="Courier New"/>
              </a:rPr>
              <a:t>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4096" y="243230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F6F7F9"/>
                </a:solidFill>
                <a:latin typeface="Calibri"/>
              </a:rPr>
              <a:t>Scheduled sync</a:t>
            </a:r>
          </a:p>
        </p:txBody>
      </p:sp>
      <p:pic>
        <p:nvPicPr>
          <p:cNvPr id="32" name="Picture 31" descr="refre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3672" y="215798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054096" y="2816352"/>
            <a:ext cx="14538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5CBD3"/>
                </a:solidFill>
                <a:latin typeface="Calibri"/>
              </a:rPr>
              <a:t>Every 15 minutes, incremental. Pairs each FRD with its STTM and indexes the corpus in Unity Catalog. Zero model calls.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2011680"/>
            <a:ext cx="2697480" cy="2788920"/>
          </a:xfrm>
          <a:prstGeom prst="roundRect">
            <a:avLst>
              <a:gd name="adj" fmla="val 35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170932" y="2235708"/>
            <a:ext cx="100584" cy="100584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8581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13C9BA"/>
                </a:solidFill>
                <a:latin typeface="Courier New"/>
              </a:rPr>
              <a:t>01–04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2936" y="2432304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F6F7F9"/>
                </a:solidFill>
                <a:latin typeface="Calibri"/>
              </a:rPr>
              <a:t>Generation job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2936" y="2816352"/>
            <a:ext cx="22768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5CBD3"/>
                </a:solidFill>
                <a:latin typeface="Calibri"/>
              </a:rPr>
              <a:t>Four stages on Databricks. Extract is the single Claude call; parsing, grounding audit, gate and render are code.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79" y="2011680"/>
            <a:ext cx="1783080" cy="2788920"/>
          </a:xfrm>
          <a:prstGeom prst="roundRect">
            <a:avLst>
              <a:gd name="adj" fmla="val 35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142731" y="2235708"/>
            <a:ext cx="100584" cy="100584"/>
          </a:xfrm>
          <a:prstGeom prst="ellipse">
            <a:avLst/>
          </a:prstGeom>
          <a:solidFill>
            <a:srgbClr val="F0B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57615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F0B726"/>
                </a:solidFill>
                <a:latin typeface="Courier New"/>
              </a:rPr>
              <a:t>HITL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243230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F6F7F9"/>
                </a:solidFill>
                <a:latin typeface="Calibri"/>
              </a:rPr>
              <a:t>Review app</a:t>
            </a:r>
          </a:p>
        </p:txBody>
      </p:sp>
      <p:pic>
        <p:nvPicPr>
          <p:cNvPr id="43" name="Picture 42" descr="u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2872" y="2157984"/>
            <a:ext cx="274320" cy="2743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174736" y="2816352"/>
            <a:ext cx="13624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5CBD3"/>
                </a:solidFill>
                <a:latin typeface="Calibri"/>
              </a:rPr>
              <a:t>Pick an FRD, run, answer what the agent could not settle, re-render — then upload the approved STTM yourself.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12680" y="2011680"/>
            <a:ext cx="1627632" cy="2788920"/>
          </a:xfrm>
          <a:prstGeom prst="roundRect">
            <a:avLst>
              <a:gd name="adj" fmla="val 35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10200132" y="2235708"/>
            <a:ext cx="100584" cy="100584"/>
          </a:xfrm>
          <a:prstGeom prst="ellipse">
            <a:avLst/>
          </a:prstGeom>
          <a:solidFill>
            <a:srgbClr val="988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5015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9881F3"/>
                </a:solidFill>
                <a:latin typeface="Courier New"/>
              </a:rPr>
              <a:t>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32136" y="2432304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F6F7F9"/>
                </a:solidFill>
                <a:latin typeface="Calibri"/>
              </a:rPr>
              <a:t>Outputs</a:t>
            </a:r>
          </a:p>
        </p:txBody>
      </p:sp>
      <p:pic>
        <p:nvPicPr>
          <p:cNvPr id="49" name="Picture 48" descr="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4824" y="2157984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32136" y="2816352"/>
            <a:ext cx="12070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5CBD3"/>
                </a:solidFill>
                <a:latin typeface="Calibri"/>
              </a:rPr>
              <a:t>STTM workbook + feed contract → CodeGen and Code Review agents.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58984" y="3758183"/>
            <a:ext cx="1335024" cy="896112"/>
          </a:xfrm>
          <a:prstGeom prst="roundRect">
            <a:avLst>
              <a:gd name="adj" fmla="val 3000"/>
            </a:avLst>
          </a:prstGeom>
          <a:solidFill>
            <a:srgbClr val="252A31"/>
          </a:solidFill>
          <a:ln w="9525">
            <a:solidFill>
              <a:srgbClr val="404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sttm_she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3788881"/>
            <a:ext cx="1298448" cy="834716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202936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252A31"/>
          </a:solidFill>
          <a:ln w="9525">
            <a:solidFill>
              <a:srgbClr val="404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202936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13C9BA"/>
                </a:solidFill>
                <a:latin typeface="Courier New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02936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F6F7F9"/>
                </a:solidFill>
                <a:latin typeface="Calibri"/>
              </a:rPr>
              <a:t>Ingest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08142" y="4133087"/>
            <a:ext cx="73152" cy="0"/>
          </a:xfrm>
          <a:prstGeom prst="line">
            <a:avLst/>
          </a:prstGeom>
          <a:ln w="9525">
            <a:solidFill>
              <a:srgbClr val="40485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5790438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8A4A36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790438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F6F7F9"/>
                </a:solidFill>
                <a:latin typeface="Courier New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90438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F6F7F9"/>
                </a:solidFill>
                <a:latin typeface="Calibri"/>
              </a:rPr>
              <a:t>Extract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295644" y="4133087"/>
            <a:ext cx="73152" cy="0"/>
          </a:xfrm>
          <a:prstGeom prst="line">
            <a:avLst/>
          </a:prstGeom>
          <a:ln w="9525">
            <a:solidFill>
              <a:srgbClr val="40485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7940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252A31"/>
          </a:solidFill>
          <a:ln w="9525">
            <a:solidFill>
              <a:srgbClr val="404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377940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13C9BA"/>
                </a:solidFill>
                <a:latin typeface="Courier New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7940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F6F7F9"/>
                </a:solidFill>
                <a:latin typeface="Calibri"/>
              </a:rPr>
              <a:t>Audit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83146" y="4133087"/>
            <a:ext cx="73152" cy="0"/>
          </a:xfrm>
          <a:prstGeom prst="line">
            <a:avLst/>
          </a:prstGeom>
          <a:ln w="9525">
            <a:solidFill>
              <a:srgbClr val="40485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965442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252A31"/>
          </a:solidFill>
          <a:ln w="9525">
            <a:solidFill>
              <a:srgbClr val="404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965442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13C9BA"/>
                </a:solidFill>
                <a:latin typeface="Courier New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65442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F6F7F9"/>
                </a:solidFill>
                <a:latin typeface="Calibri"/>
              </a:rPr>
              <a:t>Render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02936" y="4453127"/>
            <a:ext cx="2258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D97757"/>
                </a:solidFill>
                <a:latin typeface="Calibri"/>
              </a:rPr>
              <a:t>02 is the only model call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578608" y="2560320"/>
            <a:ext cx="237744" cy="0"/>
          </a:xfrm>
          <a:prstGeom prst="line">
            <a:avLst/>
          </a:prstGeom>
          <a:ln w="12700">
            <a:solidFill>
              <a:srgbClr val="8F99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727448" y="2560320"/>
            <a:ext cx="237744" cy="0"/>
          </a:xfrm>
          <a:prstGeom prst="line">
            <a:avLst/>
          </a:prstGeom>
          <a:ln w="12700">
            <a:solidFill>
              <a:srgbClr val="8F99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699248" y="2560320"/>
            <a:ext cx="237744" cy="0"/>
          </a:xfrm>
          <a:prstGeom prst="line">
            <a:avLst/>
          </a:prstGeom>
          <a:ln w="12700">
            <a:solidFill>
              <a:srgbClr val="8F99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756647" y="2560320"/>
            <a:ext cx="237745" cy="0"/>
          </a:xfrm>
          <a:prstGeom prst="line">
            <a:avLst/>
          </a:prstGeom>
          <a:ln w="12700">
            <a:solidFill>
              <a:srgbClr val="8F99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595359" y="4800600"/>
            <a:ext cx="0" cy="237744"/>
          </a:xfrm>
          <a:prstGeom prst="line">
            <a:avLst/>
          </a:prstGeom>
          <a:ln w="15875">
            <a:solidFill>
              <a:srgbClr val="86610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1188719" y="5038344"/>
            <a:ext cx="7406640" cy="0"/>
          </a:xfrm>
          <a:prstGeom prst="line">
            <a:avLst/>
          </a:prstGeom>
          <a:ln w="15875">
            <a:solidFill>
              <a:srgbClr val="86610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188719" y="4818888"/>
            <a:ext cx="0" cy="219456"/>
          </a:xfrm>
          <a:prstGeom prst="line">
            <a:avLst/>
          </a:prstGeom>
          <a:ln w="15875">
            <a:solidFill>
              <a:srgbClr val="866103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7280" y="5111496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F0B726"/>
                </a:solidFill>
                <a:latin typeface="Courier New"/>
              </a:rPr>
              <a:t>the reviewer uploads the approved STTM   →   the next sync pairs it   →   it becomes a template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48640" y="5760720"/>
            <a:ext cx="11094415" cy="0"/>
          </a:xfrm>
          <a:prstGeom prst="line">
            <a:avLst/>
          </a:prstGeom>
          <a:ln w="6350">
            <a:solidFill>
              <a:srgbClr val="383E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48640" y="5888736"/>
            <a:ext cx="8686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Calibri"/>
              </a:rPr>
              <a:t>the model proposes</a:t>
            </a:r>
            <a:r>
              <a:rPr sz="1200" b="0">
                <a:solidFill>
                  <a:srgbClr val="404854"/>
                </a:solidFill>
                <a:latin typeface="Calibri"/>
              </a:rPr>
              <a:t>      ·      </a:t>
            </a:r>
            <a:r>
              <a:rPr sz="1200" b="1">
                <a:solidFill>
                  <a:srgbClr val="13C9BA"/>
                </a:solidFill>
                <a:latin typeface="Calibri"/>
              </a:rPr>
              <a:t>deterministic code audits and decides</a:t>
            </a:r>
            <a:r>
              <a:rPr sz="1200" b="0">
                <a:solidFill>
                  <a:srgbClr val="404854"/>
                </a:solidFill>
                <a:latin typeface="Calibri"/>
              </a:rPr>
              <a:t>      ·      </a:t>
            </a:r>
            <a:r>
              <a:rPr sz="1200" b="1">
                <a:solidFill>
                  <a:srgbClr val="F0B726"/>
                </a:solidFill>
                <a:latin typeface="Calibri"/>
              </a:rPr>
              <a:t>a person resolves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5CBD3"/>
                </a:solidFill>
                <a:latin typeface="Calibri"/>
              </a:rPr>
              <a:t>Grounding checks, gate status, pairing verdicts, template choice and eval scores are computed in code, never by the model. Fail loud — no silent mock, no silent live, no stale copies.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53935" y="594360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F99A8"/>
                </a:solidFill>
                <a:latin typeface="Courier New"/>
              </a:rPr>
              <a:t>staging · 2026-08-22 · verified offline · live deploy pending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