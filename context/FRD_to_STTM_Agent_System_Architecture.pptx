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nepag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cxnSp>
        <p:nvCxnSpPr>
          <p:cNvPr id="3" name="Connector 2"/>
          <p:cNvCxnSpPr/>
          <p:nvPr/>
        </p:nvCxnSpPr>
        <p:spPr>
          <a:xfrm>
            <a:off x="210311" y="274320"/>
            <a:ext cx="128017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274320" y="210311"/>
            <a:ext cx="0" cy="128017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1853367" y="274320"/>
            <a:ext cx="128016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1917375" y="210311"/>
            <a:ext cx="0" cy="128017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10311" y="6583680"/>
            <a:ext cx="128017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" y="6519672"/>
            <a:ext cx="0" cy="128016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853367" y="6583680"/>
            <a:ext cx="128016" cy="0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917375" y="6519672"/>
            <a:ext cx="0" cy="128016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" y="347472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738091"/>
                </a:solidFill>
                <a:latin typeface="Courier New"/>
              </a:rPr>
              <a:t>HEXAWARE  ·  AMERIHEALTH CARITAS  ·  AI-IN-ENGINEERING PROGRAM  ·  AGENT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30352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FRD → STTM Agent</a:t>
            </a:r>
            <a:r>
              <a:rPr sz="1400" b="0" i="0">
                <a:solidFill>
                  <a:srgbClr val="8F99A8"/>
                </a:solidFill>
                <a:latin typeface="Calibri"/>
              </a:rPr>
              <a:t>   system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932688"/>
            <a:ext cx="7589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ABB3BF"/>
                </a:solidFill>
                <a:latin typeface="Calibri"/>
              </a:rPr>
              <a:t>An approved Functional Requirements Document becomes an audited Source-to-Target Mapping workbook and a machine-readable feed contract — every fact checked against the source text, every ambiguity routed to a person.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90864" y="548640"/>
            <a:ext cx="1554480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634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90864" y="58978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 spc="100">
                <a:solidFill>
                  <a:srgbClr val="9881F3"/>
                </a:solidFill>
                <a:latin typeface="Courier New"/>
              </a:rPr>
              <a:t>READ-ONLY SHAREPOINT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936784" y="548640"/>
            <a:ext cx="1751990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0F68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936784" y="589788"/>
            <a:ext cx="175199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 spc="100">
                <a:solidFill>
                  <a:srgbClr val="3FA6DA"/>
                </a:solidFill>
                <a:latin typeface="Courier New"/>
              </a:rPr>
              <a:t>1 MODEL CALL / DOCUMENT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56701" y="841248"/>
            <a:ext cx="1883663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0070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6701" y="882396"/>
            <a:ext cx="188366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 spc="100">
                <a:solidFill>
                  <a:srgbClr val="13C9BA"/>
                </a:solidFill>
                <a:latin typeface="Courier New"/>
              </a:rPr>
              <a:t>VERDICTS COMPUTED IN CODE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331805" y="841248"/>
            <a:ext cx="1356969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8661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331805" y="882396"/>
            <a:ext cx="135696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00" b="0" i="0" spc="100">
                <a:solidFill>
                  <a:srgbClr val="F0B726"/>
                </a:solidFill>
                <a:latin typeface="Courier New"/>
              </a:rPr>
              <a:t>HUMAN-IN-THE-LOOP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12344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9881F3"/>
                </a:solidFill>
                <a:latin typeface="Courier New"/>
              </a:rPr>
              <a:t>SYSTEM OF RECORD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87168" y="12344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13C9BA"/>
                </a:solidFill>
                <a:latin typeface="Courier New"/>
              </a:rPr>
              <a:t>00 · CONTINUOUS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1416" y="1234440"/>
            <a:ext cx="4160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13C9BA"/>
                </a:solidFill>
                <a:latin typeface="Courier New"/>
              </a:rPr>
              <a:t>GENERATION PIPELINE · ONE DATABRICKS JOB, FOUR STAGES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78824" y="1234440"/>
            <a:ext cx="14813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F0B726"/>
                </a:solidFill>
                <a:latin typeface="Courier New"/>
              </a:rPr>
              <a:t>HUMAN IN THE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88752" y="12344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spc="160">
                <a:solidFill>
                  <a:srgbClr val="9881F3"/>
                </a:solidFill>
                <a:latin typeface="Courier New"/>
              </a:rPr>
              <a:t>DOWNSTREAM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1481328"/>
            <a:ext cx="1737360" cy="32461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644652" y="1641348"/>
            <a:ext cx="82296" cy="82296"/>
          </a:xfrm>
          <a:prstGeom prst="ellipse">
            <a:avLst/>
          </a:prstGeom>
          <a:solidFill>
            <a:srgbClr val="988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1581912"/>
            <a:ext cx="129844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6F7F9"/>
                </a:solidFill>
                <a:latin typeface="Calibri"/>
              </a:rPr>
              <a:t>SharePoint library</a:t>
            </a:r>
          </a:p>
        </p:txBody>
      </p:sp>
      <p:pic>
        <p:nvPicPr>
          <p:cNvPr id="30" name="Picture 29" descr="f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232" y="1591056"/>
            <a:ext cx="237744" cy="23774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800" y="1865376"/>
            <a:ext cx="141731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719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819" b="1" i="0">
                <a:solidFill>
                  <a:srgbClr val="9881F3"/>
                </a:solidFill>
                <a:latin typeface="Calibri"/>
              </a:rPr>
              <a:t>FRD folder</a:t>
            </a:r>
            <a:r>
              <a:rPr sz="819" b="0" i="0">
                <a:solidFill>
                  <a:srgbClr val="ABB3BF"/>
                </a:solidFill>
                <a:latin typeface="Calibri"/>
              </a:rPr>
              <a:t> — approved requirements documents (.docx / .pdf / .md)</a:t>
            </a:r>
          </a:p>
          <a:p>
            <a:pPr algn="l">
              <a:lnSpc>
                <a:spcPct val="108000"/>
              </a:lnSpc>
            </a:pPr>
            <a:r>
              <a:rPr sz="719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819" b="1" i="0">
                <a:solidFill>
                  <a:srgbClr val="9881F3"/>
                </a:solidFill>
                <a:latin typeface="Calibri"/>
              </a:rPr>
              <a:t>STTM folder</a:t>
            </a:r>
            <a:r>
              <a:rPr sz="819" b="0" i="0">
                <a:solidFill>
                  <a:srgbClr val="ABB3BF"/>
                </a:solidFill>
                <a:latin typeface="Calibri"/>
              </a:rPr>
              <a:t> — approved mapping workbooks (.xlsx), uploaded by reviewers</a:t>
            </a:r>
          </a:p>
          <a:p>
            <a:pPr algn="l">
              <a:lnSpc>
                <a:spcPct val="108000"/>
              </a:lnSpc>
            </a:pPr>
            <a:r>
              <a:rPr sz="719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819" b="0" i="0">
                <a:solidFill>
                  <a:srgbClr val="ABB3BF"/>
                </a:solidFill>
                <a:latin typeface="Calibri"/>
              </a:rPr>
              <a:t>The only place anything is authored or approved. The agent never writes here (Entra ID grant: Sites.Selected, read).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886200"/>
            <a:ext cx="1371600" cy="676656"/>
          </a:xfrm>
          <a:prstGeom prst="roundRect">
            <a:avLst>
              <a:gd name="adj" fmla="val 6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77240" y="3941063"/>
            <a:ext cx="1188719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F6F7F9"/>
                </a:solidFill>
                <a:latin typeface="Calibri"/>
              </a:rPr>
              <a:t>every approved pair is a template</a:t>
            </a:r>
          </a:p>
          <a:p>
            <a:pPr algn="l">
              <a:lnSpc>
                <a:spcPct val="105000"/>
              </a:lnSpc>
            </a:pPr>
            <a:r>
              <a:rPr sz="730" b="0" i="0">
                <a:solidFill>
                  <a:srgbClr val="ABB3BF"/>
                </a:solidFill>
                <a:latin typeface="Calibri"/>
              </a:rPr>
              <a:t>exemplar for extraction · layout + dictionary for render · ground truth for eval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87168" y="1481328"/>
            <a:ext cx="1737360" cy="32461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2628900" y="1641348"/>
            <a:ext cx="82296" cy="82296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88920" y="16002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13C9BA"/>
                </a:solidFill>
                <a:latin typeface="Courier New"/>
              </a:rPr>
              <a:t>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18104" y="1581912"/>
            <a:ext cx="96926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6F7F9"/>
                </a:solidFill>
                <a:latin typeface="Calibri"/>
              </a:rPr>
              <a:t>Sync job</a:t>
            </a:r>
          </a:p>
        </p:txBody>
      </p:sp>
      <p:pic>
        <p:nvPicPr>
          <p:cNvPr id="38" name="Picture 37" descr="refre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0" y="1591056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670048" y="1865376"/>
            <a:ext cx="1417319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9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90" b="1" i="0">
                <a:solidFill>
                  <a:srgbClr val="13C9BA"/>
                </a:solidFill>
                <a:latin typeface="Calibri"/>
              </a:rPr>
              <a:t>scheduled</a:t>
            </a:r>
            <a:r>
              <a:rPr sz="790" b="0" i="0">
                <a:solidFill>
                  <a:srgbClr val="ABB3BF"/>
                </a:solidFill>
                <a:latin typeface="Calibri"/>
              </a:rPr>
              <a:t> — every 15 min, or “Sync now” from the app</a:t>
            </a:r>
          </a:p>
          <a:p>
            <a:pPr algn="l">
              <a:lnSpc>
                <a:spcPct val="108000"/>
              </a:lnSpc>
            </a:pPr>
            <a:r>
              <a:rPr sz="69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90" b="1" i="0">
                <a:solidFill>
                  <a:srgbClr val="13C9BA"/>
                </a:solidFill>
                <a:latin typeface="Calibri"/>
              </a:rPr>
              <a:t>incremental</a:t>
            </a:r>
            <a:r>
              <a:rPr sz="790" b="0" i="0">
                <a:solidFill>
                  <a:srgbClr val="ABB3BF"/>
                </a:solidFill>
                <a:latin typeface="Calibri"/>
              </a:rPr>
              <a:t> — Graph id · eTag · modified · size; only new or changed files move</a:t>
            </a:r>
          </a:p>
          <a:p>
            <a:pPr algn="l">
              <a:lnSpc>
                <a:spcPct val="108000"/>
              </a:lnSpc>
            </a:pPr>
            <a:r>
              <a:rPr sz="69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90" b="1" i="0">
                <a:solidFill>
                  <a:srgbClr val="13C9BA"/>
                </a:solidFill>
                <a:latin typeface="Calibri"/>
              </a:rPr>
              <a:t>pairs</a:t>
            </a:r>
            <a:r>
              <a:rPr sz="790" b="0" i="0">
                <a:solidFill>
                  <a:srgbClr val="ABB3BF"/>
                </a:solidFill>
                <a:latin typeface="Calibri"/>
              </a:rPr>
              <a:t> — FRD ↔ STTM by exact name, then deterministic similarity; verdict + score per pair</a:t>
            </a:r>
          </a:p>
          <a:p>
            <a:pPr algn="l">
              <a:lnSpc>
                <a:spcPct val="108000"/>
              </a:lnSpc>
            </a:pPr>
            <a:r>
              <a:rPr sz="69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90" b="1" i="0">
                <a:solidFill>
                  <a:srgbClr val="13C9BA"/>
                </a:solidFill>
                <a:latin typeface="Calibri"/>
              </a:rPr>
              <a:t>indexes</a:t>
            </a:r>
            <a:r>
              <a:rPr sz="790" b="0" i="0">
                <a:solidFill>
                  <a:srgbClr val="ABB3BF"/>
                </a:solidFill>
                <a:latin typeface="Calibri"/>
              </a:rPr>
              <a:t> — corpus_index.json, content hash per document</a:t>
            </a:r>
          </a:p>
          <a:p>
            <a:pPr algn="l">
              <a:lnSpc>
                <a:spcPct val="108000"/>
              </a:lnSpc>
            </a:pPr>
            <a:r>
              <a:rPr sz="69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90" b="0" i="0">
                <a:solidFill>
                  <a:srgbClr val="ABB3BF"/>
                </a:solidFill>
                <a:latin typeface="Calibri"/>
              </a:rPr>
              <a:t>Zero model calls. Empty library warns; a Graph refusal fails loudly.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70048" y="4087368"/>
            <a:ext cx="1371600" cy="475488"/>
          </a:xfrm>
          <a:prstGeom prst="roundRect">
            <a:avLst>
              <a:gd name="adj" fmla="val 6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761488" y="4133087"/>
            <a:ext cx="118871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50" b="1" i="0">
                <a:solidFill>
                  <a:srgbClr val="4C90F0"/>
                </a:solidFill>
                <a:latin typeface="Calibri"/>
              </a:rPr>
              <a:t>lands in Unity Catalog</a:t>
            </a:r>
          </a:p>
          <a:p>
            <a:pPr algn="l">
              <a:lnSpc>
                <a:spcPct val="105000"/>
              </a:lnSpc>
            </a:pPr>
            <a:r>
              <a:rPr sz="680" b="0" i="0">
                <a:solidFill>
                  <a:srgbClr val="ABB3BF"/>
                </a:solidFill>
                <a:latin typeface="Courier New"/>
              </a:rPr>
              <a:t>frd_raw · sttm_reference</a:t>
            </a:r>
            <a:r>
              <a:rPr sz="680" b="0" i="0">
                <a:solidFill>
                  <a:srgbClr val="ABB3BF"/>
                </a:solidFill>
                <a:latin typeface="Calibri"/>
              </a:rPr>
              <a:t>  + index, manifest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1416" y="1481328"/>
            <a:ext cx="4160520" cy="3246120"/>
          </a:xfrm>
          <a:prstGeom prst="roundRect">
            <a:avLst>
              <a:gd name="adj" fmla="val 20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654296" y="1572768"/>
            <a:ext cx="379475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13C9BA"/>
                </a:solidFill>
                <a:latin typeface="Courier New"/>
              </a:rPr>
              <a:t>frd_sttm_pipeline</a:t>
            </a:r>
            <a:r>
              <a:rPr sz="730" b="0" i="0">
                <a:solidFill>
                  <a:srgbClr val="8F99A8"/>
                </a:solidFill>
                <a:latin typeface="Calibri"/>
              </a:rPr>
              <a:t>   Jobs API (the app) or bundle CLI · serverless · insulated runs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36007" y="1865376"/>
            <a:ext cx="875537" cy="1975104"/>
          </a:xfrm>
          <a:prstGeom prst="roundRect">
            <a:avLst>
              <a:gd name="adj" fmla="val 5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4754879" y="2002536"/>
            <a:ext cx="73152" cy="73152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92040" y="19568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13C9BA"/>
                </a:solidFill>
                <a:latin typeface="Courier New"/>
              </a:rPr>
              <a:t>01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45736" y="2139696"/>
            <a:ext cx="69265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6F7F9"/>
                </a:solidFill>
                <a:latin typeface="Calibri"/>
              </a:rPr>
              <a:t>Ingest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45736" y="2414016"/>
            <a:ext cx="69265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13C9BA"/>
                </a:solidFill>
                <a:latin typeface="Calibri"/>
              </a:rPr>
              <a:t>■ </a:t>
            </a:r>
            <a:r>
              <a:rPr sz="710" b="1" i="0">
                <a:solidFill>
                  <a:srgbClr val="F6F7F9"/>
                </a:solidFill>
                <a:latin typeface="Calibri"/>
              </a:rPr>
              <a:t>docx / pdf / md / txt → markdown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labels from the versioned FRD label contract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req-ids BR · REQ · FR · SRQ · NFR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→ frd_documents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520689" y="2194560"/>
            <a:ext cx="91440" cy="0"/>
          </a:xfrm>
          <a:prstGeom prst="line">
            <a:avLst/>
          </a:prstGeom>
          <a:ln w="1143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621273" y="1865376"/>
            <a:ext cx="875537" cy="1975104"/>
          </a:xfrm>
          <a:prstGeom prst="roundRect">
            <a:avLst>
              <a:gd name="adj" fmla="val 5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5740145" y="2002536"/>
            <a:ext cx="73152" cy="73152"/>
          </a:xfrm>
          <a:prstGeom prst="ellipse">
            <a:avLst/>
          </a:prstGeom>
          <a:solidFill>
            <a:srgbClr val="3FA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77305" y="19568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3FA6DA"/>
                </a:solidFill>
                <a:latin typeface="Courier New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31001" y="2139696"/>
            <a:ext cx="69265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6F7F9"/>
                </a:solidFill>
                <a:latin typeface="Calibri"/>
              </a:rPr>
              <a:t>Extract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731001" y="2414016"/>
            <a:ext cx="69265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3FA6DA"/>
                </a:solidFill>
                <a:latin typeface="Calibri"/>
              </a:rPr>
              <a:t>■ </a:t>
            </a:r>
            <a:r>
              <a:rPr sz="710" b="1" i="0">
                <a:solidFill>
                  <a:srgbClr val="F6F7F9"/>
                </a:solidFill>
                <a:latin typeface="Calibri"/>
              </a:rPr>
              <a:t>THE one Claude call per document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schema in prompt · streamed · client-side validation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few-shot exemplars retrieved from the corpus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→ extraction JSON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505955" y="2194560"/>
            <a:ext cx="91440" cy="0"/>
          </a:xfrm>
          <a:prstGeom prst="line">
            <a:avLst/>
          </a:prstGeom>
          <a:ln w="1143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6606540" y="1865376"/>
            <a:ext cx="875537" cy="1975104"/>
          </a:xfrm>
          <a:prstGeom prst="roundRect">
            <a:avLst>
              <a:gd name="adj" fmla="val 5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6725412" y="2002536"/>
            <a:ext cx="73152" cy="73152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62572" y="19568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13C9BA"/>
                </a:solidFill>
                <a:latin typeface="Courier New"/>
              </a:rPr>
              <a:t>03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16268" y="2139696"/>
            <a:ext cx="69265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6F7F9"/>
                </a:solidFill>
                <a:latin typeface="Calibri"/>
              </a:rPr>
              <a:t>Contract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16268" y="2414016"/>
            <a:ext cx="69265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13C9BA"/>
                </a:solidFill>
                <a:latin typeface="Calibri"/>
              </a:rPr>
              <a:t>■ </a:t>
            </a:r>
            <a:r>
              <a:rPr sz="710" b="1" i="0">
                <a:solidFill>
                  <a:srgbClr val="F6F7F9"/>
                </a:solidFill>
                <a:latin typeface="Calibri"/>
              </a:rPr>
              <a:t>validate (extra = forbid) → enrich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grounding audit: strict fields verbatim; prose ≥ 0.75 overlap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gate: attribution · disagreement · advisory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→ contract JSON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7491221" y="2194560"/>
            <a:ext cx="91440" cy="0"/>
          </a:xfrm>
          <a:prstGeom prst="line">
            <a:avLst/>
          </a:prstGeom>
          <a:ln w="1143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7591805" y="1865376"/>
            <a:ext cx="875537" cy="1975104"/>
          </a:xfrm>
          <a:prstGeom prst="roundRect">
            <a:avLst>
              <a:gd name="adj" fmla="val 5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7710677" y="2002536"/>
            <a:ext cx="73152" cy="73152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47837" y="195681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 spc="120">
                <a:solidFill>
                  <a:srgbClr val="13C9BA"/>
                </a:solidFill>
                <a:latin typeface="Courier New"/>
              </a:rPr>
              <a:t>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01533" y="2139696"/>
            <a:ext cx="69265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6F7F9"/>
                </a:solidFill>
                <a:latin typeface="Calibri"/>
              </a:rPr>
              <a:t>Render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01533" y="2414016"/>
            <a:ext cx="692657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13C9BA"/>
                </a:solidFill>
                <a:latin typeface="Calibri"/>
              </a:rPr>
              <a:t>■ </a:t>
            </a:r>
            <a:r>
              <a:rPr sz="710" b="1" i="0">
                <a:solidFill>
                  <a:srgbClr val="F6F7F9"/>
                </a:solidFill>
                <a:latin typeface="Calibri"/>
              </a:rPr>
              <a:t>template: single · amalgam · freeform (flagged)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derive mappings; FRD rules on the rows they name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eval vs the doc’s OWN approved STTM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10" b="0" i="0">
                <a:solidFill>
                  <a:srgbClr val="ABB3BF"/>
                </a:solidFill>
                <a:latin typeface="Calibri"/>
              </a:rPr>
              <a:t>→ .sttm.xlsx · contract.v2 · report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54296" y="396849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spc="100">
                <a:solidFill>
                  <a:srgbClr val="8F99A8"/>
                </a:solidFill>
                <a:latin typeface="Courier New"/>
              </a:rPr>
              <a:t>gate · computed in code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08775" y="3931920"/>
            <a:ext cx="449884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04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6208775" y="3973068"/>
            <a:ext cx="4498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spc="100">
                <a:solidFill>
                  <a:srgbClr val="32A467"/>
                </a:solidFill>
                <a:latin typeface="Courier New"/>
              </a:rPr>
              <a:t>PASS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50100" y="3931920"/>
            <a:ext cx="1133856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04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TextBox 70"/>
          <p:cNvSpPr txBox="1"/>
          <p:nvPr/>
        </p:nvSpPr>
        <p:spPr>
          <a:xfrm>
            <a:off x="6750100" y="3973068"/>
            <a:ext cx="11338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spc="100">
                <a:solidFill>
                  <a:srgbClr val="F0B726"/>
                </a:solidFill>
                <a:latin typeface="Courier New"/>
              </a:rPr>
              <a:t>PASS_WITH_FLAGS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975396" y="3931920"/>
            <a:ext cx="449884" cy="219456"/>
          </a:xfrm>
          <a:prstGeom prst="roundRect">
            <a:avLst>
              <a:gd name="adj" fmla="val 50000"/>
            </a:avLst>
          </a:prstGeom>
          <a:noFill/>
          <a:ln w="7620">
            <a:solidFill>
              <a:srgbClr val="4048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7975396" y="3973068"/>
            <a:ext cx="4498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 spc="100">
                <a:solidFill>
                  <a:srgbClr val="E76A6E"/>
                </a:solidFill>
                <a:latin typeface="Courier New"/>
              </a:rPr>
              <a:t>FAIL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654296" y="4242816"/>
            <a:ext cx="37947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F6F7F9"/>
                </a:solidFill>
                <a:latin typeface="Calibri"/>
              </a:rPr>
              <a:t>grounding is the quality gate</a:t>
            </a:r>
            <a:r>
              <a:rPr sz="730" b="0" i="0">
                <a:solidFill>
                  <a:srgbClr val="ABB3BF"/>
                </a:solidFill>
                <a:latin typeface="Calibri"/>
              </a:rPr>
              <a:t> — a strict field the FRD does not contain verbatim fails the run; prose below the overlap threshold is flagged for review; nothing is relaxed to make a run pass. In 04, human resolutions apply first, the automatic cross-check second; every non-application is recorded with a reason.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878824" y="1481328"/>
            <a:ext cx="1481328" cy="32461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9020556" y="1641348"/>
            <a:ext cx="82296" cy="82296"/>
          </a:xfrm>
          <a:prstGeom prst="ellipse">
            <a:avLst/>
          </a:prstGeom>
          <a:solidFill>
            <a:srgbClr val="F0B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80576" y="1581912"/>
            <a:ext cx="10424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6F7F9"/>
                </a:solidFill>
                <a:latin typeface="Calibri"/>
              </a:rPr>
              <a:t>Review App</a:t>
            </a:r>
          </a:p>
        </p:txBody>
      </p:sp>
      <p:pic>
        <p:nvPicPr>
          <p:cNvPr id="78" name="Picture 77" descr="u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6104" y="1591056"/>
            <a:ext cx="237744" cy="23774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9043416" y="1865376"/>
            <a:ext cx="1207008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68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80" b="1" i="0">
                <a:solidFill>
                  <a:srgbClr val="F0B726"/>
                </a:solidFill>
                <a:latin typeface="Calibri"/>
              </a:rPr>
              <a:t>pick</a:t>
            </a:r>
            <a:r>
              <a:rPr sz="780" b="0" i="0">
                <a:solidFill>
                  <a:srgbClr val="ABB3BF"/>
                </a:solidFill>
                <a:latin typeface="Calibri"/>
              </a:rPr>
              <a:t> — unmapped FRDs → Generate (billed, confirm-gated); mapped FRDs → view approved STTM, or regenerate-anyway with auto golden-pair eval</a:t>
            </a:r>
          </a:p>
          <a:p>
            <a:pPr algn="l">
              <a:lnSpc>
                <a:spcPct val="108000"/>
              </a:lnSpc>
            </a:pPr>
            <a:r>
              <a:rPr sz="68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80" b="1" i="0">
                <a:solidFill>
                  <a:srgbClr val="F0B726"/>
                </a:solidFill>
                <a:latin typeface="Calibri"/>
              </a:rPr>
              <a:t>resolve</a:t>
            </a:r>
            <a:r>
              <a:rPr sz="780" b="0" i="0">
                <a:solidFill>
                  <a:srgbClr val="ABB3BF"/>
                </a:solidFill>
                <a:latin typeface="Calibri"/>
              </a:rPr>
              <a:t> — every gated item as a card: candidate pick · none of these · free text</a:t>
            </a:r>
          </a:p>
          <a:p>
            <a:pPr algn="l">
              <a:lnSpc>
                <a:spcPct val="108000"/>
              </a:lnSpc>
            </a:pPr>
            <a:r>
              <a:rPr sz="68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80" b="1" i="0">
                <a:solidFill>
                  <a:srgbClr val="F0B726"/>
                </a:solidFill>
                <a:latin typeface="Calibri"/>
              </a:rPr>
              <a:t>re-render</a:t>
            </a:r>
            <a:r>
              <a:rPr sz="780" b="0" i="0">
                <a:solidFill>
                  <a:srgbClr val="ABB3BF"/>
                </a:solidFill>
                <a:latin typeface="Calibri"/>
              </a:rPr>
              <a:t> — stage 04 only; nothing re-extracted, nothing billed</a:t>
            </a:r>
          </a:p>
          <a:p>
            <a:pPr algn="l">
              <a:lnSpc>
                <a:spcPct val="108000"/>
              </a:lnSpc>
            </a:pPr>
            <a:r>
              <a:rPr sz="680" b="0" i="0">
                <a:solidFill>
                  <a:srgbClr val="404854"/>
                </a:solidFill>
                <a:latin typeface="Calibri"/>
              </a:rPr>
              <a:t>▸ </a:t>
            </a:r>
            <a:r>
              <a:rPr sz="780" b="1" i="0">
                <a:solidFill>
                  <a:srgbClr val="F0B726"/>
                </a:solidFill>
                <a:latin typeface="Calibri"/>
              </a:rPr>
              <a:t>approve</a:t>
            </a:r>
            <a:r>
              <a:rPr sz="780" b="0" i="0">
                <a:solidFill>
                  <a:srgbClr val="ABB3BF"/>
                </a:solidFill>
                <a:latin typeface="Calibri"/>
              </a:rPr>
              <a:t> — download, last edits, upload to the STTM folder; next sync pairs it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043416" y="4160520"/>
            <a:ext cx="1152144" cy="384048"/>
          </a:xfrm>
          <a:prstGeom prst="roundRect">
            <a:avLst>
              <a:gd name="adj" fmla="val 6000"/>
            </a:avLst>
          </a:prstGeom>
          <a:solidFill>
            <a:srgbClr val="252A31"/>
          </a:solidFill>
          <a:ln w="9525">
            <a:solidFill>
              <a:srgbClr val="8661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9116568" y="4206240"/>
            <a:ext cx="10241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" b="1" i="0">
                <a:solidFill>
                  <a:srgbClr val="F0B726"/>
                </a:solidFill>
                <a:latin typeface="Calibri"/>
              </a:rPr>
              <a:t>no publish button exists</a:t>
            </a:r>
          </a:p>
          <a:p>
            <a:pPr algn="l">
              <a:lnSpc>
                <a:spcPct val="100000"/>
              </a:lnSpc>
            </a:pPr>
            <a:r>
              <a:rPr sz="720" b="0" i="0">
                <a:solidFill>
                  <a:srgbClr val="ABB3BF"/>
                </a:solidFill>
                <a:latin typeface="Calibri"/>
              </a:rPr>
              <a:t>the hand-off is a person, by design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88752" y="1481328"/>
            <a:ext cx="1097280" cy="3246120"/>
          </a:xfrm>
          <a:prstGeom prst="roundRect">
            <a:avLst>
              <a:gd name="adj" fmla="val 3500"/>
            </a:avLst>
          </a:prstGeom>
          <a:solidFill>
            <a:srgbClr val="1C2127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10712196" y="1641348"/>
            <a:ext cx="82296" cy="82296"/>
          </a:xfrm>
          <a:prstGeom prst="ellipse">
            <a:avLst/>
          </a:prstGeom>
          <a:solidFill>
            <a:srgbClr val="988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863072" y="1581912"/>
            <a:ext cx="777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F6F7F9"/>
                </a:solidFill>
                <a:latin typeface="Calibri"/>
              </a:rPr>
              <a:t>Outputs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0680192" y="1938528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6" name="Picture 85" descr="she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35056" y="2066544"/>
            <a:ext cx="182880" cy="18288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10954512" y="199339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 i="0">
                <a:solidFill>
                  <a:srgbClr val="F6F7F9"/>
                </a:solidFill>
                <a:latin typeface="Calibri"/>
              </a:rPr>
              <a:t>STTM workbook</a:t>
            </a:r>
          </a:p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F99A8"/>
                </a:solidFill>
                <a:latin typeface="Calibri"/>
              </a:rPr>
              <a:t>.xlsx · client dialect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1137392" y="2395728"/>
            <a:ext cx="0" cy="91440"/>
          </a:xfrm>
          <a:prstGeom prst="line">
            <a:avLst/>
          </a:prstGeom>
          <a:ln w="9525">
            <a:solidFill>
              <a:srgbClr val="5F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10680192" y="2487168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52A31"/>
          </a:solidFill>
          <a:ln w="9525">
            <a:solidFill>
              <a:srgbClr val="383E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0" name="Picture 89" descr="bra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35056" y="2615184"/>
            <a:ext cx="182880" cy="18288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10954512" y="254203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 i="0">
                <a:solidFill>
                  <a:srgbClr val="F6F7F9"/>
                </a:solidFill>
                <a:latin typeface="Calibri"/>
              </a:rPr>
              <a:t>Feed contract</a:t>
            </a:r>
          </a:p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F99A8"/>
                </a:solidFill>
                <a:latin typeface="Calibri"/>
              </a:rPr>
              <a:t>contract.json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11137392" y="2944368"/>
            <a:ext cx="0" cy="9144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10680192" y="3035808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52A31"/>
          </a:solidFill>
          <a:ln w="9525">
            <a:solidFill>
              <a:srgbClr val="634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4" name="Picture 93" descr="brac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35056" y="3163824"/>
            <a:ext cx="182880" cy="182880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10954512" y="309067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 i="0">
                <a:solidFill>
                  <a:srgbClr val="F6F7F9"/>
                </a:solidFill>
                <a:latin typeface="Calibri"/>
              </a:rPr>
              <a:t>Mapping contract</a:t>
            </a:r>
          </a:p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F99A8"/>
                </a:solidFill>
                <a:latin typeface="Calibri"/>
              </a:rPr>
              <a:t>via extract-sttm</a:t>
            </a:r>
          </a:p>
        </p:txBody>
      </p:sp>
      <p:cxnSp>
        <p:nvCxnSpPr>
          <p:cNvPr id="96" name="Connector 95"/>
          <p:cNvCxnSpPr/>
          <p:nvPr/>
        </p:nvCxnSpPr>
        <p:spPr>
          <a:xfrm>
            <a:off x="11137392" y="3493008"/>
            <a:ext cx="0" cy="9144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Rounded Rectangle 96"/>
          <p:cNvSpPr/>
          <p:nvPr/>
        </p:nvSpPr>
        <p:spPr>
          <a:xfrm>
            <a:off x="10680192" y="3584448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52A31"/>
          </a:solidFill>
          <a:ln w="9525">
            <a:solidFill>
              <a:srgbClr val="634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8" name="Picture 97" descr="co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35056" y="3712464"/>
            <a:ext cx="182880" cy="18288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10954512" y="363931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 i="0">
                <a:solidFill>
                  <a:srgbClr val="F6F7F9"/>
                </a:solidFill>
                <a:latin typeface="Calibri"/>
              </a:rPr>
              <a:t>CodeGen</a:t>
            </a:r>
          </a:p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F99A8"/>
                </a:solidFill>
                <a:latin typeface="Calibri"/>
              </a:rPr>
              <a:t>agent 02 / 03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11137392" y="4041648"/>
            <a:ext cx="0" cy="91440"/>
          </a:xfrm>
          <a:prstGeom prst="line">
            <a:avLst/>
          </a:prstGeom>
          <a:ln w="9525">
            <a:solidFill>
              <a:srgbClr val="5F6B7C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10680192" y="4133088"/>
            <a:ext cx="914400" cy="457200"/>
          </a:xfrm>
          <a:prstGeom prst="roundRect">
            <a:avLst>
              <a:gd name="adj" fmla="val 8000"/>
            </a:avLst>
          </a:prstGeom>
          <a:solidFill>
            <a:srgbClr val="252A31"/>
          </a:solidFill>
          <a:ln w="9525">
            <a:solidFill>
              <a:srgbClr val="634D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2" name="Picture 101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735056" y="4261104"/>
            <a:ext cx="182880" cy="18288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10954512" y="4187952"/>
            <a:ext cx="640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" b="1" i="0">
                <a:solidFill>
                  <a:srgbClr val="F6F7F9"/>
                </a:solidFill>
                <a:latin typeface="Calibri"/>
              </a:rPr>
              <a:t>Code Review</a:t>
            </a:r>
          </a:p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F99A8"/>
                </a:solidFill>
                <a:latin typeface="Calibri"/>
              </a:rPr>
              <a:t>agent 03 / 03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2240280" y="2715768"/>
            <a:ext cx="246888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4224528" y="2715768"/>
            <a:ext cx="246888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8631936" y="2715768"/>
            <a:ext cx="246888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106"/>
          <p:cNvCxnSpPr/>
          <p:nvPr/>
        </p:nvCxnSpPr>
        <p:spPr>
          <a:xfrm>
            <a:off x="10360152" y="2715768"/>
            <a:ext cx="228600" cy="0"/>
          </a:xfrm>
          <a:prstGeom prst="line">
            <a:avLst/>
          </a:prstGeom>
          <a:ln w="12700">
            <a:solidFill>
              <a:srgbClr val="7380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/>
          <p:cNvSpPr txBox="1"/>
          <p:nvPr/>
        </p:nvSpPr>
        <p:spPr>
          <a:xfrm>
            <a:off x="2258568" y="2514600"/>
            <a:ext cx="210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738091"/>
                </a:solidFill>
                <a:latin typeface="Courier New"/>
              </a:rPr>
              <a:t>read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42816" y="2514600"/>
            <a:ext cx="2103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738091"/>
                </a:solidFill>
                <a:latin typeface="Courier New"/>
              </a:rPr>
              <a:t>frd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650224" y="2514600"/>
            <a:ext cx="2103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738091"/>
                </a:solidFill>
                <a:latin typeface="Courier New"/>
              </a:rPr>
              <a:t>gated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78440" y="2514600"/>
            <a:ext cx="19202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50" b="0" i="0">
                <a:solidFill>
                  <a:srgbClr val="738091"/>
                </a:solidFill>
                <a:latin typeface="Courier New"/>
              </a:rPr>
              <a:t>ok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9336024" y="4727448"/>
            <a:ext cx="0" cy="118872"/>
          </a:xfrm>
          <a:prstGeom prst="line">
            <a:avLst/>
          </a:prstGeom>
          <a:ln w="12700">
            <a:solidFill>
              <a:srgbClr val="86610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 flipH="1">
            <a:off x="960120" y="4846320"/>
            <a:ext cx="8375904" cy="0"/>
          </a:xfrm>
          <a:prstGeom prst="line">
            <a:avLst/>
          </a:prstGeom>
          <a:ln w="12700">
            <a:solidFill>
              <a:srgbClr val="86610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/>
          <p:cNvCxnSpPr/>
          <p:nvPr/>
        </p:nvCxnSpPr>
        <p:spPr>
          <a:xfrm flipV="1">
            <a:off x="960120" y="4727448"/>
            <a:ext cx="0" cy="118872"/>
          </a:xfrm>
          <a:prstGeom prst="line">
            <a:avLst/>
          </a:prstGeom>
          <a:ln w="12700">
            <a:solidFill>
              <a:srgbClr val="866103"/>
            </a:solidFill>
            <a:prstDash val="dash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/>
          <p:cNvSpPr txBox="1"/>
          <p:nvPr/>
        </p:nvSpPr>
        <p:spPr>
          <a:xfrm>
            <a:off x="3017520" y="4873752"/>
            <a:ext cx="6949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680" b="0" i="0">
                <a:solidFill>
                  <a:srgbClr val="F0B726"/>
                </a:solidFill>
                <a:latin typeface="Courier New"/>
              </a:rPr>
              <a:t>reviewer uploads the approved STTM  →  the next sync pulls it back and pairs it  →  it becomes a template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9701784" y="1426464"/>
            <a:ext cx="0" cy="54864"/>
          </a:xfrm>
          <a:prstGeom prst="line">
            <a:avLst/>
          </a:prstGeom>
          <a:ln w="6350">
            <a:solidFill>
              <a:srgbClr val="4048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2487168" y="5102352"/>
            <a:ext cx="7872984" cy="676656"/>
          </a:xfrm>
          <a:prstGeom prst="roundRect">
            <a:avLst>
              <a:gd name="adj" fmla="val 2000"/>
            </a:avLst>
          </a:prstGeom>
          <a:solidFill>
            <a:srgbClr val="1C2127"/>
          </a:solidFill>
          <a:ln w="9525">
            <a:solidFill>
              <a:srgbClr val="215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2628900" y="5244084"/>
            <a:ext cx="82296" cy="82296"/>
          </a:xfrm>
          <a:prstGeom prst="ellipse">
            <a:avLst/>
          </a:prstGeom>
          <a:solidFill>
            <a:srgbClr val="4C9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88920" y="519379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6F7F9"/>
                </a:solidFill>
                <a:latin typeface="Calibri"/>
              </a:rPr>
              <a:t>Unity Catalog</a:t>
            </a:r>
            <a:r>
              <a:rPr sz="750" b="0" i="0">
                <a:solidFill>
                  <a:srgbClr val="8F99A8"/>
                </a:solidFill>
                <a:latin typeface="Calibri"/>
              </a:rPr>
              <a:t>  working store · the app mirrors it, never owns it</a:t>
            </a:r>
          </a:p>
        </p:txBody>
      </p:sp>
      <p:pic>
        <p:nvPicPr>
          <p:cNvPr id="120" name="Picture 119" descr="databas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48672" y="5212080"/>
            <a:ext cx="219456" cy="219456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2670048" y="5431536"/>
            <a:ext cx="17670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4C90F0"/>
                </a:solidFill>
                <a:latin typeface="Courier New"/>
              </a:rPr>
              <a:t>volume  frd_raw</a:t>
            </a:r>
          </a:p>
          <a:p>
            <a:pPr algn="l">
              <a:lnSpc>
                <a:spcPct val="100000"/>
              </a:lnSpc>
            </a:pPr>
            <a:r>
              <a:rPr sz="680" b="0" i="0">
                <a:solidFill>
                  <a:srgbClr val="ABB3BF"/>
                </a:solidFill>
                <a:latin typeface="Calibri"/>
              </a:rPr>
              <a:t>source FRDs — the sync lands them here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546854" y="5431536"/>
            <a:ext cx="17670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4C90F0"/>
                </a:solidFill>
                <a:latin typeface="Courier New"/>
              </a:rPr>
              <a:t>volume  sttm_reference</a:t>
            </a:r>
          </a:p>
          <a:p>
            <a:pPr algn="l">
              <a:lnSpc>
                <a:spcPct val="100000"/>
              </a:lnSpc>
            </a:pPr>
            <a:r>
              <a:rPr sz="680" b="0" i="0">
                <a:solidFill>
                  <a:srgbClr val="ABB3BF"/>
                </a:solidFill>
                <a:latin typeface="Calibri"/>
              </a:rPr>
              <a:t>approved STTMs · corpus_index.json · sync_manifest.json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423660" y="5431536"/>
            <a:ext cx="17670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4C90F0"/>
                </a:solidFill>
                <a:latin typeface="Courier New"/>
              </a:rPr>
              <a:t>volume  sttm_out_app/&lt;run&gt;</a:t>
            </a:r>
          </a:p>
          <a:p>
            <a:pPr algn="l">
              <a:lnSpc>
                <a:spcPct val="100000"/>
              </a:lnSpc>
            </a:pPr>
            <a:r>
              <a:rPr sz="680" b="0" i="0">
                <a:solidFill>
                  <a:srgbClr val="ABB3BF"/>
                </a:solidFill>
                <a:latin typeface="Calibri"/>
              </a:rPr>
              <a:t>extractions · contracts · rendered · reports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0466" y="5431536"/>
            <a:ext cx="176707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 i="0">
                <a:solidFill>
                  <a:srgbClr val="4C90F0"/>
                </a:solidFill>
                <a:latin typeface="Courier New"/>
              </a:rPr>
              <a:t>delta  frd_documents · frd_contracts · frd_sttm_runs</a:t>
            </a:r>
          </a:p>
          <a:p>
            <a:pPr algn="l">
              <a:lnSpc>
                <a:spcPct val="100000"/>
              </a:lnSpc>
            </a:pPr>
            <a:r>
              <a:rPr sz="680" b="0" i="0">
                <a:solidFill>
                  <a:srgbClr val="ABB3BF"/>
                </a:solidFill>
                <a:latin typeface="Calibri"/>
              </a:rPr>
              <a:t>stage summaries per run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502920" y="5943600"/>
            <a:ext cx="11185855" cy="0"/>
          </a:xfrm>
          <a:prstGeom prst="line">
            <a:avLst/>
          </a:prstGeom>
          <a:ln w="6350">
            <a:solidFill>
              <a:srgbClr val="383E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/>
          <p:cNvSpPr txBox="1"/>
          <p:nvPr/>
        </p:nvSpPr>
        <p:spPr>
          <a:xfrm>
            <a:off x="502920" y="603504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3FA6DA"/>
                </a:solidFill>
                <a:latin typeface="Calibri"/>
              </a:rPr>
              <a:t>the model proposes</a:t>
            </a:r>
            <a:r>
              <a:rPr sz="900" b="0" i="0">
                <a:solidFill>
                  <a:srgbClr val="404854"/>
                </a:solidFill>
                <a:latin typeface="Calibri"/>
              </a:rPr>
              <a:t>   ·   </a:t>
            </a:r>
            <a:r>
              <a:rPr sz="900" b="1" i="0">
                <a:solidFill>
                  <a:srgbClr val="13C9BA"/>
                </a:solidFill>
                <a:latin typeface="Calibri"/>
              </a:rPr>
              <a:t>deterministic code audits and decides</a:t>
            </a:r>
            <a:r>
              <a:rPr sz="900" b="0" i="0">
                <a:solidFill>
                  <a:srgbClr val="404854"/>
                </a:solidFill>
                <a:latin typeface="Calibri"/>
              </a:rPr>
              <a:t>   ·   </a:t>
            </a:r>
            <a:r>
              <a:rPr sz="900" b="1" i="0">
                <a:solidFill>
                  <a:srgbClr val="F0B726"/>
                </a:solidFill>
                <a:latin typeface="Calibri"/>
              </a:rPr>
              <a:t>a person resolves</a:t>
            </a:r>
          </a:p>
          <a:p>
            <a:pPr algn="l">
              <a:lnSpc>
                <a:spcPct val="110000"/>
              </a:lnSpc>
            </a:pPr>
            <a:r>
              <a:rPr sz="750" b="0" i="0">
                <a:solidFill>
                  <a:srgbClr val="ABB3BF"/>
                </a:solidFill>
                <a:latin typeface="Calibri"/>
              </a:rPr>
              <a:t>Grounding checks, gate status, pairing verdicts, template mode and eval percentages are all computed in code; the model makes exactly one call per document. Fail loud in both directions — no silent mock, no silent live, no fallback to a stale copy.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903720" y="603504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spc="140">
                <a:solidFill>
                  <a:srgbClr val="738091"/>
                </a:solidFill>
                <a:latin typeface="Courier New"/>
              </a:rPr>
              <a:t>legend</a:t>
            </a:r>
          </a:p>
        </p:txBody>
      </p:sp>
      <p:sp>
        <p:nvSpPr>
          <p:cNvPr id="128" name="Oval 127"/>
          <p:cNvSpPr/>
          <p:nvPr/>
        </p:nvSpPr>
        <p:spPr>
          <a:xfrm>
            <a:off x="7552944" y="6089904"/>
            <a:ext cx="73152" cy="73152"/>
          </a:xfrm>
          <a:prstGeom prst="ellipse">
            <a:avLst/>
          </a:prstGeom>
          <a:solidFill>
            <a:srgbClr val="3FA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690104" y="605332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ABB3BF"/>
                </a:solidFill>
                <a:latin typeface="Calibri"/>
              </a:rPr>
              <a:t>LLM</a:t>
            </a:r>
          </a:p>
        </p:txBody>
      </p:sp>
      <p:sp>
        <p:nvSpPr>
          <p:cNvPr id="130" name="Oval 129"/>
          <p:cNvSpPr/>
          <p:nvPr/>
        </p:nvSpPr>
        <p:spPr>
          <a:xfrm>
            <a:off x="8970264" y="6089904"/>
            <a:ext cx="73152" cy="73152"/>
          </a:xfrm>
          <a:prstGeom prst="ellipse">
            <a:avLst/>
          </a:prstGeom>
          <a:solidFill>
            <a:srgbClr val="13C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107424" y="605332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ABB3BF"/>
                </a:solidFill>
                <a:latin typeface="Calibri"/>
              </a:rPr>
              <a:t>deterministic code</a:t>
            </a:r>
          </a:p>
        </p:txBody>
      </p:sp>
      <p:sp>
        <p:nvSpPr>
          <p:cNvPr id="132" name="Oval 131"/>
          <p:cNvSpPr/>
          <p:nvPr/>
        </p:nvSpPr>
        <p:spPr>
          <a:xfrm>
            <a:off x="10387584" y="6089904"/>
            <a:ext cx="73152" cy="73152"/>
          </a:xfrm>
          <a:prstGeom prst="ellipse">
            <a:avLst/>
          </a:prstGeom>
          <a:solidFill>
            <a:srgbClr val="F0B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524744" y="605332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ABB3BF"/>
                </a:solidFill>
                <a:latin typeface="Calibri"/>
              </a:rPr>
              <a:t>human</a:t>
            </a:r>
          </a:p>
        </p:txBody>
      </p:sp>
      <p:sp>
        <p:nvSpPr>
          <p:cNvPr id="134" name="Oval 133"/>
          <p:cNvSpPr/>
          <p:nvPr/>
        </p:nvSpPr>
        <p:spPr>
          <a:xfrm>
            <a:off x="7552944" y="6291072"/>
            <a:ext cx="73152" cy="73152"/>
          </a:xfrm>
          <a:prstGeom prst="ellipse">
            <a:avLst/>
          </a:prstGeom>
          <a:solidFill>
            <a:srgbClr val="988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7690104" y="62544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ABB3BF"/>
                </a:solidFill>
                <a:latin typeface="Calibri"/>
              </a:rPr>
              <a:t>external system</a:t>
            </a:r>
          </a:p>
        </p:txBody>
      </p:sp>
      <p:sp>
        <p:nvSpPr>
          <p:cNvPr id="136" name="Oval 135"/>
          <p:cNvSpPr/>
          <p:nvPr/>
        </p:nvSpPr>
        <p:spPr>
          <a:xfrm>
            <a:off x="8970264" y="6291072"/>
            <a:ext cx="73152" cy="73152"/>
          </a:xfrm>
          <a:prstGeom prst="ellipse">
            <a:avLst/>
          </a:prstGeom>
          <a:solidFill>
            <a:srgbClr val="4C9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107424" y="62544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>
                <a:solidFill>
                  <a:srgbClr val="ABB3BF"/>
                </a:solidFill>
                <a:latin typeface="Calibri"/>
              </a:rPr>
              <a:t>storage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619695" y="6510528"/>
            <a:ext cx="4069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650" b="0" i="0">
                <a:solidFill>
                  <a:srgbClr val="5F6B7C"/>
                </a:solidFill>
                <a:latin typeface="Courier New"/>
              </a:rPr>
              <a:t>staging · 2026-08-22 · verified offline · live deploy pending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