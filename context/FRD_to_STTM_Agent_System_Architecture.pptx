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384048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160">
                <a:solidFill>
                  <a:srgbClr val="738091"/>
                </a:solidFill>
                <a:latin typeface="Courier New"/>
              </a:rPr>
              <a:t>HEXAWARE  ·  AMERIHEALTH CARITAS  ·  AI-IN-ENGINEERING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FRD → STTM Agent</a:t>
            </a:r>
            <a:r>
              <a:rPr sz="1500" b="0">
                <a:solidFill>
                  <a:srgbClr val="8F99A8"/>
                </a:solidFill>
                <a:latin typeface="Calibri"/>
              </a:rPr>
              <a:t> 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0607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BB3BF"/>
                </a:solidFill>
                <a:latin typeface="Calibri"/>
              </a:rPr>
              <a:t>An approved requirements document becomes an audited source-to-target mapping — every fact checked against the source text, every ambiguity routed to a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6329" y="640080"/>
            <a:ext cx="1828800" cy="237744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634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66329" y="6903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100">
                <a:solidFill>
                  <a:srgbClr val="9881F3"/>
                </a:solidFill>
                <a:latin typeface="Courier New"/>
              </a:rPr>
              <a:t>READ-ONLY SHAREPOINT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86569" y="640080"/>
            <a:ext cx="2056485" cy="237744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0F6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86569" y="690372"/>
            <a:ext cx="205648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100">
                <a:solidFill>
                  <a:srgbClr val="3FA6DA"/>
                </a:solidFill>
                <a:latin typeface="Courier New"/>
              </a:rPr>
              <a:t>1 MODEL CALL /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42224" y="950976"/>
            <a:ext cx="2208276" cy="237744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007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42224" y="1001268"/>
            <a:ext cx="220827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100">
                <a:solidFill>
                  <a:srgbClr val="13C9BA"/>
                </a:solidFill>
                <a:latin typeface="Courier New"/>
              </a:rPr>
              <a:t>VERDICTS COMPUTED IN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41940" y="950976"/>
            <a:ext cx="1601114" cy="237744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8661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41940" y="1001268"/>
            <a:ext cx="160111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100">
                <a:solidFill>
                  <a:srgbClr val="F0B726"/>
                </a:solidFill>
                <a:latin typeface="Courier New"/>
              </a:rPr>
              <a:t>HUMAN IN THE 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1691640"/>
            <a:ext cx="1874519" cy="1783080"/>
          </a:xfrm>
          <a:prstGeom prst="roundRect">
            <a:avLst>
              <a:gd name="adj" fmla="val 4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22375" y="1892808"/>
            <a:ext cx="91440" cy="91440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1847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40">
                <a:solidFill>
                  <a:srgbClr val="9881F3"/>
                </a:solidFill>
                <a:latin typeface="Courier New"/>
              </a:rPr>
              <a:t>SRC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2075688"/>
            <a:ext cx="1234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7F9"/>
                </a:solidFill>
                <a:latin typeface="Calibri"/>
              </a:rPr>
              <a:t>SharePoint library</a:t>
            </a:r>
          </a:p>
        </p:txBody>
      </p:sp>
      <p:pic>
        <p:nvPicPr>
          <p:cNvPr id="26" name="Picture 25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1847088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9808" y="2404872"/>
            <a:ext cx="150876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ABB3BF"/>
                </a:solidFill>
                <a:latin typeface="Calibri"/>
              </a:rPr>
              <a:t>System of record. FRDs in, approved STTMs back. The agent only ever reads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1691640"/>
            <a:ext cx="1874519" cy="1783080"/>
          </a:xfrm>
          <a:prstGeom prst="roundRect">
            <a:avLst>
              <a:gd name="adj" fmla="val 4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916936" y="1892808"/>
            <a:ext cx="91440" cy="91440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1847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40">
                <a:solidFill>
                  <a:srgbClr val="13C9BA"/>
                </a:solidFill>
                <a:latin typeface="Courier New"/>
              </a:rPr>
              <a:t>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2075688"/>
            <a:ext cx="1234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7F9"/>
                </a:solidFill>
                <a:latin typeface="Calibri"/>
              </a:rPr>
              <a:t>Scheduled sync</a:t>
            </a:r>
          </a:p>
        </p:txBody>
      </p:sp>
      <p:pic>
        <p:nvPicPr>
          <p:cNvPr id="32" name="Picture 31" descr="refre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1" y="1847088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44368" y="2404872"/>
            <a:ext cx="150876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ABB3BF"/>
                </a:solidFill>
                <a:latin typeface="Calibri"/>
              </a:rPr>
              <a:t>Every 15 min, incremental. Pairs each FRD with its STTM and indexes the corpus in Unity Catalog. Zero model calls.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0" y="1691640"/>
            <a:ext cx="2880360" cy="1783080"/>
          </a:xfrm>
          <a:prstGeom prst="roundRect">
            <a:avLst>
              <a:gd name="adj" fmla="val 4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111496" y="1892808"/>
            <a:ext cx="91440" cy="91440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0" y="1847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40">
                <a:solidFill>
                  <a:srgbClr val="13C9BA"/>
                </a:solidFill>
                <a:latin typeface="Courier New"/>
              </a:rPr>
              <a:t>01-04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928" y="20756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7F9"/>
                </a:solidFill>
                <a:latin typeface="Calibri"/>
              </a:rPr>
              <a:t>Generation job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8928" y="2404872"/>
            <a:ext cx="251460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ABB3BF"/>
                </a:solidFill>
                <a:latin typeface="Calibri"/>
              </a:rPr>
              <a:t>Four stages on Databricks. Extract is the single Claude call; parse, audit, gate and render are code.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1691640"/>
            <a:ext cx="1874519" cy="1783080"/>
          </a:xfrm>
          <a:prstGeom prst="roundRect">
            <a:avLst>
              <a:gd name="adj" fmla="val 4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311896" y="1892808"/>
            <a:ext cx="91440" cy="91440"/>
          </a:xfrm>
          <a:prstGeom prst="ellipse">
            <a:avLst/>
          </a:prstGeom>
          <a:solidFill>
            <a:srgbClr val="F0B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1847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40">
                <a:solidFill>
                  <a:srgbClr val="F0B726"/>
                </a:solidFill>
                <a:latin typeface="Courier New"/>
              </a:rPr>
              <a:t>HITL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2075688"/>
            <a:ext cx="1234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7F9"/>
                </a:solidFill>
                <a:latin typeface="Calibri"/>
              </a:rPr>
              <a:t>Review app</a:t>
            </a:r>
          </a:p>
        </p:txBody>
      </p:sp>
      <p:pic>
        <p:nvPicPr>
          <p:cNvPr id="43" name="Picture 42" descr="u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2" y="1847088"/>
            <a:ext cx="274320" cy="2743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339328" y="2404872"/>
            <a:ext cx="150876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ABB3BF"/>
                </a:solidFill>
                <a:latin typeface="Calibri"/>
              </a:rPr>
              <a:t>Pick an FRD, run, answer what the agent could not settle, re-render — then upload the approved STTM yourself.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32720" y="1691640"/>
            <a:ext cx="1325880" cy="1783080"/>
          </a:xfrm>
          <a:prstGeom prst="roundRect">
            <a:avLst>
              <a:gd name="adj" fmla="val 4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0506456" y="1892808"/>
            <a:ext cx="91440" cy="91440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98480" y="1847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40">
                <a:solidFill>
                  <a:srgbClr val="9881F3"/>
                </a:solidFill>
                <a:latin typeface="Courier New"/>
              </a:rPr>
              <a:t>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33888" y="20756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7F9"/>
                </a:solidFill>
                <a:latin typeface="Calibri"/>
              </a:rPr>
              <a:t>Outputs</a:t>
            </a:r>
          </a:p>
        </p:txBody>
      </p:sp>
      <p:pic>
        <p:nvPicPr>
          <p:cNvPr id="49" name="Picture 48" descr="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83112" y="1847088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533888" y="2404872"/>
            <a:ext cx="960119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ABB3BF"/>
                </a:solidFill>
                <a:latin typeface="Calibri"/>
              </a:rPr>
              <a:t>STTM workbook + feed contract → CodeGen and Code Review agents.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38928" y="2907791"/>
            <a:ext cx="550926" cy="384048"/>
          </a:xfrm>
          <a:prstGeom prst="roundRect">
            <a:avLst>
              <a:gd name="adj" fmla="val 12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138928" y="2962656"/>
            <a:ext cx="55092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13C9BA"/>
                </a:solidFill>
                <a:latin typeface="Courier New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38928" y="3090672"/>
            <a:ext cx="55092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C5CBD3"/>
                </a:solidFill>
                <a:latin typeface="Calibri"/>
              </a:rPr>
              <a:t>Ingest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98998" y="3099815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5781294" y="2907791"/>
            <a:ext cx="550926" cy="384048"/>
          </a:xfrm>
          <a:prstGeom prst="roundRect">
            <a:avLst>
              <a:gd name="adj" fmla="val 12000"/>
            </a:avLst>
          </a:prstGeom>
          <a:solidFill>
            <a:srgbClr val="252A31"/>
          </a:solidFill>
          <a:ln w="9525">
            <a:solidFill>
              <a:srgbClr val="0F6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81294" y="2962656"/>
            <a:ext cx="55092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3FA6DA"/>
                </a:solidFill>
                <a:latin typeface="Courier New"/>
              </a:rPr>
              <a:t>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81294" y="3090672"/>
            <a:ext cx="55092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F6F7F9"/>
                </a:solidFill>
                <a:latin typeface="Calibri"/>
              </a:rPr>
              <a:t>Extract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41364" y="3099815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6423660" y="2907791"/>
            <a:ext cx="550926" cy="384048"/>
          </a:xfrm>
          <a:prstGeom prst="roundRect">
            <a:avLst>
              <a:gd name="adj" fmla="val 12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423660" y="2962656"/>
            <a:ext cx="55092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13C9BA"/>
                </a:solidFill>
                <a:latin typeface="Courier New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23660" y="3090672"/>
            <a:ext cx="55092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C5CBD3"/>
                </a:solidFill>
                <a:latin typeface="Calibri"/>
              </a:rPr>
              <a:t>Audit · gate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983730" y="3099815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7066026" y="2907791"/>
            <a:ext cx="550926" cy="384048"/>
          </a:xfrm>
          <a:prstGeom prst="roundRect">
            <a:avLst>
              <a:gd name="adj" fmla="val 12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066026" y="2962656"/>
            <a:ext cx="55092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13C9BA"/>
                </a:solidFill>
                <a:latin typeface="Courier New"/>
              </a:rPr>
              <a:t>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66026" y="3090672"/>
            <a:ext cx="55092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C5CBD3"/>
                </a:solidFill>
                <a:latin typeface="Calibri"/>
              </a:rPr>
              <a:t>Render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441448" y="2194560"/>
            <a:ext cx="283464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36007" y="2194560"/>
            <a:ext cx="283465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836408" y="2194560"/>
            <a:ext cx="283464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030967" y="2194560"/>
            <a:ext cx="283465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686800" y="3474720"/>
            <a:ext cx="0" cy="182880"/>
          </a:xfrm>
          <a:prstGeom prst="line">
            <a:avLst/>
          </a:prstGeom>
          <a:ln w="12700">
            <a:solidFill>
              <a:srgbClr val="86610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097280" y="3657600"/>
            <a:ext cx="7589520" cy="0"/>
          </a:xfrm>
          <a:prstGeom prst="line">
            <a:avLst/>
          </a:prstGeom>
          <a:ln w="12700">
            <a:solidFill>
              <a:srgbClr val="86610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097280" y="3493008"/>
            <a:ext cx="0" cy="164592"/>
          </a:xfrm>
          <a:prstGeom prst="line">
            <a:avLst/>
          </a:prstGeom>
          <a:ln w="12700">
            <a:solidFill>
              <a:srgbClr val="866103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103120" y="3703320"/>
            <a:ext cx="6583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F0B726"/>
                </a:solidFill>
                <a:latin typeface="Courier New"/>
              </a:rPr>
              <a:t>the reviewer uploads the approved STTM  →  the next sync pairs it  →  it becomes a template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8640" y="4069080"/>
            <a:ext cx="2606040" cy="1737360"/>
          </a:xfrm>
          <a:prstGeom prst="roundRect">
            <a:avLst>
              <a:gd name="adj" fmla="val 3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640080" y="4160520"/>
            <a:ext cx="2423160" cy="1170431"/>
          </a:xfrm>
          <a:prstGeom prst="roundRect">
            <a:avLst>
              <a:gd name="adj" fmla="val 2000"/>
            </a:avLst>
          </a:prstGeom>
          <a:solidFill>
            <a:srgbClr val="252A31"/>
          </a:solidFill>
          <a:ln w="9525">
            <a:solidFill>
              <a:srgbClr val="2F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6" name="Picture 75" descr="frd_p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730" y="4178808"/>
            <a:ext cx="2325858" cy="1133855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94944" y="5440679"/>
            <a:ext cx="73152" cy="73152"/>
          </a:xfrm>
          <a:prstGeom prst="ellipse">
            <a:avLst/>
          </a:prstGeom>
          <a:solidFill>
            <a:srgbClr val="3FA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0392" y="5394959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6F7F9"/>
                </a:solidFill>
                <a:latin typeface="Calibri"/>
              </a:rPr>
              <a:t>the FRD</a:t>
            </a:r>
            <a:r>
              <a:rPr sz="750" b="0">
                <a:solidFill>
                  <a:srgbClr val="738091"/>
                </a:solidFill>
                <a:latin typeface="Courier New"/>
              </a:rPr>
              <a:t>   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92" y="558698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F99A8"/>
                </a:solidFill>
                <a:latin typeface="Calibri"/>
              </a:rPr>
              <a:t>strict fields — paths, patterns, tables — must appear verbatim; underlined is what 03 checks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337560" y="4069080"/>
            <a:ext cx="2606040" cy="1737360"/>
          </a:xfrm>
          <a:prstGeom prst="roundRect">
            <a:avLst>
              <a:gd name="adj" fmla="val 3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unded Rectangle 80"/>
          <p:cNvSpPr/>
          <p:nvPr/>
        </p:nvSpPr>
        <p:spPr>
          <a:xfrm>
            <a:off x="3429000" y="4160520"/>
            <a:ext cx="2423160" cy="1170431"/>
          </a:xfrm>
          <a:prstGeom prst="roundRect">
            <a:avLst>
              <a:gd name="adj" fmla="val 2000"/>
            </a:avLst>
          </a:prstGeom>
          <a:solidFill>
            <a:srgbClr val="252A31"/>
          </a:solidFill>
          <a:ln w="9525">
            <a:solidFill>
              <a:srgbClr val="2F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2" name="Picture 81" descr="shot_pi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7288" y="4214200"/>
            <a:ext cx="2386584" cy="1063071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3483864" y="5440679"/>
            <a:ext cx="73152" cy="73152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39312" y="5394959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6F7F9"/>
                </a:solidFill>
                <a:latin typeface="Calibri"/>
              </a:rPr>
              <a:t>pick an FRD</a:t>
            </a:r>
            <a:r>
              <a:rPr sz="750" b="0">
                <a:solidFill>
                  <a:srgbClr val="738091"/>
                </a:solidFill>
                <a:latin typeface="Courier New"/>
              </a:rPr>
              <a:t>   app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39312" y="558698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F99A8"/>
                </a:solidFill>
                <a:latin typeface="Calibri"/>
              </a:rPr>
              <a:t>the corpus the sync landed: unmapped FRDs get Generate, mapped ones show their approved STTM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26480" y="4069080"/>
            <a:ext cx="2606040" cy="1737360"/>
          </a:xfrm>
          <a:prstGeom prst="roundRect">
            <a:avLst>
              <a:gd name="adj" fmla="val 3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6217920" y="4160520"/>
            <a:ext cx="2423160" cy="1170431"/>
          </a:xfrm>
          <a:prstGeom prst="roundRect">
            <a:avLst>
              <a:gd name="adj" fmla="val 2000"/>
            </a:avLst>
          </a:prstGeom>
          <a:solidFill>
            <a:srgbClr val="252A31"/>
          </a:solidFill>
          <a:ln w="9525">
            <a:solidFill>
              <a:srgbClr val="2F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8" name="Picture 87" descr="shot_revie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6208" y="4214200"/>
            <a:ext cx="2386584" cy="1063071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272784" y="5440679"/>
            <a:ext cx="73152" cy="73152"/>
          </a:xfrm>
          <a:prstGeom prst="ellipse">
            <a:avLst/>
          </a:prstGeom>
          <a:solidFill>
            <a:srgbClr val="F0B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28232" y="5394959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6F7F9"/>
                </a:solidFill>
                <a:latin typeface="Calibri"/>
              </a:rPr>
              <a:t>resolve what the agent could not</a:t>
            </a:r>
            <a:r>
              <a:rPr sz="750" b="0">
                <a:solidFill>
                  <a:srgbClr val="738091"/>
                </a:solidFill>
                <a:latin typeface="Courier New"/>
              </a:rPr>
              <a:t>   app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28232" y="558698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F99A8"/>
                </a:solidFill>
                <a:latin typeface="Calibri"/>
              </a:rPr>
              <a:t>gated questions answered in place; re-render is stage 04 only — nothing re-extracted or billed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915400" y="4069080"/>
            <a:ext cx="2743200" cy="1737360"/>
          </a:xfrm>
          <a:prstGeom prst="roundRect">
            <a:avLst>
              <a:gd name="adj" fmla="val 3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9006840" y="4160520"/>
            <a:ext cx="2560320" cy="1170431"/>
          </a:xfrm>
          <a:prstGeom prst="roundRect">
            <a:avLst>
              <a:gd name="adj" fmla="val 2000"/>
            </a:avLst>
          </a:prstGeom>
          <a:solidFill>
            <a:srgbClr val="252A31"/>
          </a:solidFill>
          <a:ln w="9525">
            <a:solidFill>
              <a:srgbClr val="2F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4" name="Picture 93" descr="sttm_shee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4070" y="4178808"/>
            <a:ext cx="2325858" cy="1133855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9061704" y="5440679"/>
            <a:ext cx="73152" cy="73152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17152" y="5394959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6F7F9"/>
                </a:solidFill>
                <a:latin typeface="Calibri"/>
              </a:rPr>
              <a:t>the STTM</a:t>
            </a:r>
            <a:r>
              <a:rPr sz="750" b="0">
                <a:solidFill>
                  <a:srgbClr val="738091"/>
                </a:solidFill>
                <a:latin typeface="Courier New"/>
              </a:rPr>
              <a:t>   out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17152" y="5586983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F99A8"/>
                </a:solidFill>
                <a:latin typeface="Calibri"/>
              </a:rPr>
              <a:t>client dialect, one sheet per table; the FRD rule sits in the Comment cell of the row it names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48640" y="6053328"/>
            <a:ext cx="11094415" cy="0"/>
          </a:xfrm>
          <a:prstGeom prst="line">
            <a:avLst/>
          </a:prstGeom>
          <a:ln w="6350">
            <a:solidFill>
              <a:srgbClr val="383E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548640" y="61630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FA6DA"/>
                </a:solidFill>
                <a:latin typeface="Calibri"/>
              </a:rPr>
              <a:t>the model proposes</a:t>
            </a:r>
            <a:r>
              <a:rPr sz="1100" b="0">
                <a:solidFill>
                  <a:srgbClr val="404854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13C9BA"/>
                </a:solidFill>
                <a:latin typeface="Calibri"/>
              </a:rPr>
              <a:t>deterministic code audits and decides</a:t>
            </a:r>
            <a:r>
              <a:rPr sz="1100" b="0">
                <a:solidFill>
                  <a:srgbClr val="404854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F0B726"/>
                </a:solidFill>
                <a:latin typeface="Calibri"/>
              </a:rPr>
              <a:t>a person resolves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" y="6437376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BB3BF"/>
                </a:solidFill>
                <a:latin typeface="Calibri"/>
              </a:rPr>
              <a:t>Grounding checks, gate status, pairing verdicts, template choice and eval scores are computed in code — never by the model. Fail loud: no silent mock, no silent live, no stale copies.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85455" y="620877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F6B7C"/>
                </a:solidFill>
                <a:latin typeface="Courier New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