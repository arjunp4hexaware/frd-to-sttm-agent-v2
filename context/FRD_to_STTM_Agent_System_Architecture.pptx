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210311" y="274320"/>
            <a:ext cx="128017" cy="0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74320" y="210311"/>
            <a:ext cx="0" cy="128017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53367" y="274320"/>
            <a:ext cx="128016" cy="0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917375" y="210311"/>
            <a:ext cx="0" cy="128017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10311" y="6583680"/>
            <a:ext cx="128017" cy="0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" y="6519672"/>
            <a:ext cx="0" cy="128016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853367" y="6583680"/>
            <a:ext cx="128016" cy="0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917375" y="6519672"/>
            <a:ext cx="0" cy="128016"/>
          </a:xfrm>
          <a:prstGeom prst="line">
            <a:avLst/>
          </a:prstGeom>
          <a:ln w="6350">
            <a:solidFill>
              <a:srgbClr val="C5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347472"/>
            <a:ext cx="8229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40">
                <a:solidFill>
                  <a:srgbClr val="5F6B7C"/>
                </a:solidFill>
                <a:latin typeface="Calibri"/>
              </a:rPr>
              <a:t>HEXAWARE  ·  AMERIHEALTH CARITAS  ·  AGENT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66928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11418"/>
                </a:solidFill>
                <a:latin typeface="Calibri"/>
              </a:rPr>
              <a:t>FRD → STTM Agent</a:t>
            </a:r>
            <a:r>
              <a:rPr sz="1500" b="0">
                <a:solidFill>
                  <a:srgbClr val="5F6B7C"/>
                </a:solidFill>
                <a:latin typeface="Calibri"/>
              </a:rPr>
              <a:t>    solution architecture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371600"/>
            <a:ext cx="11094415" cy="1024128"/>
          </a:xfrm>
          <a:prstGeom prst="roundRect">
            <a:avLst>
              <a:gd name="adj" fmla="val 2500"/>
            </a:avLst>
          </a:prstGeom>
          <a:solidFill>
            <a:srgbClr val="F6F7F9"/>
          </a:solidFill>
          <a:ln w="9525">
            <a:solidFill>
              <a:srgbClr val="D3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1481328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40">
                <a:solidFill>
                  <a:srgbClr val="5642A6"/>
                </a:solidFill>
                <a:latin typeface="Calibri"/>
              </a:rPr>
              <a:t>SYSTEM OF RECORD</a:t>
            </a:r>
          </a:p>
        </p:txBody>
      </p:sp>
      <p:pic>
        <p:nvPicPr>
          <p:cNvPr id="15" name="Picture 14" descr="share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43075"/>
            <a:ext cx="548640" cy="53721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463040" y="171907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C2127"/>
                </a:solidFill>
                <a:latin typeface="Calibri"/>
              </a:rPr>
              <a:t>Microsoft SharePoint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20116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F343C"/>
                </a:solidFill>
                <a:latin typeface="Calibri"/>
              </a:rPr>
              <a:t>The client's document library — the only place anything is authored or approved.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83479" y="1673352"/>
            <a:ext cx="2331720" cy="566928"/>
          </a:xfrm>
          <a:prstGeom prst="roundRect">
            <a:avLst>
              <a:gd name="adj" fmla="val 8000"/>
            </a:avLst>
          </a:prstGeom>
          <a:solidFill>
            <a:srgbClr val="EDEFF2"/>
          </a:solidFill>
          <a:ln w="9525">
            <a:solidFill>
              <a:srgbClr val="C5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wo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3207" y="1795145"/>
            <a:ext cx="347472" cy="32334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32119" y="1746504"/>
            <a:ext cx="16916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C2127"/>
                </a:solidFill>
                <a:latin typeface="Calibri"/>
              </a:rPr>
              <a:t>FRD  ·  .docx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2119" y="1965960"/>
            <a:ext cx="16916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F343C"/>
                </a:solidFill>
                <a:latin typeface="Calibri"/>
              </a:rPr>
              <a:t>input — approved requirements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79" y="1673352"/>
            <a:ext cx="2331720" cy="566928"/>
          </a:xfrm>
          <a:prstGeom prst="roundRect">
            <a:avLst>
              <a:gd name="adj" fmla="val 8000"/>
            </a:avLst>
          </a:prstGeom>
          <a:solidFill>
            <a:srgbClr val="EDEFF2"/>
          </a:solidFill>
          <a:ln w="9525">
            <a:solidFill>
              <a:srgbClr val="C5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exc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7807" y="1795145"/>
            <a:ext cx="347472" cy="32334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046719" y="1746504"/>
            <a:ext cx="16916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C2127"/>
                </a:solidFill>
                <a:latin typeface="Calibri"/>
              </a:rPr>
              <a:t>Approved STTM  ·  .xlsx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19" y="1965960"/>
            <a:ext cx="16916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F343C"/>
                </a:solidFill>
                <a:latin typeface="Calibri"/>
              </a:rPr>
              <a:t>input — becomes a template</a:t>
            </a:r>
          </a:p>
        </p:txBody>
      </p:sp>
      <p:pic>
        <p:nvPicPr>
          <p:cNvPr id="26" name="Picture 25" descr="entr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4119" y="1761966"/>
            <a:ext cx="457200" cy="40798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652760" y="1691640"/>
            <a:ext cx="1005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C2127"/>
                </a:solidFill>
                <a:latin typeface="Calibri"/>
              </a:rPr>
              <a:t>Entra ID app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2F343C"/>
                </a:solidFill>
                <a:latin typeface="Calibri"/>
              </a:rPr>
              <a:t>Microsoft Graph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2F343C"/>
                </a:solidFill>
                <a:latin typeface="Calibri"/>
              </a:rPr>
              <a:t>Sites.Selected · read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389120" y="2395728"/>
            <a:ext cx="0" cy="393192"/>
          </a:xfrm>
          <a:prstGeom prst="line">
            <a:avLst/>
          </a:prstGeom>
          <a:ln w="19050">
            <a:solidFill>
              <a:srgbClr val="2F34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517136" y="249174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2F343C"/>
                </a:solidFill>
                <a:latin typeface="Calibri"/>
              </a:rPr>
              <a:t>00  scheduled sync — every 15 min, incremental · pulls FRDs and STTMs down · never writes back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2788920"/>
            <a:ext cx="11094415" cy="2395728"/>
          </a:xfrm>
          <a:prstGeom prst="roundRect">
            <a:avLst>
              <a:gd name="adj" fmla="val 2500"/>
            </a:avLst>
          </a:prstGeom>
          <a:solidFill>
            <a:srgbClr val="F6F7F9"/>
          </a:solidFill>
          <a:ln w="9525">
            <a:solidFill>
              <a:srgbClr val="D3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77240" y="2898648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40">
                <a:solidFill>
                  <a:srgbClr val="007067"/>
                </a:solidFill>
                <a:latin typeface="Calibri"/>
              </a:rPr>
              <a:t>DATA PLATFORM</a:t>
            </a:r>
          </a:p>
        </p:txBody>
      </p:sp>
      <p:pic>
        <p:nvPicPr>
          <p:cNvPr id="32" name="Picture 31" descr="databrick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1020" y="3063239"/>
            <a:ext cx="784039" cy="43891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40280" y="3118103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C2127"/>
                </a:solidFill>
                <a:latin typeface="Calibri"/>
              </a:rPr>
              <a:t>Databricks</a:t>
            </a:r>
            <a:r>
              <a:rPr sz="1000" b="0">
                <a:solidFill>
                  <a:srgbClr val="2F343C"/>
                </a:solidFill>
                <a:latin typeface="Calibri"/>
              </a:rPr>
              <a:t>   — Jobs run the pipeline, Apps serve the reviewer, Unity Catalog holds every file and table.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3566160"/>
            <a:ext cx="3063240" cy="1463040"/>
          </a:xfrm>
          <a:prstGeom prst="roundRect">
            <a:avLst>
              <a:gd name="adj" fmla="val 4000"/>
            </a:avLst>
          </a:prstGeom>
          <a:solidFill>
            <a:srgbClr val="EDEFF2"/>
          </a:solidFill>
          <a:ln w="9525">
            <a:solidFill>
              <a:srgbClr val="C5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unitycatalo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9890" y="3712463"/>
            <a:ext cx="1229763" cy="42062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41832" y="4224528"/>
            <a:ext cx="273405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1">
                <a:solidFill>
                  <a:srgbClr val="1C2127"/>
                </a:solidFill>
                <a:latin typeface="Calibri"/>
              </a:rPr>
              <a:t>Volumes</a:t>
            </a:r>
            <a:r>
              <a:rPr sz="950" b="0">
                <a:solidFill>
                  <a:srgbClr val="2F343C"/>
                </a:solidFill>
                <a:latin typeface="Calibri"/>
              </a:rPr>
              <a:t>  —  FRDs, approved STTMs, the corpus index, every run's artifacts</a:t>
            </a:r>
          </a:p>
          <a:p>
            <a:pPr algn="l">
              <a:lnSpc>
                <a:spcPct val="106000"/>
              </a:lnSpc>
            </a:pPr>
            <a:r>
              <a:rPr sz="850" b="1">
                <a:solidFill>
                  <a:srgbClr val="007067"/>
                </a:solidFill>
                <a:latin typeface="Consolas"/>
              </a:rPr>
              <a:t>frd_raw · sttm_reference · sttm_out</a:t>
            </a:r>
          </a:p>
          <a:p>
            <a:pPr algn="l">
              <a:lnSpc>
                <a:spcPct val="106000"/>
              </a:lnSpc>
            </a:pPr>
            <a:r>
              <a:rPr sz="950" b="1">
                <a:solidFill>
                  <a:srgbClr val="1C2127"/>
                </a:solidFill>
                <a:latin typeface="Calibri"/>
              </a:rPr>
              <a:t>Delta tables</a:t>
            </a:r>
            <a:r>
              <a:rPr sz="950" b="0">
                <a:solidFill>
                  <a:srgbClr val="2F343C"/>
                </a:solidFill>
                <a:latin typeface="Calibri"/>
              </a:rPr>
              <a:t>  —  run history and contracts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23360" y="3566160"/>
            <a:ext cx="4892040" cy="1463040"/>
          </a:xfrm>
          <a:prstGeom prst="roundRect">
            <a:avLst>
              <a:gd name="adj" fmla="val 4000"/>
            </a:avLst>
          </a:prstGeom>
          <a:solidFill>
            <a:srgbClr val="EDEFF2"/>
          </a:solidFill>
          <a:ln w="9525">
            <a:solidFill>
              <a:srgbClr val="C5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187952" y="3675887"/>
            <a:ext cx="45628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C2127"/>
                </a:solidFill>
                <a:latin typeface="Calibri"/>
              </a:rPr>
              <a:t>Generation job</a:t>
            </a:r>
            <a:r>
              <a:rPr sz="950" b="0">
                <a:solidFill>
                  <a:srgbClr val="2F343C"/>
                </a:solidFill>
                <a:latin typeface="Calibri"/>
              </a:rPr>
              <a:t>   Databricks Jobs · serverless · stages 01–04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87952" y="4005072"/>
            <a:ext cx="1072134" cy="640080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 w="9525">
            <a:solidFill>
              <a:srgbClr val="C5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279392" y="4069080"/>
            <a:ext cx="88925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007067"/>
                </a:solidFill>
                <a:latin typeface="Consolas"/>
              </a:rPr>
              <a:t>01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79392" y="4233672"/>
            <a:ext cx="88925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C2127"/>
                </a:solidFill>
                <a:latin typeface="Calibri"/>
              </a:rPr>
              <a:t>Ingest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79392" y="4434840"/>
            <a:ext cx="88925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2F343C"/>
                </a:solidFill>
                <a:latin typeface="Calibri"/>
              </a:rPr>
              <a:t>docx → markdown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269229" y="4334256"/>
            <a:ext cx="73152" cy="0"/>
          </a:xfrm>
          <a:prstGeom prst="line">
            <a:avLst/>
          </a:prstGeom>
          <a:ln w="9525">
            <a:solidFill>
              <a:srgbClr val="5F6B7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5351526" y="4005072"/>
            <a:ext cx="1072134" cy="640080"/>
          </a:xfrm>
          <a:prstGeom prst="roundRect">
            <a:avLst>
              <a:gd name="adj" fmla="val 8000"/>
            </a:avLst>
          </a:prstGeom>
          <a:solidFill>
            <a:srgbClr val="FBEEE8"/>
          </a:solidFill>
          <a:ln w="1587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5442966" y="4069080"/>
            <a:ext cx="88925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A04D2C"/>
                </a:solidFill>
                <a:latin typeface="Consolas"/>
              </a:rP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42966" y="4233672"/>
            <a:ext cx="88925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04D2C"/>
                </a:solidFill>
                <a:latin typeface="Calibri"/>
              </a:rPr>
              <a:t>Extract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42966" y="4434840"/>
            <a:ext cx="88925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04D2C"/>
                </a:solidFill>
                <a:latin typeface="Calibri"/>
              </a:rPr>
              <a:t>the one model call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432804" y="4334256"/>
            <a:ext cx="73152" cy="0"/>
          </a:xfrm>
          <a:prstGeom prst="line">
            <a:avLst/>
          </a:prstGeom>
          <a:ln w="9525">
            <a:solidFill>
              <a:srgbClr val="5F6B7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6515100" y="4005072"/>
            <a:ext cx="1072134" cy="640080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 w="9525">
            <a:solidFill>
              <a:srgbClr val="C5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606540" y="4069080"/>
            <a:ext cx="88925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007067"/>
                </a:solidFill>
                <a:latin typeface="Consolas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06540" y="4233672"/>
            <a:ext cx="88925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C2127"/>
                </a:solidFill>
                <a:latin typeface="Calibri"/>
              </a:rPr>
              <a:t>Audit · gate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06540" y="4434840"/>
            <a:ext cx="88925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2F343C"/>
                </a:solidFill>
                <a:latin typeface="Calibri"/>
              </a:rPr>
              <a:t>verbatim grounding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7596377" y="4334256"/>
            <a:ext cx="73152" cy="0"/>
          </a:xfrm>
          <a:prstGeom prst="line">
            <a:avLst/>
          </a:prstGeom>
          <a:ln w="9525">
            <a:solidFill>
              <a:srgbClr val="5F6B7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7678674" y="4005072"/>
            <a:ext cx="1072134" cy="640080"/>
          </a:xfrm>
          <a:prstGeom prst="roundRect">
            <a:avLst>
              <a:gd name="adj" fmla="val 8000"/>
            </a:avLst>
          </a:prstGeom>
          <a:solidFill>
            <a:srgbClr val="F6F7F9"/>
          </a:solidFill>
          <a:ln w="9525">
            <a:solidFill>
              <a:srgbClr val="C5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7770114" y="4069080"/>
            <a:ext cx="88925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007067"/>
                </a:solidFill>
                <a:latin typeface="Consolas"/>
              </a:rPr>
              <a:t>04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0114" y="4233672"/>
            <a:ext cx="88925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C2127"/>
                </a:solidFill>
                <a:latin typeface="Calibri"/>
              </a:rPr>
              <a:t>Render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770114" y="4434840"/>
            <a:ext cx="88925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2F343C"/>
                </a:solidFill>
                <a:latin typeface="Calibri"/>
              </a:rPr>
              <a:t>STTM + contract</a:t>
            </a:r>
          </a:p>
        </p:txBody>
      </p:sp>
      <p:pic>
        <p:nvPicPr>
          <p:cNvPr id="58" name="Picture 57" descr="claud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87952" y="4755451"/>
            <a:ext cx="914400" cy="200025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5138928" y="4736592"/>
            <a:ext cx="36118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F343C"/>
                </a:solidFill>
                <a:latin typeface="Calibri"/>
              </a:rPr>
              <a:t>Anthropic API — one call per document, in stage 02; everything else is deterministic code.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098280" y="3566160"/>
            <a:ext cx="2316175" cy="1463040"/>
          </a:xfrm>
          <a:prstGeom prst="roundRect">
            <a:avLst>
              <a:gd name="adj" fmla="val 4000"/>
            </a:avLst>
          </a:prstGeom>
          <a:solidFill>
            <a:srgbClr val="EDEFF2"/>
          </a:solidFill>
          <a:ln w="9525">
            <a:solidFill>
              <a:srgbClr val="C5CB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9262872" y="3675887"/>
            <a:ext cx="198699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C2127"/>
                </a:solidFill>
                <a:latin typeface="Calibri"/>
              </a:rPr>
              <a:t>Review app</a:t>
            </a:r>
            <a:r>
              <a:rPr sz="950" b="0">
                <a:solidFill>
                  <a:srgbClr val="2F343C"/>
                </a:solidFill>
                <a:latin typeface="Calibri"/>
              </a:rPr>
              <a:t>   Databricks Apps</a:t>
            </a:r>
          </a:p>
        </p:txBody>
      </p:sp>
      <p:pic>
        <p:nvPicPr>
          <p:cNvPr id="62" name="Picture 61" descr="fastapi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62872" y="4027543"/>
            <a:ext cx="777240" cy="147081"/>
          </a:xfrm>
          <a:prstGeom prst="rect">
            <a:avLst/>
          </a:prstGeom>
        </p:spPr>
      </p:pic>
      <p:pic>
        <p:nvPicPr>
          <p:cNvPr id="63" name="Picture 62" descr="reac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22408" y="3982275"/>
            <a:ext cx="256032" cy="228473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9262872" y="4297680"/>
            <a:ext cx="198699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2F343C"/>
                </a:solidFill>
                <a:latin typeface="Calibri"/>
              </a:rPr>
              <a:t>Pick an FRD · run (confirm-gated) · answer what the agent could not settle · re-render · download.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4389120" y="5184648"/>
            <a:ext cx="0" cy="356616"/>
          </a:xfrm>
          <a:prstGeom prst="line">
            <a:avLst/>
          </a:prstGeom>
          <a:ln w="19050">
            <a:solidFill>
              <a:srgbClr val="2F343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4517136" y="5262372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2F343C"/>
                </a:solidFill>
                <a:latin typeface="Calibri"/>
              </a:rPr>
              <a:t>draft STTM  .xlsx  +  feed contract  .json   →   to a person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48640" y="5541264"/>
            <a:ext cx="5212080" cy="841248"/>
          </a:xfrm>
          <a:prstGeom prst="roundRect">
            <a:avLst>
              <a:gd name="adj" fmla="val 2500"/>
            </a:avLst>
          </a:prstGeom>
          <a:solidFill>
            <a:srgbClr val="F6F7F9"/>
          </a:solidFill>
          <a:ln w="12700">
            <a:solidFill>
              <a:srgbClr val="D198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777240" y="5632703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40">
                <a:solidFill>
                  <a:srgbClr val="866103"/>
                </a:solidFill>
                <a:latin typeface="Calibri"/>
              </a:rPr>
              <a:t>HUMAN REVIEW</a:t>
            </a:r>
          </a:p>
        </p:txBody>
      </p:sp>
      <p:pic>
        <p:nvPicPr>
          <p:cNvPr id="69" name="Picture 68" descr="user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7240" y="5907024"/>
            <a:ext cx="384048" cy="384048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1325880" y="5870448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2F343C"/>
                </a:solidFill>
                <a:latin typeface="Calibri"/>
              </a:rPr>
              <a:t>The reviewer approves the STTM (edits in Excel if needed) and uploads it to SharePoint themselves. The next sync pairs it — it becomes a template.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989320" y="5541264"/>
            <a:ext cx="5653735" cy="841248"/>
          </a:xfrm>
          <a:prstGeom prst="roundRect">
            <a:avLst>
              <a:gd name="adj" fmla="val 2500"/>
            </a:avLst>
          </a:prstGeom>
          <a:solidFill>
            <a:srgbClr val="F6F7F9"/>
          </a:solidFill>
          <a:ln w="12700">
            <a:solidFill>
              <a:srgbClr val="7961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6217920" y="5632703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40">
                <a:solidFill>
                  <a:srgbClr val="5642A6"/>
                </a:solidFill>
                <a:latin typeface="Calibri"/>
              </a:rPr>
              <a:t>OUTPUTS · DOWNSTREAM</a:t>
            </a:r>
          </a:p>
        </p:txBody>
      </p:sp>
      <p:pic>
        <p:nvPicPr>
          <p:cNvPr id="73" name="Picture 72" descr="exc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5937376"/>
            <a:ext cx="347472" cy="323342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6647688" y="5879592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C2127"/>
                </a:solidFill>
                <a:latin typeface="Calibri"/>
              </a:rPr>
              <a:t>STTM workbook</a:t>
            </a:r>
          </a:p>
          <a:p>
            <a:pPr algn="l">
              <a:lnSpc>
                <a:spcPct val="100000"/>
              </a:lnSpc>
            </a:pPr>
            <a:r>
              <a:rPr sz="950" b="0">
                <a:solidFill>
                  <a:srgbClr val="2F343C"/>
                </a:solidFill>
                <a:latin typeface="Calibri"/>
              </a:rPr>
              <a:t>.xlsx · client dialect</a:t>
            </a:r>
          </a:p>
        </p:txBody>
      </p:sp>
      <p:pic>
        <p:nvPicPr>
          <p:cNvPr id="75" name="Picture 74" descr="json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5925312"/>
            <a:ext cx="329184" cy="329184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8458200" y="5879592"/>
            <a:ext cx="1600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C2127"/>
                </a:solidFill>
                <a:latin typeface="Calibri"/>
              </a:rPr>
              <a:t>Feed contract</a:t>
            </a:r>
          </a:p>
          <a:p>
            <a:pPr algn="l">
              <a:lnSpc>
                <a:spcPct val="100000"/>
              </a:lnSpc>
            </a:pPr>
            <a:r>
              <a:rPr sz="950" b="0">
                <a:solidFill>
                  <a:srgbClr val="2F343C"/>
                </a:solidFill>
                <a:latin typeface="Calibri"/>
              </a:rPr>
              <a:t>contract.json · machine-readable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10058400" y="6089903"/>
            <a:ext cx="228600" cy="0"/>
          </a:xfrm>
          <a:prstGeom prst="line">
            <a:avLst/>
          </a:prstGeom>
          <a:ln w="15875">
            <a:solidFill>
              <a:srgbClr val="7961DB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10378440" y="5879592"/>
            <a:ext cx="117317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5642A6"/>
                </a:solidFill>
                <a:latin typeface="Calibri"/>
              </a:rPr>
              <a:t>CodeGen agent</a:t>
            </a:r>
          </a:p>
          <a:p>
            <a:pPr algn="l">
              <a:lnSpc>
                <a:spcPct val="100000"/>
              </a:lnSpc>
            </a:pPr>
            <a:r>
              <a:rPr sz="950" b="1">
                <a:solidFill>
                  <a:srgbClr val="5642A6"/>
                </a:solidFill>
                <a:latin typeface="Calibri"/>
              </a:rPr>
              <a:t>Code Review agent</a:t>
            </a:r>
          </a:p>
        </p:txBody>
      </p:sp>
      <p:cxnSp>
        <p:nvCxnSpPr>
          <p:cNvPr id="79" name="Connector 78"/>
          <p:cNvCxnSpPr/>
          <p:nvPr/>
        </p:nvCxnSpPr>
        <p:spPr>
          <a:xfrm flipV="1">
            <a:off x="1371600" y="5376672"/>
            <a:ext cx="0" cy="164592"/>
          </a:xfrm>
          <a:prstGeom prst="line">
            <a:avLst/>
          </a:prstGeom>
          <a:ln w="15875">
            <a:solidFill>
              <a:srgbClr val="D198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H="1">
            <a:off x="347472" y="5376672"/>
            <a:ext cx="1024128" cy="0"/>
          </a:xfrm>
          <a:prstGeom prst="line">
            <a:avLst/>
          </a:prstGeom>
          <a:ln w="15875">
            <a:solidFill>
              <a:srgbClr val="D198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47472" y="1883664"/>
            <a:ext cx="0" cy="3493008"/>
          </a:xfrm>
          <a:prstGeom prst="line">
            <a:avLst/>
          </a:prstGeom>
          <a:ln w="15875">
            <a:solidFill>
              <a:srgbClr val="D198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47472" y="1883664"/>
            <a:ext cx="182880" cy="0"/>
          </a:xfrm>
          <a:prstGeom prst="line">
            <a:avLst/>
          </a:prstGeom>
          <a:ln w="15875">
            <a:solidFill>
              <a:srgbClr val="D1980B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 rot="16200000">
            <a:off x="-877824" y="3602735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>
                <a:solidFill>
                  <a:srgbClr val="866103"/>
                </a:solidFill>
                <a:latin typeface="Calibri"/>
              </a:rPr>
              <a:t>approved STTM goes back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8640" y="651052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04D2C"/>
                </a:solidFill>
                <a:latin typeface="Calibri"/>
              </a:rPr>
              <a:t>the model proposes</a:t>
            </a:r>
            <a:r>
              <a:rPr sz="1100" b="0">
                <a:solidFill>
                  <a:srgbClr val="C5CBD3"/>
                </a:solidFill>
                <a:latin typeface="Calibri"/>
              </a:rPr>
              <a:t>     ·     </a:t>
            </a:r>
            <a:r>
              <a:rPr sz="1100" b="1">
                <a:solidFill>
                  <a:srgbClr val="007067"/>
                </a:solidFill>
                <a:latin typeface="Calibri"/>
              </a:rPr>
              <a:t>deterministic code audits and decides</a:t>
            </a:r>
            <a:r>
              <a:rPr sz="1100" b="0">
                <a:solidFill>
                  <a:srgbClr val="C5CBD3"/>
                </a:solidFill>
                <a:latin typeface="Calibri"/>
              </a:rPr>
              <a:t>     ·     </a:t>
            </a:r>
            <a:r>
              <a:rPr sz="1100" b="1">
                <a:solidFill>
                  <a:srgbClr val="866103"/>
                </a:solidFill>
                <a:latin typeface="Calibri"/>
              </a:rPr>
              <a:t>a person resolves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