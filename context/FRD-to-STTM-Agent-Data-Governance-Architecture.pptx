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18288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91440" cy="685800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acfc.png"/>
          <p:cNvPicPr>
            <a:picLocks noChangeAspect="1"/>
          </p:cNvPicPr>
          <p:nvPr/>
        </p:nvPicPr>
        <p:blipFill>
          <a:blip r:embed="rId2"/>
          <a:stretch>
            <a:fillRect/>
          </a:stretch>
        </p:blipFill>
        <p:spPr>
          <a:xfrm>
            <a:off x="658368" y="310896"/>
            <a:ext cx="1188720" cy="784171"/>
          </a:xfrm>
          <a:prstGeom prst="rect">
            <a:avLst/>
          </a:prstGeom>
        </p:spPr>
      </p:pic>
      <p:cxnSp>
        <p:nvCxnSpPr>
          <p:cNvPr id="6" name="Connector 5"/>
          <p:cNvCxnSpPr/>
          <p:nvPr/>
        </p:nvCxnSpPr>
        <p:spPr>
          <a:xfrm>
            <a:off x="2048256" y="347472"/>
            <a:ext cx="0" cy="804672"/>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231136" y="347472"/>
            <a:ext cx="7680960" cy="219456"/>
          </a:xfrm>
          <a:prstGeom prst="rect">
            <a:avLst/>
          </a:prstGeom>
          <a:noFill/>
        </p:spPr>
        <p:txBody>
          <a:bodyPr wrap="square" lIns="0" rIns="0" tIns="0" bIns="0" anchor="t">
            <a:spAutoFit/>
          </a:bodyPr>
          <a:lstStyle/>
          <a:p>
            <a:pPr algn="l"/>
            <a:r>
              <a:rPr sz="900" b="1" spc="140">
                <a:solidFill>
                  <a:srgbClr val="003DA5"/>
                </a:solidFill>
                <a:latin typeface="Segoe UI"/>
              </a:rPr>
              <a:t>AMERIHEALTH CARITAS  ·  AI-IN-ENGINEERING  ·  AGENT 01 / 03</a:t>
            </a:r>
          </a:p>
        </p:txBody>
      </p:sp>
      <p:sp>
        <p:nvSpPr>
          <p:cNvPr id="8" name="TextBox 7"/>
          <p:cNvSpPr txBox="1"/>
          <p:nvPr/>
        </p:nvSpPr>
        <p:spPr>
          <a:xfrm>
            <a:off x="2231136" y="548640"/>
            <a:ext cx="8412480" cy="384048"/>
          </a:xfrm>
          <a:prstGeom prst="rect">
            <a:avLst/>
          </a:prstGeom>
          <a:noFill/>
        </p:spPr>
        <p:txBody>
          <a:bodyPr wrap="square" lIns="0" rIns="0" tIns="0" bIns="0" anchor="t">
            <a:spAutoFit/>
          </a:bodyPr>
          <a:lstStyle/>
          <a:p>
            <a:pPr algn="l"/>
            <a:r>
              <a:rPr sz="2400" b="1" spc="-40">
                <a:solidFill>
                  <a:srgbClr val="0A2458"/>
                </a:solidFill>
                <a:latin typeface="Segoe UI"/>
              </a:rPr>
              <a:t>FRD → STTM Agent</a:t>
            </a:r>
            <a:r>
              <a:rPr sz="1300" b="0">
                <a:solidFill>
                  <a:srgbClr val="455560"/>
                </a:solidFill>
                <a:latin typeface="Segoe UI"/>
              </a:rPr>
              <a:t>    data governance architecture</a:t>
            </a:r>
          </a:p>
        </p:txBody>
      </p:sp>
      <p:sp>
        <p:nvSpPr>
          <p:cNvPr id="9" name="Rectangle 8"/>
          <p:cNvSpPr/>
          <p:nvPr/>
        </p:nvSpPr>
        <p:spPr>
          <a:xfrm>
            <a:off x="2231136" y="932688"/>
            <a:ext cx="1696212"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31136" y="1001268"/>
            <a:ext cx="1696212" cy="182880"/>
          </a:xfrm>
          <a:prstGeom prst="rect">
            <a:avLst/>
          </a:prstGeom>
          <a:noFill/>
        </p:spPr>
        <p:txBody>
          <a:bodyPr wrap="square" lIns="0" rIns="0" tIns="0" bIns="0" anchor="t">
            <a:spAutoFit/>
          </a:bodyPr>
          <a:lstStyle/>
          <a:p>
            <a:pPr algn="ctr"/>
            <a:r>
              <a:rPr sz="800" b="1" spc="80">
                <a:solidFill>
                  <a:srgbClr val="003DA5"/>
                </a:solidFill>
                <a:latin typeface="Segoe UI"/>
              </a:rPr>
              <a:t>CLASSIFIED DATA</a:t>
            </a:r>
          </a:p>
        </p:txBody>
      </p:sp>
      <p:sp>
        <p:nvSpPr>
          <p:cNvPr id="11" name="Rectangle 10"/>
          <p:cNvSpPr/>
          <p:nvPr/>
        </p:nvSpPr>
        <p:spPr>
          <a:xfrm>
            <a:off x="4055363" y="932688"/>
            <a:ext cx="1441094"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55363" y="1001268"/>
            <a:ext cx="1441094" cy="182880"/>
          </a:xfrm>
          <a:prstGeom prst="rect">
            <a:avLst/>
          </a:prstGeom>
          <a:noFill/>
        </p:spPr>
        <p:txBody>
          <a:bodyPr wrap="square" lIns="0" rIns="0" tIns="0" bIns="0" anchor="t">
            <a:spAutoFit/>
          </a:bodyPr>
          <a:lstStyle/>
          <a:p>
            <a:pPr algn="ctr"/>
            <a:r>
              <a:rPr sz="800" b="1" spc="80">
                <a:solidFill>
                  <a:srgbClr val="0A2458"/>
                </a:solidFill>
                <a:latin typeface="Segoe UI"/>
              </a:rPr>
              <a:t>NAMED PEOPLE</a:t>
            </a:r>
          </a:p>
        </p:txBody>
      </p:sp>
      <p:sp>
        <p:nvSpPr>
          <p:cNvPr id="13" name="Rectangle 12"/>
          <p:cNvSpPr/>
          <p:nvPr/>
        </p:nvSpPr>
        <p:spPr>
          <a:xfrm>
            <a:off x="5624474" y="932688"/>
            <a:ext cx="1866290"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24474" y="1001268"/>
            <a:ext cx="1866290" cy="182880"/>
          </a:xfrm>
          <a:prstGeom prst="rect">
            <a:avLst/>
          </a:prstGeom>
          <a:noFill/>
        </p:spPr>
        <p:txBody>
          <a:bodyPr wrap="square" lIns="0" rIns="0" tIns="0" bIns="0" anchor="t">
            <a:spAutoFit/>
          </a:bodyPr>
          <a:lstStyle/>
          <a:p>
            <a:pPr algn="ctr"/>
            <a:r>
              <a:rPr sz="800" b="1" spc="80">
                <a:solidFill>
                  <a:srgbClr val="003DA5"/>
                </a:solidFill>
                <a:latin typeface="Segoe UI"/>
              </a:rPr>
              <a:t>TRACEABLE OUTPUTS</a:t>
            </a:r>
          </a:p>
        </p:txBody>
      </p:sp>
      <p:sp>
        <p:nvSpPr>
          <p:cNvPr id="15" name="Rectangle 14"/>
          <p:cNvSpPr/>
          <p:nvPr/>
        </p:nvSpPr>
        <p:spPr>
          <a:xfrm>
            <a:off x="7618780" y="932688"/>
            <a:ext cx="1781251"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18780" y="1001268"/>
            <a:ext cx="1781251" cy="182880"/>
          </a:xfrm>
          <a:prstGeom prst="rect">
            <a:avLst/>
          </a:prstGeom>
          <a:noFill/>
        </p:spPr>
        <p:txBody>
          <a:bodyPr wrap="square" lIns="0" rIns="0" tIns="0" bIns="0" anchor="t">
            <a:spAutoFit/>
          </a:bodyPr>
          <a:lstStyle/>
          <a:p>
            <a:pPr algn="ctr"/>
            <a:r>
              <a:rPr sz="800" b="1" spc="80">
                <a:solidFill>
                  <a:srgbClr val="0A2458"/>
                </a:solidFill>
                <a:latin typeface="Segoe UI"/>
              </a:rPr>
              <a:t>A PERSON DECIDES</a:t>
            </a:r>
          </a:p>
        </p:txBody>
      </p:sp>
      <p:sp>
        <p:nvSpPr>
          <p:cNvPr id="17" name="TextBox 16"/>
          <p:cNvSpPr txBox="1"/>
          <p:nvPr/>
        </p:nvSpPr>
        <p:spPr>
          <a:xfrm>
            <a:off x="9247327" y="384048"/>
            <a:ext cx="2286000" cy="475488"/>
          </a:xfrm>
          <a:prstGeom prst="rect">
            <a:avLst/>
          </a:prstGeom>
          <a:noFill/>
        </p:spPr>
        <p:txBody>
          <a:bodyPr wrap="square" lIns="0" rIns="0" tIns="0" bIns="0" anchor="t">
            <a:spAutoFit/>
          </a:bodyPr>
          <a:lstStyle/>
          <a:p>
            <a:pPr algn="r">
              <a:lnSpc>
                <a:spcPct val="118000"/>
              </a:lnSpc>
            </a:pPr>
            <a:r>
              <a:rPr sz="819" b="1">
                <a:solidFill>
                  <a:srgbClr val="0A2458"/>
                </a:solidFill>
                <a:latin typeface="Segoe UI"/>
              </a:rPr>
              <a:t>Built by Hexaware</a:t>
            </a:r>
          </a:p>
          <a:p>
            <a:pPr algn="r">
              <a:lnSpc>
                <a:spcPct val="118000"/>
              </a:lnSpc>
            </a:pPr>
            <a:r>
              <a:rPr sz="819" b="0">
                <a:solidFill>
                  <a:srgbClr val="455560"/>
                </a:solidFill>
                <a:latin typeface="Segoe UI"/>
              </a:rPr>
              <a:t>rebuilt inside the ACFC environment</a:t>
            </a:r>
          </a:p>
        </p:txBody>
      </p:sp>
      <p:sp>
        <p:nvSpPr>
          <p:cNvPr id="18" name="TextBox 17"/>
          <p:cNvSpPr txBox="1"/>
          <p:nvPr/>
        </p:nvSpPr>
        <p:spPr>
          <a:xfrm>
            <a:off x="658368" y="1389888"/>
            <a:ext cx="5486400" cy="201168"/>
          </a:xfrm>
          <a:prstGeom prst="rect">
            <a:avLst/>
          </a:prstGeom>
          <a:noFill/>
        </p:spPr>
        <p:txBody>
          <a:bodyPr wrap="square" lIns="0" rIns="0" tIns="0" bIns="0" anchor="t">
            <a:spAutoFit/>
          </a:bodyPr>
          <a:lstStyle/>
          <a:p>
            <a:pPr algn="l"/>
            <a:r>
              <a:rPr sz="850" b="1" spc="140">
                <a:solidFill>
                  <a:srgbClr val="455560"/>
                </a:solidFill>
                <a:latin typeface="Segoe UI"/>
              </a:rPr>
              <a:t>THE DOCUMENT'S JOURNEY  →</a:t>
            </a:r>
          </a:p>
        </p:txBody>
      </p:sp>
      <p:sp>
        <p:nvSpPr>
          <p:cNvPr id="19" name="Rectangle 18"/>
          <p:cNvSpPr/>
          <p:nvPr/>
        </p:nvSpPr>
        <p:spPr>
          <a:xfrm>
            <a:off x="658368" y="1627632"/>
            <a:ext cx="1818055" cy="2615184"/>
          </a:xfrm>
          <a:prstGeom prst="rect">
            <a:avLst/>
          </a:prstGeom>
          <a:solidFill>
            <a:srgbClr val="F0F0F0"/>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1627632"/>
            <a:ext cx="1818055" cy="4572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1773936"/>
            <a:ext cx="1525447" cy="182880"/>
          </a:xfrm>
          <a:prstGeom prst="rect">
            <a:avLst/>
          </a:prstGeom>
          <a:noFill/>
        </p:spPr>
        <p:txBody>
          <a:bodyPr wrap="square" lIns="0" rIns="0" tIns="0" bIns="0" anchor="t">
            <a:spAutoFit/>
          </a:bodyPr>
          <a:lstStyle/>
          <a:p>
            <a:pPr algn="l"/>
            <a:r>
              <a:rPr sz="850" b="1" spc="90">
                <a:solidFill>
                  <a:srgbClr val="003DA5"/>
                </a:solidFill>
                <a:latin typeface="Consolas"/>
              </a:rPr>
              <a:t>01</a:t>
            </a:r>
            <a:r>
              <a:rPr sz="850" b="1" spc="90">
                <a:solidFill>
                  <a:srgbClr val="003DA5"/>
                </a:solidFill>
                <a:latin typeface="Segoe UI"/>
              </a:rPr>
              <a:t>  ENTERS</a:t>
            </a:r>
          </a:p>
        </p:txBody>
      </p:sp>
      <p:pic>
        <p:nvPicPr>
          <p:cNvPr id="22" name="Picture 21" descr="unitycatalog.png"/>
          <p:cNvPicPr>
            <a:picLocks noChangeAspect="1"/>
          </p:cNvPicPr>
          <p:nvPr/>
        </p:nvPicPr>
        <p:blipFill>
          <a:blip r:embed="rId3"/>
          <a:stretch>
            <a:fillRect/>
          </a:stretch>
        </p:blipFill>
        <p:spPr>
          <a:xfrm>
            <a:off x="823588" y="2011680"/>
            <a:ext cx="748551" cy="256032"/>
          </a:xfrm>
          <a:prstGeom prst="rect">
            <a:avLst/>
          </a:prstGeom>
        </p:spPr>
      </p:pic>
      <p:sp>
        <p:nvSpPr>
          <p:cNvPr id="23" name="TextBox 22"/>
          <p:cNvSpPr txBox="1"/>
          <p:nvPr/>
        </p:nvSpPr>
        <p:spPr>
          <a:xfrm>
            <a:off x="804672" y="2359152"/>
            <a:ext cx="1525447" cy="182880"/>
          </a:xfrm>
          <a:prstGeom prst="rect">
            <a:avLst/>
          </a:prstGeom>
          <a:noFill/>
        </p:spPr>
        <p:txBody>
          <a:bodyPr wrap="square" lIns="0" rIns="0" tIns="0" bIns="0" anchor="t">
            <a:spAutoFit/>
          </a:bodyPr>
          <a:lstStyle/>
          <a:p>
            <a:pPr algn="l"/>
            <a:r>
              <a:rPr sz="780" b="1" spc="100">
                <a:solidFill>
                  <a:srgbClr val="003DA5"/>
                </a:solidFill>
                <a:latin typeface="Segoe UI"/>
              </a:rPr>
              <a:t>WHAT DATA?</a:t>
            </a:r>
          </a:p>
        </p:txBody>
      </p:sp>
      <p:sp>
        <p:nvSpPr>
          <p:cNvPr id="24" name="TextBox 23"/>
          <p:cNvSpPr txBox="1"/>
          <p:nvPr/>
        </p:nvSpPr>
        <p:spPr>
          <a:xfrm>
            <a:off x="804672"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Classified at the door</a:t>
            </a:r>
          </a:p>
        </p:txBody>
      </p:sp>
      <p:sp>
        <p:nvSpPr>
          <p:cNvPr id="25" name="TextBox 24"/>
          <p:cNvSpPr txBox="1"/>
          <p:nvPr/>
        </p:nvSpPr>
        <p:spPr>
          <a:xfrm>
            <a:off x="804672"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Two documents per feed — the FRD and the vendor data dictionary — land in Unity Catalog, where every folder and table carries an owner, a steward, its sensitivity, its source and its retention rule. The standards are config in the agent, not a document.</a:t>
            </a:r>
          </a:p>
        </p:txBody>
      </p:sp>
      <p:cxnSp>
        <p:nvCxnSpPr>
          <p:cNvPr id="26" name="Connector 25"/>
          <p:cNvCxnSpPr/>
          <p:nvPr/>
        </p:nvCxnSpPr>
        <p:spPr>
          <a:xfrm>
            <a:off x="804672" y="3913631"/>
            <a:ext cx="1525447"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4672" y="3968496"/>
            <a:ext cx="1525447" cy="237744"/>
          </a:xfrm>
          <a:prstGeom prst="rect">
            <a:avLst/>
          </a:prstGeom>
          <a:noFill/>
        </p:spPr>
        <p:txBody>
          <a:bodyPr wrap="square" lIns="0" rIns="0" tIns="0" bIns="0" anchor="t">
            <a:spAutoFit/>
          </a:bodyPr>
          <a:lstStyle/>
          <a:p>
            <a:pPr algn="l">
              <a:lnSpc>
                <a:spcPct val="108000"/>
              </a:lnSpc>
            </a:pPr>
            <a:r>
              <a:rPr sz="720" b="1">
                <a:solidFill>
                  <a:srgbClr val="003DA5"/>
                </a:solidFill>
                <a:latin typeface="Segoe UI"/>
              </a:rPr>
              <a:t>Unity Catalog tags &amp; comments</a:t>
            </a:r>
          </a:p>
        </p:txBody>
      </p:sp>
      <p:cxnSp>
        <p:nvCxnSpPr>
          <p:cNvPr id="28" name="Connector 27"/>
          <p:cNvCxnSpPr/>
          <p:nvPr/>
        </p:nvCxnSpPr>
        <p:spPr>
          <a:xfrm>
            <a:off x="24947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7141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7141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8604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02</a:t>
            </a:r>
            <a:r>
              <a:rPr sz="850" b="1" spc="90">
                <a:solidFill>
                  <a:srgbClr val="0A2458"/>
                </a:solidFill>
                <a:latin typeface="Segoe UI"/>
              </a:rPr>
              <a:t>  OPENED</a:t>
            </a:r>
          </a:p>
        </p:txBody>
      </p:sp>
      <p:pic>
        <p:nvPicPr>
          <p:cNvPr id="32" name="Picture 31" descr="entra.png"/>
          <p:cNvPicPr>
            <a:picLocks noChangeAspect="1"/>
          </p:cNvPicPr>
          <p:nvPr/>
        </p:nvPicPr>
        <p:blipFill>
          <a:blip r:embed="rId4"/>
          <a:stretch>
            <a:fillRect/>
          </a:stretch>
        </p:blipFill>
        <p:spPr>
          <a:xfrm>
            <a:off x="2860471" y="2017299"/>
            <a:ext cx="274320" cy="244792"/>
          </a:xfrm>
          <a:prstGeom prst="rect">
            <a:avLst/>
          </a:prstGeom>
        </p:spPr>
      </p:pic>
      <p:pic>
        <p:nvPicPr>
          <p:cNvPr id="33" name="Picture 32" descr="databricks.png"/>
          <p:cNvPicPr>
            <a:picLocks noChangeAspect="1"/>
          </p:cNvPicPr>
          <p:nvPr/>
        </p:nvPicPr>
        <p:blipFill>
          <a:blip r:embed="rId5"/>
          <a:stretch>
            <a:fillRect/>
          </a:stretch>
        </p:blipFill>
        <p:spPr>
          <a:xfrm>
            <a:off x="3409033" y="2011680"/>
            <a:ext cx="457356" cy="256032"/>
          </a:xfrm>
          <a:prstGeom prst="rect">
            <a:avLst/>
          </a:prstGeom>
        </p:spPr>
      </p:pic>
      <p:sp>
        <p:nvSpPr>
          <p:cNvPr id="34" name="TextBox 33"/>
          <p:cNvSpPr txBox="1"/>
          <p:nvPr/>
        </p:nvSpPr>
        <p:spPr>
          <a:xfrm>
            <a:off x="28604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a:t>
            </a:r>
          </a:p>
        </p:txBody>
      </p:sp>
      <p:sp>
        <p:nvSpPr>
          <p:cNvPr id="35" name="TextBox 34"/>
          <p:cNvSpPr txBox="1"/>
          <p:nvPr/>
        </p:nvSpPr>
        <p:spPr>
          <a:xfrm>
            <a:off x="28604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Only named BSAs</a:t>
            </a:r>
          </a:p>
        </p:txBody>
      </p:sp>
      <p:sp>
        <p:nvSpPr>
          <p:cNvPr id="36" name="TextBox 35"/>
          <p:cNvSpPr txBox="1"/>
          <p:nvPr/>
        </p:nvSpPr>
        <p:spPr>
          <a:xfrm>
            <a:off x="28604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Only the client's BSA group — the people already allowed to read this data — can open the app. Each signs in with the company login. Nothing runs, is decided or handed out without that name attached.</a:t>
            </a:r>
          </a:p>
        </p:txBody>
      </p:sp>
      <p:cxnSp>
        <p:nvCxnSpPr>
          <p:cNvPr id="37" name="Connector 36"/>
          <p:cNvCxnSpPr/>
          <p:nvPr/>
        </p:nvCxnSpPr>
        <p:spPr>
          <a:xfrm>
            <a:off x="28604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8604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Microsoft Entra ID group · Databricks Apps</a:t>
            </a:r>
          </a:p>
        </p:txBody>
      </p:sp>
      <p:cxnSp>
        <p:nvCxnSpPr>
          <p:cNvPr id="39" name="Connector 38"/>
          <p:cNvCxnSpPr/>
          <p:nvPr/>
        </p:nvCxnSpPr>
        <p:spPr>
          <a:xfrm>
            <a:off x="45505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769967" y="1627632"/>
            <a:ext cx="1818055" cy="2615184"/>
          </a:xfrm>
          <a:prstGeom prst="rect">
            <a:avLst/>
          </a:prstGeom>
          <a:solidFill>
            <a:srgbClr val="FCECEE"/>
          </a:solidFill>
          <a:ln w="15875">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769967" y="1627632"/>
            <a:ext cx="1818055" cy="45720"/>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916271" y="1773936"/>
            <a:ext cx="1525447" cy="182880"/>
          </a:xfrm>
          <a:prstGeom prst="rect">
            <a:avLst/>
          </a:prstGeom>
          <a:noFill/>
        </p:spPr>
        <p:txBody>
          <a:bodyPr wrap="square" lIns="0" rIns="0" tIns="0" bIns="0" anchor="t">
            <a:spAutoFit/>
          </a:bodyPr>
          <a:lstStyle/>
          <a:p>
            <a:pPr algn="l"/>
            <a:r>
              <a:rPr sz="850" b="1" spc="90">
                <a:solidFill>
                  <a:srgbClr val="D2202F"/>
                </a:solidFill>
                <a:latin typeface="Consolas"/>
              </a:rPr>
              <a:t>03</a:t>
            </a:r>
            <a:r>
              <a:rPr sz="850" b="1" spc="90">
                <a:solidFill>
                  <a:srgbClr val="D2202F"/>
                </a:solidFill>
                <a:latin typeface="Segoe UI"/>
              </a:rPr>
              <a:t>  GENERATED</a:t>
            </a:r>
          </a:p>
        </p:txBody>
      </p:sp>
      <p:pic>
        <p:nvPicPr>
          <p:cNvPr id="43" name="Picture 42" descr="claude.png"/>
          <p:cNvPicPr>
            <a:picLocks noChangeAspect="1"/>
          </p:cNvPicPr>
          <p:nvPr/>
        </p:nvPicPr>
        <p:blipFill>
          <a:blip r:embed="rId6"/>
          <a:stretch>
            <a:fillRect/>
          </a:stretch>
        </p:blipFill>
        <p:spPr>
          <a:xfrm>
            <a:off x="4916271" y="2053685"/>
            <a:ext cx="786384" cy="172021"/>
          </a:xfrm>
          <a:prstGeom prst="rect">
            <a:avLst/>
          </a:prstGeom>
        </p:spPr>
      </p:pic>
      <p:sp>
        <p:nvSpPr>
          <p:cNvPr id="44" name="TextBox 43"/>
          <p:cNvSpPr txBox="1"/>
          <p:nvPr/>
        </p:nvSpPr>
        <p:spPr>
          <a:xfrm>
            <a:off x="4916271" y="2359152"/>
            <a:ext cx="1525447" cy="182880"/>
          </a:xfrm>
          <a:prstGeom prst="rect">
            <a:avLst/>
          </a:prstGeom>
          <a:noFill/>
        </p:spPr>
        <p:txBody>
          <a:bodyPr wrap="square" lIns="0" rIns="0" tIns="0" bIns="0" anchor="t">
            <a:spAutoFit/>
          </a:bodyPr>
          <a:lstStyle/>
          <a:p>
            <a:pPr algn="l"/>
            <a:r>
              <a:rPr sz="780" b="1" spc="100">
                <a:solidFill>
                  <a:srgbClr val="D2202F"/>
                </a:solidFill>
                <a:latin typeface="Segoe UI"/>
              </a:rPr>
              <a:t>WHERE FROM?</a:t>
            </a:r>
          </a:p>
        </p:txBody>
      </p:sp>
      <p:sp>
        <p:nvSpPr>
          <p:cNvPr id="45" name="TextBox 44"/>
          <p:cNvSpPr txBox="1"/>
          <p:nvPr/>
        </p:nvSpPr>
        <p:spPr>
          <a:xfrm>
            <a:off x="49162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Every output is traceable</a:t>
            </a:r>
          </a:p>
        </p:txBody>
      </p:sp>
      <p:sp>
        <p:nvSpPr>
          <p:cNvPr id="46" name="TextBox 45"/>
          <p:cNvSpPr txBox="1"/>
          <p:nvPr/>
        </p:nvSpPr>
        <p:spPr>
          <a:xfrm>
            <a:off x="49162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One AI call reads the FRD — the only one in the system. Fingerprints tie the finished workbook to the exact FRD version, to that call (which model, which instructions) and to the revision of the client's standards that decided its target side.</a:t>
            </a:r>
          </a:p>
        </p:txBody>
      </p:sp>
      <p:cxnSp>
        <p:nvCxnSpPr>
          <p:cNvPr id="47" name="Connector 46"/>
          <p:cNvCxnSpPr/>
          <p:nvPr/>
        </p:nvCxnSpPr>
        <p:spPr>
          <a:xfrm>
            <a:off x="49162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916271" y="3968496"/>
            <a:ext cx="1525447" cy="237744"/>
          </a:xfrm>
          <a:prstGeom prst="rect">
            <a:avLst/>
          </a:prstGeom>
          <a:noFill/>
        </p:spPr>
        <p:txBody>
          <a:bodyPr wrap="square" lIns="0" rIns="0" tIns="0" bIns="0" anchor="t">
            <a:spAutoFit/>
          </a:bodyPr>
          <a:lstStyle/>
          <a:p>
            <a:pPr algn="l">
              <a:lnSpc>
                <a:spcPct val="108000"/>
              </a:lnSpc>
            </a:pPr>
            <a:r>
              <a:rPr sz="720" b="1">
                <a:solidFill>
                  <a:srgbClr val="D2202F"/>
                </a:solidFill>
                <a:latin typeface="Segoe UI"/>
              </a:rPr>
              <a:t>SHA-256 · run manifests · standards_sha256</a:t>
            </a:r>
          </a:p>
        </p:txBody>
      </p:sp>
      <p:cxnSp>
        <p:nvCxnSpPr>
          <p:cNvPr id="49" name="Connector 48"/>
          <p:cNvCxnSpPr/>
          <p:nvPr/>
        </p:nvCxnSpPr>
        <p:spPr>
          <a:xfrm>
            <a:off x="66063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8257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68257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9720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04</a:t>
            </a:r>
            <a:r>
              <a:rPr sz="850" b="1" spc="90">
                <a:solidFill>
                  <a:srgbClr val="0A2458"/>
                </a:solidFill>
                <a:latin typeface="Segoe UI"/>
              </a:rPr>
              <a:t>  DECIDED</a:t>
            </a:r>
          </a:p>
        </p:txBody>
      </p:sp>
      <p:pic>
        <p:nvPicPr>
          <p:cNvPr id="53" name="Picture 52" descr="check.png"/>
          <p:cNvPicPr>
            <a:picLocks noChangeAspect="1"/>
          </p:cNvPicPr>
          <p:nvPr/>
        </p:nvPicPr>
        <p:blipFill>
          <a:blip r:embed="rId7"/>
          <a:stretch>
            <a:fillRect/>
          </a:stretch>
        </p:blipFill>
        <p:spPr>
          <a:xfrm>
            <a:off x="6972071" y="2011680"/>
            <a:ext cx="256032" cy="256032"/>
          </a:xfrm>
          <a:prstGeom prst="rect">
            <a:avLst/>
          </a:prstGeom>
        </p:spPr>
      </p:pic>
      <p:sp>
        <p:nvSpPr>
          <p:cNvPr id="54" name="TextBox 53"/>
          <p:cNvSpPr txBox="1"/>
          <p:nvPr/>
        </p:nvSpPr>
        <p:spPr>
          <a:xfrm>
            <a:off x="69720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 DECIDES?</a:t>
            </a:r>
          </a:p>
        </p:txBody>
      </p:sp>
      <p:sp>
        <p:nvSpPr>
          <p:cNvPr id="55" name="TextBox 54"/>
          <p:cNvSpPr txBox="1"/>
          <p:nvPr/>
        </p:nvSpPr>
        <p:spPr>
          <a:xfrm>
            <a:off x="69720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A person decides</a:t>
            </a:r>
          </a:p>
        </p:txBody>
      </p:sp>
      <p:sp>
        <p:nvSpPr>
          <p:cNvPr id="56" name="TextBox 55"/>
          <p:cNvSpPr txBox="1"/>
          <p:nvPr/>
        </p:nvSpPr>
        <p:spPr>
          <a:xfrm>
            <a:off x="69720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The AI only proposes. Code checks every mapping against the FRD word for word and scores it against an approved example. Anything it cannot ground is left blank and flagged, never guessed. A named reviewer settles those and approves.</a:t>
            </a:r>
          </a:p>
        </p:txBody>
      </p:sp>
      <p:cxnSp>
        <p:nvCxnSpPr>
          <p:cNvPr id="57" name="Connector 56"/>
          <p:cNvCxnSpPr/>
          <p:nvPr/>
        </p:nvCxnSpPr>
        <p:spPr>
          <a:xfrm>
            <a:off x="69720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9720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Grounding audit · gating · human-in-the-loop</a:t>
            </a:r>
          </a:p>
        </p:txBody>
      </p:sp>
      <p:sp>
        <p:nvSpPr>
          <p:cNvPr id="59" name="Rectangle 58"/>
          <p:cNvSpPr/>
          <p:nvPr/>
        </p:nvSpPr>
        <p:spPr>
          <a:xfrm>
            <a:off x="658368" y="4425696"/>
            <a:ext cx="7985455" cy="713232"/>
          </a:xfrm>
          <a:prstGeom prst="rect">
            <a:avLst/>
          </a:prstGeom>
          <a:solidFill>
            <a:srgbClr val="FFFFFF"/>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658368" y="4425696"/>
            <a:ext cx="45720" cy="713232"/>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1" name="Picture 60" descr="shield.png"/>
          <p:cNvPicPr>
            <a:picLocks noChangeAspect="1"/>
          </p:cNvPicPr>
          <p:nvPr/>
        </p:nvPicPr>
        <p:blipFill>
          <a:blip r:embed="rId8"/>
          <a:stretch>
            <a:fillRect/>
          </a:stretch>
        </p:blipFill>
        <p:spPr>
          <a:xfrm>
            <a:off x="822959" y="4626864"/>
            <a:ext cx="292608" cy="292608"/>
          </a:xfrm>
          <a:prstGeom prst="rect">
            <a:avLst/>
          </a:prstGeom>
        </p:spPr>
      </p:pic>
      <p:sp>
        <p:nvSpPr>
          <p:cNvPr id="62" name="TextBox 61"/>
          <p:cNvSpPr txBox="1"/>
          <p:nvPr/>
        </p:nvSpPr>
        <p:spPr>
          <a:xfrm>
            <a:off x="1225295" y="4553712"/>
            <a:ext cx="2011680" cy="182880"/>
          </a:xfrm>
          <a:prstGeom prst="rect">
            <a:avLst/>
          </a:prstGeom>
          <a:noFill/>
        </p:spPr>
        <p:txBody>
          <a:bodyPr wrap="square" lIns="0" rIns="0" tIns="0" bIns="0" anchor="t">
            <a:spAutoFit/>
          </a:bodyPr>
          <a:lstStyle/>
          <a:p>
            <a:pPr algn="l"/>
            <a:r>
              <a:rPr sz="780" b="1" spc="100">
                <a:solidFill>
                  <a:srgbClr val="003DA5"/>
                </a:solidFill>
                <a:latin typeface="Segoe UI"/>
              </a:rPr>
              <a:t>WHAT HAPPENED?</a:t>
            </a:r>
          </a:p>
        </p:txBody>
      </p:sp>
      <p:sp>
        <p:nvSpPr>
          <p:cNvPr id="63" name="TextBox 62"/>
          <p:cNvSpPr txBox="1"/>
          <p:nvPr/>
        </p:nvSpPr>
        <p:spPr>
          <a:xfrm>
            <a:off x="1225295" y="4736592"/>
            <a:ext cx="2194560" cy="219456"/>
          </a:xfrm>
          <a:prstGeom prst="rect">
            <a:avLst/>
          </a:prstGeom>
          <a:noFill/>
        </p:spPr>
        <p:txBody>
          <a:bodyPr wrap="square" lIns="0" rIns="0" tIns="0" bIns="0" anchor="t">
            <a:spAutoFit/>
          </a:bodyPr>
          <a:lstStyle/>
          <a:p>
            <a:pPr algn="l"/>
            <a:r>
              <a:rPr sz="1019" b="1" spc="-15">
                <a:solidFill>
                  <a:srgbClr val="0A2458"/>
                </a:solidFill>
                <a:latin typeface="Segoe UI"/>
              </a:rPr>
              <a:t>Nothing is off the record</a:t>
            </a:r>
          </a:p>
        </p:txBody>
      </p:sp>
      <p:sp>
        <p:nvSpPr>
          <p:cNvPr id="64" name="TextBox 63"/>
          <p:cNvSpPr txBox="1"/>
          <p:nvPr/>
        </p:nvSpPr>
        <p:spPr>
          <a:xfrm>
            <a:off x="3584448" y="4553712"/>
            <a:ext cx="4876495" cy="420624"/>
          </a:xfrm>
          <a:prstGeom prst="rect">
            <a:avLst/>
          </a:prstGeom>
          <a:noFill/>
        </p:spPr>
        <p:txBody>
          <a:bodyPr wrap="square" lIns="0" rIns="0" tIns="0" bIns="0" anchor="t">
            <a:spAutoFit/>
          </a:bodyPr>
          <a:lstStyle/>
          <a:p>
            <a:pPr algn="l">
              <a:lnSpc>
                <a:spcPct val="110000"/>
              </a:lnSpc>
            </a:pPr>
            <a:r>
              <a:rPr sz="800" b="0">
                <a:solidFill>
                  <a:srgbClr val="333F48"/>
                </a:solidFill>
                <a:latin typeface="Segoe UI"/>
              </a:rPr>
              <a:t>Every step above — each run, reviewer decision, re-render, download and sync — writes one record the moment it happens. The trail cannot be edited afterwards and reads like a table.</a:t>
            </a:r>
          </a:p>
        </p:txBody>
      </p:sp>
      <p:sp>
        <p:nvSpPr>
          <p:cNvPr id="65" name="TextBox 64"/>
          <p:cNvSpPr txBox="1"/>
          <p:nvPr/>
        </p:nvSpPr>
        <p:spPr>
          <a:xfrm>
            <a:off x="3584448" y="4919472"/>
            <a:ext cx="4876495" cy="182880"/>
          </a:xfrm>
          <a:prstGeom prst="rect">
            <a:avLst/>
          </a:prstGeom>
          <a:noFill/>
        </p:spPr>
        <p:txBody>
          <a:bodyPr wrap="square" lIns="0" rIns="0" tIns="0" bIns="0" anchor="t">
            <a:spAutoFit/>
          </a:bodyPr>
          <a:lstStyle/>
          <a:p>
            <a:pPr algn="l"/>
            <a:r>
              <a:rPr sz="720" b="1">
                <a:solidFill>
                  <a:srgbClr val="003DA5"/>
                </a:solidFill>
                <a:latin typeface="Segoe UI"/>
              </a:rPr>
              <a:t>Audit trail in a Unity Catalog volume · Delta run log</a:t>
            </a:r>
          </a:p>
        </p:txBody>
      </p:sp>
      <p:sp>
        <p:nvSpPr>
          <p:cNvPr id="66" name="TextBox 65"/>
          <p:cNvSpPr txBox="1"/>
          <p:nvPr/>
        </p:nvSpPr>
        <p:spPr>
          <a:xfrm>
            <a:off x="658368" y="5340096"/>
            <a:ext cx="3727551" cy="457200"/>
          </a:xfrm>
          <a:prstGeom prst="rect">
            <a:avLst/>
          </a:prstGeom>
          <a:noFill/>
        </p:spPr>
        <p:txBody>
          <a:bodyPr wrap="square" lIns="0" rIns="0" tIns="0" bIns="0" anchor="t">
            <a:spAutoFit/>
          </a:bodyPr>
          <a:lstStyle/>
          <a:p>
            <a:pPr algn="l">
              <a:lnSpc>
                <a:spcPct val="112000"/>
              </a:lnSpc>
            </a:pPr>
            <a:r>
              <a:rPr sz="819" b="1">
                <a:solidFill>
                  <a:srgbClr val="0A2458"/>
                </a:solidFill>
                <a:latin typeface="Segoe UI"/>
              </a:rPr>
              <a:t>Client data crosses the platform boundary in exactly two places</a:t>
            </a:r>
          </a:p>
          <a:p>
            <a:pPr algn="l">
              <a:lnSpc>
                <a:spcPct val="112000"/>
              </a:lnSpc>
            </a:pPr>
            <a:r>
              <a:rPr sz="819" b="0">
                <a:solidFill>
                  <a:srgbClr val="333F48"/>
                </a:solidFill>
                <a:latin typeface="Segoe UI"/>
              </a:rPr>
              <a:t>— both shown under the station where they happen, both recorded.</a:t>
            </a:r>
          </a:p>
        </p:txBody>
      </p:sp>
      <p:sp>
        <p:nvSpPr>
          <p:cNvPr id="67" name="TextBox 66"/>
          <p:cNvSpPr txBox="1"/>
          <p:nvPr/>
        </p:nvSpPr>
        <p:spPr>
          <a:xfrm>
            <a:off x="658368" y="5833872"/>
            <a:ext cx="3727551" cy="182880"/>
          </a:xfrm>
          <a:prstGeom prst="rect">
            <a:avLst/>
          </a:prstGeom>
          <a:noFill/>
        </p:spPr>
        <p:txBody>
          <a:bodyPr wrap="square" lIns="0" rIns="0" tIns="0" bIns="0" anchor="t">
            <a:spAutoFit/>
          </a:bodyPr>
          <a:lstStyle/>
          <a:p>
            <a:pPr algn="l"/>
            <a:r>
              <a:rPr sz="740" b="1" spc="100">
                <a:solidFill>
                  <a:srgbClr val="D2202F"/>
                </a:solidFill>
                <a:latin typeface="Segoe UI"/>
              </a:rPr>
              <a:t>STILL OPEN — FOR THE CLIENT, NOT FOR CODE</a:t>
            </a:r>
          </a:p>
        </p:txBody>
      </p:sp>
      <p:sp>
        <p:nvSpPr>
          <p:cNvPr id="68" name="Rectangle 67"/>
          <p:cNvSpPr/>
          <p:nvPr/>
        </p:nvSpPr>
        <p:spPr>
          <a:xfrm>
            <a:off x="676656" y="6080760"/>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41247" y="6016752"/>
            <a:ext cx="3526383" cy="219456"/>
          </a:xfrm>
          <a:prstGeom prst="rect">
            <a:avLst/>
          </a:prstGeom>
          <a:noFill/>
        </p:spPr>
        <p:txBody>
          <a:bodyPr wrap="square" lIns="0" rIns="0" tIns="0" bIns="0" anchor="t">
            <a:spAutoFit/>
          </a:bodyPr>
          <a:lstStyle/>
          <a:p>
            <a:pPr algn="l"/>
            <a:r>
              <a:rPr sz="760" b="0">
                <a:solidFill>
                  <a:srgbClr val="333F48"/>
                </a:solidFill>
                <a:latin typeface="Segoe UI"/>
              </a:rPr>
              <a:t>Named data owner and steward</a:t>
            </a:r>
          </a:p>
        </p:txBody>
      </p:sp>
      <p:sp>
        <p:nvSpPr>
          <p:cNvPr id="70" name="Rectangle 69"/>
          <p:cNvSpPr/>
          <p:nvPr/>
        </p:nvSpPr>
        <p:spPr>
          <a:xfrm>
            <a:off x="676656" y="6281928"/>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41247" y="6217920"/>
            <a:ext cx="3526383" cy="219456"/>
          </a:xfrm>
          <a:prstGeom prst="rect">
            <a:avLst/>
          </a:prstGeom>
          <a:noFill/>
        </p:spPr>
        <p:txBody>
          <a:bodyPr wrap="square" lIns="0" rIns="0" tIns="0" bIns="0" anchor="t">
            <a:spAutoFit/>
          </a:bodyPr>
          <a:lstStyle/>
          <a:p>
            <a:pPr algn="l"/>
            <a:r>
              <a:rPr sz="760" b="0">
                <a:solidFill>
                  <a:srgbClr val="333F48"/>
                </a:solidFill>
                <a:latin typeface="Segoe UI"/>
              </a:rPr>
              <a:t>The model-vendor data path against the BAA posture</a:t>
            </a:r>
          </a:p>
        </p:txBody>
      </p:sp>
      <p:sp>
        <p:nvSpPr>
          <p:cNvPr id="72" name="Rectangle 71"/>
          <p:cNvSpPr/>
          <p:nvPr/>
        </p:nvSpPr>
        <p:spPr>
          <a:xfrm>
            <a:off x="676656" y="6483096"/>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841247" y="6419088"/>
            <a:ext cx="3526383" cy="219456"/>
          </a:xfrm>
          <a:prstGeom prst="rect">
            <a:avLst/>
          </a:prstGeom>
          <a:noFill/>
        </p:spPr>
        <p:txBody>
          <a:bodyPr wrap="square" lIns="0" rIns="0" tIns="0" bIns="0" anchor="t">
            <a:spAutoFit/>
          </a:bodyPr>
          <a:lstStyle/>
          <a:p>
            <a:pPr algn="l"/>
            <a:r>
              <a:rPr sz="760" b="0">
                <a:solidFill>
                  <a:srgbClr val="333F48"/>
                </a:solidFill>
                <a:latin typeface="Segoe UI"/>
              </a:rPr>
              <a:t>Retention for generated artefacts and the audit trail</a:t>
            </a:r>
          </a:p>
        </p:txBody>
      </p:sp>
      <p:sp>
        <p:nvSpPr>
          <p:cNvPr id="74" name="Rectangle 73"/>
          <p:cNvSpPr/>
          <p:nvPr/>
        </p:nvSpPr>
        <p:spPr>
          <a:xfrm>
            <a:off x="4769967" y="5321808"/>
            <a:ext cx="1818055" cy="1005839"/>
          </a:xfrm>
          <a:prstGeom prst="rect">
            <a:avLst/>
          </a:prstGeom>
          <a:solidFill>
            <a:srgbClr val="FCECEE"/>
          </a:solidFill>
          <a:ln w="12700">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897983" y="5413248"/>
            <a:ext cx="1562023" cy="859535"/>
          </a:xfrm>
          <a:prstGeom prst="rect">
            <a:avLst/>
          </a:prstGeom>
          <a:noFill/>
        </p:spPr>
        <p:txBody>
          <a:bodyPr wrap="square" lIns="0" rIns="0" tIns="0" bIns="0" anchor="t">
            <a:spAutoFit/>
          </a:bodyPr>
          <a:lstStyle/>
          <a:p>
            <a:pPr algn="l">
              <a:lnSpc>
                <a:spcPct val="110000"/>
              </a:lnSpc>
            </a:pPr>
            <a:r>
              <a:rPr sz="740" b="1">
                <a:solidFill>
                  <a:srgbClr val="D2202F"/>
                </a:solidFill>
                <a:latin typeface="Segoe UI"/>
              </a:rPr>
              <a:t>1   FRD text → Anthropic</a:t>
            </a:r>
          </a:p>
          <a:p>
            <a:pPr algn="l">
              <a:lnSpc>
                <a:spcPct val="110000"/>
              </a:lnSpc>
            </a:pPr>
            <a:r>
              <a:rPr sz="740" b="0">
                <a:solidFill>
                  <a:srgbClr val="333F48"/>
                </a:solidFill>
                <a:latin typeface="Segoe UI"/>
              </a:rPr>
              <a:t>The credential lives in a Databricks secret scope — or, on the workspace route, is the workspace's own. Within the client's data-handling review.</a:t>
            </a:r>
          </a:p>
        </p:txBody>
      </p:sp>
      <p:sp>
        <p:nvSpPr>
          <p:cNvPr id="76" name="Rectangle 75"/>
          <p:cNvSpPr/>
          <p:nvPr/>
        </p:nvSpPr>
        <p:spPr>
          <a:xfrm>
            <a:off x="6825767" y="5321808"/>
            <a:ext cx="1818055" cy="1005839"/>
          </a:xfrm>
          <a:prstGeom prst="rect">
            <a:avLst/>
          </a:prstGeom>
          <a:solidFill>
            <a:srgbClr val="EAF0FA"/>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6953783" y="5413248"/>
            <a:ext cx="1562023" cy="859535"/>
          </a:xfrm>
          <a:prstGeom prst="rect">
            <a:avLst/>
          </a:prstGeom>
          <a:noFill/>
        </p:spPr>
        <p:txBody>
          <a:bodyPr wrap="square" lIns="0" rIns="0" tIns="0" bIns="0" anchor="t">
            <a:spAutoFit/>
          </a:bodyPr>
          <a:lstStyle/>
          <a:p>
            <a:pPr algn="l">
              <a:lnSpc>
                <a:spcPct val="110000"/>
              </a:lnSpc>
            </a:pPr>
            <a:r>
              <a:rPr sz="740" b="1">
                <a:solidFill>
                  <a:srgbClr val="0A2458"/>
                </a:solidFill>
                <a:latin typeface="Segoe UI"/>
              </a:rPr>
              <a:t>2   workbook → a named person</a:t>
            </a:r>
          </a:p>
          <a:p>
            <a:pPr algn="l">
              <a:lnSpc>
                <a:spcPct val="110000"/>
              </a:lnSpc>
            </a:pPr>
            <a:r>
              <a:rPr sz="740" b="0">
                <a:solidFill>
                  <a:srgbClr val="333F48"/>
                </a:solidFill>
                <a:latin typeface="Segoe UI"/>
              </a:rPr>
              <a:t>The download is recorded with the file's fingerprint and the person's name. The agent never writes back to the library itself.</a:t>
            </a:r>
          </a:p>
        </p:txBody>
      </p:sp>
      <p:sp>
        <p:nvSpPr>
          <p:cNvPr id="78" name="Rectangle 77"/>
          <p:cNvSpPr/>
          <p:nvPr/>
        </p:nvSpPr>
        <p:spPr>
          <a:xfrm>
            <a:off x="9064447" y="1627632"/>
            <a:ext cx="2468880" cy="4700016"/>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064447" y="1627632"/>
            <a:ext cx="2468880" cy="4572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9064447" y="1371600"/>
            <a:ext cx="2468880" cy="201168"/>
          </a:xfrm>
          <a:prstGeom prst="rect">
            <a:avLst/>
          </a:prstGeom>
          <a:noFill/>
        </p:spPr>
        <p:txBody>
          <a:bodyPr wrap="square" lIns="0" rIns="0" tIns="0" bIns="0" anchor="t">
            <a:spAutoFit/>
          </a:bodyPr>
          <a:lstStyle/>
          <a:p>
            <a:pPr algn="l"/>
            <a:r>
              <a:rPr sz="850" b="1" spc="140">
                <a:solidFill>
                  <a:srgbClr val="0A2458"/>
                </a:solidFill>
                <a:latin typeface="Segoe UI"/>
              </a:rPr>
              <a:t>→  REGISTERED IN</a:t>
            </a:r>
          </a:p>
        </p:txBody>
      </p:sp>
      <p:pic>
        <p:nvPicPr>
          <p:cNvPr id="81" name="Picture 80" descr="collibra.png"/>
          <p:cNvPicPr>
            <a:picLocks noChangeAspect="1"/>
          </p:cNvPicPr>
          <p:nvPr/>
        </p:nvPicPr>
        <p:blipFill>
          <a:blip r:embed="rId9"/>
          <a:stretch>
            <a:fillRect/>
          </a:stretch>
        </p:blipFill>
        <p:spPr>
          <a:xfrm>
            <a:off x="9449556" y="1865376"/>
            <a:ext cx="1698660" cy="402336"/>
          </a:xfrm>
          <a:prstGeom prst="rect">
            <a:avLst/>
          </a:prstGeom>
        </p:spPr>
      </p:pic>
      <p:sp>
        <p:nvSpPr>
          <p:cNvPr id="82" name="TextBox 81"/>
          <p:cNvSpPr txBox="1"/>
          <p:nvPr/>
        </p:nvSpPr>
        <p:spPr>
          <a:xfrm>
            <a:off x="9283903" y="2414016"/>
            <a:ext cx="2029968" cy="182880"/>
          </a:xfrm>
          <a:prstGeom prst="rect">
            <a:avLst/>
          </a:prstGeom>
          <a:noFill/>
        </p:spPr>
        <p:txBody>
          <a:bodyPr wrap="square" lIns="0" rIns="0" tIns="0" bIns="0" anchor="t">
            <a:spAutoFit/>
          </a:bodyPr>
          <a:lstStyle/>
          <a:p>
            <a:pPr algn="l"/>
            <a:r>
              <a:rPr sz="780" b="1" spc="100">
                <a:solidFill>
                  <a:srgbClr val="0A2458"/>
                </a:solidFill>
                <a:latin typeface="Segoe UI"/>
              </a:rPr>
              <a:t>GOVERNANCE REGISTER</a:t>
            </a:r>
          </a:p>
        </p:txBody>
      </p:sp>
      <p:sp>
        <p:nvSpPr>
          <p:cNvPr id="83" name="TextBox 82"/>
          <p:cNvSpPr txBox="1"/>
          <p:nvPr/>
        </p:nvSpPr>
        <p:spPr>
          <a:xfrm>
            <a:off x="9283903" y="2615184"/>
            <a:ext cx="2029968" cy="841248"/>
          </a:xfrm>
          <a:prstGeom prst="rect">
            <a:avLst/>
          </a:prstGeom>
          <a:noFill/>
        </p:spPr>
        <p:txBody>
          <a:bodyPr wrap="square" lIns="0" rIns="0" tIns="0" bIns="0" anchor="t">
            <a:spAutoFit/>
          </a:bodyPr>
          <a:lstStyle/>
          <a:p>
            <a:pPr algn="l">
              <a:lnSpc>
                <a:spcPct val="112000"/>
              </a:lnSpc>
            </a:pPr>
            <a:r>
              <a:rPr sz="840" b="0">
                <a:solidFill>
                  <a:srgbClr val="333F48"/>
                </a:solidFill>
                <a:latin typeface="Segoe UI"/>
              </a:rPr>
              <a:t>The client's data-governance catalog. The agent is registered here as an </a:t>
            </a:r>
            <a:r>
              <a:rPr sz="840" b="1">
                <a:solidFill>
                  <a:srgbClr val="0A2458"/>
                </a:solidFill>
                <a:latin typeface="Segoe UI"/>
              </a:rPr>
              <a:t>AI asset</a:t>
            </a:r>
            <a:r>
              <a:rPr sz="840" b="0">
                <a:solidFill>
                  <a:srgbClr val="333F48"/>
                </a:solidFill>
                <a:latin typeface="Segoe UI"/>
              </a:rPr>
              <a:t> — one place to answer “what is this agent, and is it under control?”</a:t>
            </a:r>
          </a:p>
        </p:txBody>
      </p:sp>
      <p:sp>
        <p:nvSpPr>
          <p:cNvPr id="84" name="Rectangle 83"/>
          <p:cNvSpPr/>
          <p:nvPr/>
        </p:nvSpPr>
        <p:spPr>
          <a:xfrm>
            <a:off x="9283903" y="3602736"/>
            <a:ext cx="2029968" cy="1133856"/>
          </a:xfrm>
          <a:prstGeom prst="rect">
            <a:avLst/>
          </a:prstGeom>
          <a:solidFill>
            <a:srgbClr val="FFFFFF"/>
          </a:solidFill>
          <a:ln w="12700">
            <a:solidFill>
              <a:srgbClr val="CDD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5" name="Picture 84" descr="unitycatalog.png"/>
          <p:cNvPicPr>
            <a:picLocks noChangeAspect="1"/>
          </p:cNvPicPr>
          <p:nvPr/>
        </p:nvPicPr>
        <p:blipFill>
          <a:blip r:embed="rId3"/>
          <a:stretch>
            <a:fillRect/>
          </a:stretch>
        </p:blipFill>
        <p:spPr>
          <a:xfrm>
            <a:off x="9494843" y="3730752"/>
            <a:ext cx="748551" cy="256032"/>
          </a:xfrm>
          <a:prstGeom prst="rect">
            <a:avLst/>
          </a:prstGeom>
        </p:spPr>
      </p:pic>
      <p:cxnSp>
        <p:nvCxnSpPr>
          <p:cNvPr id="86" name="Connector 85"/>
          <p:cNvCxnSpPr/>
          <p:nvPr/>
        </p:nvCxnSpPr>
        <p:spPr>
          <a:xfrm>
            <a:off x="10436047" y="3858768"/>
            <a:ext cx="274320"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9411919" y="4059936"/>
            <a:ext cx="1773936" cy="640080"/>
          </a:xfrm>
          <a:prstGeom prst="rect">
            <a:avLst/>
          </a:prstGeom>
          <a:noFill/>
        </p:spPr>
        <p:txBody>
          <a:bodyPr wrap="square" lIns="0" rIns="0" tIns="0" bIns="0" anchor="t">
            <a:spAutoFit/>
          </a:bodyPr>
          <a:lstStyle/>
          <a:p>
            <a:pPr algn="l">
              <a:lnSpc>
                <a:spcPct val="108000"/>
              </a:lnSpc>
            </a:pPr>
            <a:r>
              <a:rPr sz="780" b="1">
                <a:solidFill>
                  <a:srgbClr val="0A2458"/>
                </a:solidFill>
                <a:latin typeface="Segoe UI"/>
              </a:rPr>
              <a:t>Collibra harvests Unity Catalog</a:t>
            </a:r>
            <a:r>
              <a:rPr sz="780" b="0">
                <a:solidFill>
                  <a:srgbClr val="333F48"/>
                </a:solidFill>
                <a:latin typeface="Segoe UI"/>
              </a:rPr>
              <a:t> — owners, sensitivity and descriptions set in Databricks appear here automatically. Classified once, visible in both.</a:t>
            </a:r>
          </a:p>
        </p:txBody>
      </p:sp>
      <p:sp>
        <p:nvSpPr>
          <p:cNvPr id="88" name="TextBox 87"/>
          <p:cNvSpPr txBox="1"/>
          <p:nvPr/>
        </p:nvSpPr>
        <p:spPr>
          <a:xfrm>
            <a:off x="9283903" y="4919472"/>
            <a:ext cx="2029968" cy="182880"/>
          </a:xfrm>
          <a:prstGeom prst="rect">
            <a:avLst/>
          </a:prstGeom>
          <a:noFill/>
        </p:spPr>
        <p:txBody>
          <a:bodyPr wrap="square" lIns="0" rIns="0" tIns="0" bIns="0" anchor="t">
            <a:spAutoFit/>
          </a:bodyPr>
          <a:lstStyle/>
          <a:p>
            <a:pPr algn="l"/>
            <a:r>
              <a:rPr sz="780" b="1" spc="100">
                <a:solidFill>
                  <a:srgbClr val="0A2458"/>
                </a:solidFill>
                <a:latin typeface="Segoe UI"/>
              </a:rPr>
              <a:t>WHAT IS REGISTERED</a:t>
            </a:r>
          </a:p>
        </p:txBody>
      </p:sp>
      <p:sp>
        <p:nvSpPr>
          <p:cNvPr id="89" name="Rectangle 88"/>
          <p:cNvSpPr/>
          <p:nvPr/>
        </p:nvSpPr>
        <p:spPr>
          <a:xfrm>
            <a:off x="9302191" y="5207508"/>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485071" y="5138928"/>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What the agent is for, and its risk tier</a:t>
            </a:r>
          </a:p>
        </p:txBody>
      </p:sp>
      <p:sp>
        <p:nvSpPr>
          <p:cNvPr id="91" name="Rectangle 90"/>
          <p:cNvSpPr/>
          <p:nvPr/>
        </p:nvSpPr>
        <p:spPr>
          <a:xfrm>
            <a:off x="9302191" y="5472684"/>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9485071" y="5404104"/>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Who owns it and who stewards it</a:t>
            </a:r>
          </a:p>
        </p:txBody>
      </p:sp>
      <p:sp>
        <p:nvSpPr>
          <p:cNvPr id="93" name="Rectangle 92"/>
          <p:cNvSpPr/>
          <p:nvPr/>
        </p:nvSpPr>
        <p:spPr>
          <a:xfrm>
            <a:off x="9302191" y="5737860"/>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485071" y="5669280"/>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data it reads and writes, and where it flows</a:t>
            </a:r>
          </a:p>
        </p:txBody>
      </p:sp>
      <p:sp>
        <p:nvSpPr>
          <p:cNvPr id="95" name="Rectangle 94"/>
          <p:cNvSpPr/>
          <p:nvPr/>
        </p:nvSpPr>
        <p:spPr>
          <a:xfrm>
            <a:off x="9302191" y="6003036"/>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485071" y="5934456"/>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five controls shown to the left</a:t>
            </a:r>
          </a:p>
        </p:txBody>
      </p:sp>
      <p:cxnSp>
        <p:nvCxnSpPr>
          <p:cNvPr id="97" name="Connector 96"/>
          <p:cNvCxnSpPr/>
          <p:nvPr/>
        </p:nvCxnSpPr>
        <p:spPr>
          <a:xfrm>
            <a:off x="8698687" y="2935224"/>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98687" y="4782312"/>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0" y="6620256"/>
            <a:ext cx="12191695" cy="237744"/>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658368" y="6665976"/>
            <a:ext cx="10874959" cy="182880"/>
          </a:xfrm>
          <a:prstGeom prst="rect">
            <a:avLst/>
          </a:prstGeom>
          <a:noFill/>
        </p:spPr>
        <p:txBody>
          <a:bodyPr wrap="square" lIns="0" rIns="0" tIns="0" bIns="0" anchor="t">
            <a:spAutoFit/>
          </a:bodyPr>
          <a:lstStyle/>
          <a:p>
            <a:pPr algn="l"/>
            <a:r>
              <a:rPr sz="800" b="1" spc="100">
                <a:solidFill>
                  <a:srgbClr val="FFFFFF"/>
                </a:solidFill>
                <a:latin typeface="Segoe UI"/>
              </a:rPr>
              <a:t>CLASSIFIED DATA</a:t>
            </a:r>
            <a:r>
              <a:rPr sz="800" b="0" spc="100">
                <a:solidFill>
                  <a:srgbClr val="6B7FA8"/>
                </a:solidFill>
                <a:latin typeface="Segoe UI"/>
              </a:rPr>
              <a:t>     ·     </a:t>
            </a:r>
            <a:r>
              <a:rPr sz="800" b="1" spc="100">
                <a:solidFill>
                  <a:srgbClr val="FFFFFF"/>
                </a:solidFill>
                <a:latin typeface="Segoe UI"/>
              </a:rPr>
              <a:t>NAMED PEOPLE</a:t>
            </a:r>
            <a:r>
              <a:rPr sz="800" b="0" spc="100">
                <a:solidFill>
                  <a:srgbClr val="6B7FA8"/>
                </a:solidFill>
                <a:latin typeface="Segoe UI"/>
              </a:rPr>
              <a:t>     ·     </a:t>
            </a:r>
            <a:r>
              <a:rPr sz="800" b="1" spc="100">
                <a:solidFill>
                  <a:srgbClr val="FFFFFF"/>
                </a:solidFill>
                <a:latin typeface="Segoe UI"/>
              </a:rPr>
              <a:t>TRACEABLE OUTPUTS</a:t>
            </a:r>
            <a:r>
              <a:rPr sz="800" b="0" spc="100">
                <a:solidFill>
                  <a:srgbClr val="6B7FA8"/>
                </a:solidFill>
                <a:latin typeface="Segoe UI"/>
              </a:rPr>
              <a:t>     ·     </a:t>
            </a:r>
            <a:r>
              <a:rPr sz="800" b="1" spc="100">
                <a:solidFill>
                  <a:srgbClr val="FFFFFF"/>
                </a:solidFill>
                <a:latin typeface="Segoe UI"/>
              </a:rPr>
              <a:t>A PERSON DECIDES</a:t>
            </a:r>
            <a:r>
              <a:rPr sz="800" b="0" spc="100">
                <a:solidFill>
                  <a:srgbClr val="6B7FA8"/>
                </a:solidFill>
                <a:latin typeface="Segoe UI"/>
              </a:rPr>
              <a:t>     ·     </a:t>
            </a:r>
            <a:r>
              <a:rPr sz="800" b="1" spc="100">
                <a:solidFill>
                  <a:srgbClr val="FFFFFF"/>
                </a:solidFill>
                <a:latin typeface="Segoe UI"/>
              </a:rPr>
              <a:t>A RECORD OF EVERYTHING</a:t>
            </a:r>
          </a:p>
        </p:txBody>
      </p:sp>
      <p:sp>
        <p:nvSpPr>
          <p:cNvPr id="101" name="TextBox 100"/>
          <p:cNvSpPr txBox="1"/>
          <p:nvPr/>
        </p:nvSpPr>
        <p:spPr>
          <a:xfrm>
            <a:off x="7144207" y="6400800"/>
            <a:ext cx="4389120" cy="182880"/>
          </a:xfrm>
          <a:prstGeom prst="rect">
            <a:avLst/>
          </a:prstGeom>
          <a:noFill/>
        </p:spPr>
        <p:txBody>
          <a:bodyPr wrap="square" lIns="0" rIns="0" tIns="0" bIns="0" anchor="t">
            <a:spAutoFit/>
          </a:bodyPr>
          <a:lstStyle/>
          <a:p>
            <a:pPr algn="r"/>
            <a:r>
              <a:rPr sz="720" b="1" spc="90">
                <a:solidFill>
                  <a:srgbClr val="455560"/>
                </a:solidFill>
                <a:latin typeface="Segoe UI"/>
              </a:rPr>
              <a:t>CONTROLS BUILT 2026-08-23 · COLLIBRA ENTRY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