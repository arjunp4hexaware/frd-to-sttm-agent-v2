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1"/>
  </p:notesMasterIdLst>
  <p:sldIdLst>
    <p:sldId id="2147469764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BB00F6C-91F8-4A0E-B8FB-7A61AF68BD20}">
          <p14:sldIdLst>
            <p14:sldId id="256"/>
            <p14:sldId id="257"/>
            <p14:sldId id="2147469756"/>
            <p14:sldId id="2147469762"/>
            <p14:sldId id="258"/>
            <p14:sldId id="2147469760"/>
            <p14:sldId id="2147469764"/>
            <p14:sldId id="398"/>
            <p14:sldId id="2147469772"/>
            <p14:sldId id="2147469770"/>
            <p14:sldId id="261"/>
            <p14:sldId id="2147469752"/>
            <p14:sldId id="2147469771"/>
            <p14:sldId id="264"/>
            <p14:sldId id="2147469765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666B1"/>
    <a:srgbClr val="0338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AF1090-E779-9589-53C0-BCE84208D3B8}" v="1" dt="2026-08-27T20:42:20.873"/>
    <p1510:client id="{56F99941-40A3-47CB-9BE5-F9F0FA358D8C}" v="787" dt="2026-08-27T11:28:20.765"/>
    <p1510:client id="{B5C27B78-DEAE-4E4F-9BBA-7105430FE859}" v="714" dt="2026-08-27T12:09:56.23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7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0" cy="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0" y="0"/>
            <a:ext cx="0" cy="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B7AAE9-E3B9-4C1F-B063-B56A918B35C1}" type="datetimeFigureOut">
              <a:t>8/28/2026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0" y="0"/>
            <a:ext cx="0" cy="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0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0" y="0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F4F88F-DB2D-4C99-9E9D-5D24CC6B19B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1833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ACF2B-D2A3-DE63-9EAC-13AFC945A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C8B239-6875-3D24-C94C-AC022AE728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120B85-26B3-0275-8AC5-5A192186CE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30B7BA-AD62-5F0C-2497-07ED01EF04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24840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77532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jpeg"/><Relationship Id="rId4" Type="http://schemas.openxmlformats.org/officeDocument/2006/relationships/image" Target="../media/image21.png"/><Relationship Id="rId5" Type="http://schemas.openxmlformats.org/officeDocument/2006/relationships/image" Target="../media/image9.png"/><Relationship Id="rId6" Type="http://schemas.openxmlformats.org/officeDocument/2006/relationships/image" Target="../media/image36.png"/><Relationship Id="rId7" Type="http://schemas.openxmlformats.org/officeDocument/2006/relationships/image" Target="../media/image13.png"/><Relationship Id="rId8" Type="http://schemas.openxmlformats.org/officeDocument/2006/relationships/image" Target="../media/image25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Relationship Id="rId12" Type="http://schemas.openxmlformats.org/officeDocument/2006/relationships/image" Target="../media/image35.pn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CCC3B5-6D46-FB51-5B70-0F5DF9FFF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9184" y="182880"/>
            <a:ext cx="11338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FRD → STTM AGENT  ·  DATA GOVERNANCE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9184" y="896112"/>
            <a:ext cx="11521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3DA5"/>
                </a:solidFill>
                <a:latin typeface="Calibri"/>
              </a:rPr>
              <a:t>Classified data · named people · traceable outputs · a person decides · a record of everything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37160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spc="140">
                <a:solidFill>
                  <a:srgbClr val="003DA5"/>
                </a:solidFill>
                <a:latin typeface="Calibri"/>
              </a:rPr>
              <a:t>THE DOCUMENT'S JOURNEY 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89720" y="1371600"/>
            <a:ext cx="26179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spc="140">
                <a:solidFill>
                  <a:srgbClr val="003DA5"/>
                </a:solidFill>
                <a:latin typeface="Calibri"/>
              </a:rPr>
              <a:t>→  REGISTERED IN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1609344"/>
            <a:ext cx="2011680" cy="256032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12064" y="1719072"/>
            <a:ext cx="17556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spc="140">
                <a:solidFill>
                  <a:srgbClr val="003DA5"/>
                </a:solidFill>
                <a:latin typeface="Calibri"/>
              </a:rPr>
              <a:t>01   ENTERS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4" y="1943100"/>
            <a:ext cx="438912" cy="429768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" y="1954691"/>
            <a:ext cx="1188720" cy="40658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2064" y="2414016"/>
            <a:ext cx="17556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spc="140">
                <a:solidFill>
                  <a:srgbClr val="455560"/>
                </a:solidFill>
                <a:latin typeface="Calibri"/>
              </a:rPr>
              <a:t>WHAT DATA?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2578608"/>
            <a:ext cx="17556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D2D2D"/>
                </a:solidFill>
                <a:latin typeface="Calibri"/>
              </a:rPr>
              <a:t>Classified at the door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2852928"/>
            <a:ext cx="1755648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333F48"/>
                </a:solidFill>
                <a:latin typeface="Calibri"/>
              </a:rPr>
              <a:t>Two documents per source — the FRD and the vendor's data dictionary — arrive from SharePoint read-only and land in Unity Catalog volumes. Every volume and table carries an owner, a steward, its sensitivity (the dictionary flags PHI columns) and a retention rule, set by the data owner.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12064" y="3858768"/>
            <a:ext cx="1755648" cy="0"/>
          </a:xfrm>
          <a:prstGeom prst="line">
            <a:avLst/>
          </a:prstGeom>
          <a:ln w="12700">
            <a:solidFill>
              <a:srgbClr val="CDD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12064" y="3913631"/>
            <a:ext cx="17556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1">
                <a:solidFill>
                  <a:srgbClr val="003DA5"/>
                </a:solidFill>
                <a:latin typeface="Calibri"/>
              </a:rPr>
              <a:t>SharePoint read-only · Unity Catalog tags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04872" y="2706624"/>
            <a:ext cx="164592" cy="0"/>
          </a:xfrm>
          <a:prstGeom prst="line">
            <a:avLst/>
          </a:prstGeom>
          <a:ln w="19050">
            <a:solidFill>
              <a:srgbClr val="003DA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578608" y="1609344"/>
            <a:ext cx="2011680" cy="256032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706624" y="1719072"/>
            <a:ext cx="17556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spc="140">
                <a:solidFill>
                  <a:srgbClr val="003DA5"/>
                </a:solidFill>
                <a:latin typeface="Calibri"/>
              </a:rPr>
              <a:t>02   OPENED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06624" y="1962150"/>
            <a:ext cx="438912" cy="391667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91840" y="1953228"/>
            <a:ext cx="731520" cy="40951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706624" y="2414016"/>
            <a:ext cx="17556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spc="140">
                <a:solidFill>
                  <a:srgbClr val="455560"/>
                </a:solidFill>
                <a:latin typeface="Calibri"/>
              </a:rPr>
              <a:t>WHO?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06624" y="2578608"/>
            <a:ext cx="17556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D2D2D"/>
                </a:solidFill>
                <a:latin typeface="Calibri"/>
              </a:rPr>
              <a:t>Only named people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06624" y="2852928"/>
            <a:ext cx="1755648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333F48"/>
                </a:solidFill>
                <a:latin typeface="Calibri"/>
              </a:rPr>
              <a:t>Only the client's BSA group — the people already allowed to read this data — can open the review app. Each signs in with the company login; nothing runs, is decided or is handed out without that name. May run equals may read.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706624" y="3858768"/>
            <a:ext cx="1755648" cy="0"/>
          </a:xfrm>
          <a:prstGeom prst="line">
            <a:avLst/>
          </a:prstGeom>
          <a:ln w="12700">
            <a:solidFill>
              <a:srgbClr val="CDD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706624" y="3913631"/>
            <a:ext cx="17556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1">
                <a:solidFill>
                  <a:srgbClr val="003DA5"/>
                </a:solidFill>
                <a:latin typeface="Calibri"/>
              </a:rPr>
              <a:t>Microsoft Entra ID group · Databricks Apps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99432" y="2706624"/>
            <a:ext cx="164592" cy="0"/>
          </a:xfrm>
          <a:prstGeom prst="line">
            <a:avLst/>
          </a:prstGeom>
          <a:ln w="19050">
            <a:solidFill>
              <a:srgbClr val="003DA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4773168" y="1609344"/>
            <a:ext cx="2011680" cy="2560320"/>
          </a:xfrm>
          <a:prstGeom prst="rect">
            <a:avLst/>
          </a:prstGeom>
          <a:solidFill>
            <a:srgbClr val="FCECEE"/>
          </a:solidFill>
          <a:ln w="12700">
            <a:solidFill>
              <a:srgbClr val="D22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901184" y="1719072"/>
            <a:ext cx="17556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spc="140">
                <a:solidFill>
                  <a:srgbClr val="D2202F"/>
                </a:solidFill>
                <a:latin typeface="Calibri"/>
              </a:rPr>
              <a:t>03   GENERATED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01184" y="2007965"/>
            <a:ext cx="1371600" cy="300037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901184" y="2414016"/>
            <a:ext cx="17556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spc="140">
                <a:solidFill>
                  <a:srgbClr val="455560"/>
                </a:solidFill>
                <a:latin typeface="Calibri"/>
              </a:rPr>
              <a:t>WHERE FROM?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01184" y="2578608"/>
            <a:ext cx="17556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D2202F"/>
                </a:solidFill>
                <a:latin typeface="Calibri"/>
              </a:rPr>
              <a:t>Every cell has a source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01184" y="2852928"/>
            <a:ext cx="1755648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333F48"/>
                </a:solidFill>
                <a:latin typeface="Calibri"/>
              </a:rPr>
              <a:t>One Claude call reads the FRD — the only one in the system. Every identifier it returns must appear word-for-word in the FRD or becomes a question. Column names are carried as-is from the dictionary; the agent never opens the source's own approved workbook; a missing dictionary blocks the run.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901184" y="3858768"/>
            <a:ext cx="1755648" cy="0"/>
          </a:xfrm>
          <a:prstGeom prst="line">
            <a:avLst/>
          </a:prstGeom>
          <a:ln w="12700">
            <a:solidFill>
              <a:srgbClr val="CDD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901184" y="3913631"/>
            <a:ext cx="17556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1">
                <a:solidFill>
                  <a:srgbClr val="D2202F"/>
                </a:solidFill>
                <a:latin typeface="Calibri"/>
              </a:rPr>
              <a:t>verbatim grounding · three sources or a question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793992" y="2706624"/>
            <a:ext cx="164592" cy="0"/>
          </a:xfrm>
          <a:prstGeom prst="line">
            <a:avLst/>
          </a:prstGeom>
          <a:ln w="19050">
            <a:solidFill>
              <a:srgbClr val="003DA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967728" y="1609344"/>
            <a:ext cx="2011680" cy="256032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095744" y="1719072"/>
            <a:ext cx="17556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spc="140">
                <a:solidFill>
                  <a:srgbClr val="003DA5"/>
                </a:solidFill>
                <a:latin typeface="Calibri"/>
              </a:rPr>
              <a:t>04   DECIDED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95744" y="1938528"/>
            <a:ext cx="438912" cy="43891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095744" y="2414016"/>
            <a:ext cx="17556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spc="140">
                <a:solidFill>
                  <a:srgbClr val="455560"/>
                </a:solidFill>
                <a:latin typeface="Calibri"/>
              </a:rPr>
              <a:t>WHO DECIDES?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95744" y="2578608"/>
            <a:ext cx="17556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D2D2D"/>
                </a:solidFill>
                <a:latin typeface="Calibri"/>
              </a:rPr>
              <a:t>A person decides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95744" y="2852928"/>
            <a:ext cx="1755648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333F48"/>
                </a:solidFill>
                <a:latin typeface="Calibri"/>
              </a:rPr>
              <a:t>The AI only proposes. Code computes the verdict — ready, needs input, cannot generate — and lists what it would not guess. A named reviewer answers each question (keep · remove · correct); the answers are recorded and survive a re-run of the same document. Approval is the reviewer's upload.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095744" y="3858768"/>
            <a:ext cx="1755648" cy="0"/>
          </a:xfrm>
          <a:prstGeom prst="line">
            <a:avLst/>
          </a:prstGeom>
          <a:ln w="12700">
            <a:solidFill>
              <a:srgbClr val="CDD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095744" y="3913631"/>
            <a:ext cx="17556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1">
                <a:solidFill>
                  <a:srgbClr val="003DA5"/>
                </a:solidFill>
                <a:latin typeface="Calibri"/>
              </a:rPr>
              <a:t>run.json · human-in-the-loop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84048" y="4297679"/>
            <a:ext cx="8595360" cy="530352"/>
          </a:xfrm>
          <a:prstGeom prst="rect">
            <a:avLst/>
          </a:prstGeom>
          <a:noFill/>
          <a:ln w="12700">
            <a:solidFill>
              <a:srgbClr val="003D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2064" y="4416551"/>
            <a:ext cx="292608" cy="29260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914400" y="4370831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spc="140">
                <a:solidFill>
                  <a:srgbClr val="455560"/>
                </a:solidFill>
                <a:latin typeface="Calibri"/>
              </a:rPr>
              <a:t>WHAT HAPPENED?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4535423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D2D2D"/>
                </a:solidFill>
                <a:latin typeface="Calibri"/>
              </a:rPr>
              <a:t>Nothing is off the record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55848" y="4361688"/>
            <a:ext cx="5486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" b="0">
                <a:solidFill>
                  <a:srgbClr val="333F48"/>
                </a:solidFill>
                <a:latin typeface="Calibri"/>
              </a:rPr>
              <a:t>Every run, every reviewer answer, every render and download is written as a record in Unity Catalog the moment it happens. The trail reads like a table and cannot be edited afterwards.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55848" y="4663440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1">
                <a:solidFill>
                  <a:srgbClr val="003DA5"/>
                </a:solidFill>
                <a:latin typeface="Calibri"/>
              </a:rPr>
              <a:t>Audit trail  ·  Delta run log  ·  a person's name on every action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4048" y="4992623"/>
            <a:ext cx="269748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>
                <a:solidFill>
                  <a:srgbClr val="2D2D2D"/>
                </a:solidFill>
                <a:latin typeface="Calibri"/>
              </a:rPr>
              <a:t>Client data crosses the platform boundary in exactly two places</a:t>
            </a:r>
            <a:r>
              <a:rPr sz="750" b="0">
                <a:solidFill>
                  <a:srgbClr val="333F48"/>
                </a:solidFill>
                <a:latin typeface="Calibri"/>
              </a:rPr>
              <a:t> — both under the stations where they happen, both recorded.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64408" y="4956047"/>
            <a:ext cx="2784348" cy="676656"/>
          </a:xfrm>
          <a:prstGeom prst="rect">
            <a:avLst/>
          </a:prstGeom>
          <a:solidFill>
            <a:srgbClr val="FCECEE"/>
          </a:solidFill>
          <a:ln w="12700">
            <a:solidFill>
              <a:srgbClr val="D22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374136" y="5010911"/>
            <a:ext cx="256489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>
                <a:solidFill>
                  <a:srgbClr val="D2202F"/>
                </a:solidFill>
                <a:latin typeface="Calibri"/>
              </a:rPr>
              <a:t>1   FRD text  →  Claude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74136" y="5193791"/>
            <a:ext cx="2564891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0">
                <a:solidFill>
                  <a:srgbClr val="333F48"/>
                </a:solidFill>
                <a:latin typeface="Calibri"/>
              </a:rPr>
              <a:t>Through the workspace's Foundation Model APIs and AI Gateway — inside the client's Databricks tenant, logged per call, no external key. Within the client's data-handling review.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95060" y="4956047"/>
            <a:ext cx="2784348" cy="676656"/>
          </a:xfrm>
          <a:prstGeom prst="rect">
            <a:avLst/>
          </a:prstGeom>
          <a:solidFill>
            <a:srgbClr val="EAF0FA"/>
          </a:solidFill>
          <a:ln w="12700">
            <a:solidFill>
              <a:srgbClr val="003D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304788" y="5010911"/>
            <a:ext cx="256489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>
                <a:solidFill>
                  <a:srgbClr val="003DA5"/>
                </a:solidFill>
                <a:latin typeface="Calibri"/>
              </a:rPr>
              <a:t>2   workbook  →  a named person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4788" y="5193791"/>
            <a:ext cx="2564891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0">
                <a:solidFill>
                  <a:srgbClr val="333F48"/>
                </a:solidFill>
                <a:latin typeface="Calibri"/>
              </a:rPr>
              <a:t>The download is recorded with the workbook's fingerprint and the reviewer's name. The reviewer — not the agent — returns the approved workbook to SharePoint.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189720" y="1609344"/>
            <a:ext cx="2617927" cy="4023359"/>
          </a:xfrm>
          <a:prstGeom prst="rect">
            <a:avLst/>
          </a:prstGeom>
          <a:noFill/>
          <a:ln w="15875">
            <a:solidFill>
              <a:srgbClr val="0A24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687959" y="1737360"/>
            <a:ext cx="1621449" cy="384048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9317736" y="2231136"/>
            <a:ext cx="236189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spc="140">
                <a:solidFill>
                  <a:srgbClr val="455560"/>
                </a:solidFill>
                <a:latin typeface="Calibri"/>
              </a:rPr>
              <a:t>GOVERNANCE REGISTER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17736" y="2414016"/>
            <a:ext cx="236189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" b="0">
                <a:solidFill>
                  <a:srgbClr val="333F48"/>
                </a:solidFill>
                <a:latin typeface="Calibri"/>
              </a:rPr>
              <a:t>The client's data-governance catalog. The agent is registered here as an AI asset — one place to answer “what is this agent, and is it under control?”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317736" y="2980944"/>
            <a:ext cx="2361895" cy="932688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0884" y="3054096"/>
            <a:ext cx="962423" cy="329184"/>
          </a:xfrm>
          <a:prstGeom prst="rect">
            <a:avLst/>
          </a:prstGeom>
        </p:spPr>
      </p:pic>
      <p:cxnSp>
        <p:nvCxnSpPr>
          <p:cNvPr id="62" name="Connector 61"/>
          <p:cNvCxnSpPr/>
          <p:nvPr/>
        </p:nvCxnSpPr>
        <p:spPr>
          <a:xfrm>
            <a:off x="10515600" y="3218687"/>
            <a:ext cx="502920" cy="0"/>
          </a:xfrm>
          <a:prstGeom prst="line">
            <a:avLst/>
          </a:prstGeom>
          <a:ln w="15875">
            <a:solidFill>
              <a:srgbClr val="003DA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9409176" y="3383279"/>
            <a:ext cx="217901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1">
                <a:solidFill>
                  <a:srgbClr val="2D2D2D"/>
                </a:solidFill>
                <a:latin typeface="Calibri"/>
              </a:rPr>
              <a:t>Collibra harvests Unity Catalog</a:t>
            </a:r>
            <a:r>
              <a:rPr sz="680" b="0">
                <a:solidFill>
                  <a:srgbClr val="333F48"/>
                </a:solidFill>
                <a:latin typeface="Calibri"/>
              </a:rPr>
              <a:t> — owners, sensitivity and descriptions set in Databricks appear here automatically. Classified once, visible in both.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317736" y="4059935"/>
            <a:ext cx="236189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spc="140">
                <a:solidFill>
                  <a:srgbClr val="455560"/>
                </a:solidFill>
                <a:latin typeface="Calibri"/>
              </a:rPr>
              <a:t>WHAT IS REGISTERED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336024" y="4343399"/>
            <a:ext cx="82296" cy="82296"/>
          </a:xfrm>
          <a:prstGeom prst="rect">
            <a:avLst/>
          </a:prstGeom>
          <a:solidFill>
            <a:srgbClr val="69B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9500616" y="4297679"/>
            <a:ext cx="21790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" b="0">
                <a:solidFill>
                  <a:srgbClr val="333F48"/>
                </a:solidFill>
                <a:latin typeface="Calibri"/>
              </a:rPr>
              <a:t>What the agent is for, and its risk tier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336024" y="4617719"/>
            <a:ext cx="82296" cy="82296"/>
          </a:xfrm>
          <a:prstGeom prst="rect">
            <a:avLst/>
          </a:prstGeom>
          <a:solidFill>
            <a:srgbClr val="69B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9500616" y="4571999"/>
            <a:ext cx="21790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" b="0">
                <a:solidFill>
                  <a:srgbClr val="333F48"/>
                </a:solidFill>
                <a:latin typeface="Calibri"/>
              </a:rPr>
              <a:t>Who owns it and who stewards it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336024" y="4892039"/>
            <a:ext cx="82296" cy="82296"/>
          </a:xfrm>
          <a:prstGeom prst="rect">
            <a:avLst/>
          </a:prstGeom>
          <a:solidFill>
            <a:srgbClr val="69B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9500616" y="4846319"/>
            <a:ext cx="21790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" b="0">
                <a:solidFill>
                  <a:srgbClr val="333F48"/>
                </a:solidFill>
                <a:latin typeface="Calibri"/>
              </a:rPr>
              <a:t>The data it reads and writes, and where it flows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336024" y="5166359"/>
            <a:ext cx="82296" cy="82296"/>
          </a:xfrm>
          <a:prstGeom prst="rect">
            <a:avLst/>
          </a:prstGeom>
          <a:solidFill>
            <a:srgbClr val="69B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9500616" y="5120640"/>
            <a:ext cx="21790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" b="0">
                <a:solidFill>
                  <a:srgbClr val="333F48"/>
                </a:solidFill>
                <a:latin typeface="Calibri"/>
              </a:rPr>
              <a:t>The five controls shown to the left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8988552" y="2706624"/>
            <a:ext cx="192024" cy="0"/>
          </a:xfrm>
          <a:prstGeom prst="line">
            <a:avLst/>
          </a:prstGeom>
          <a:ln w="19050">
            <a:solidFill>
              <a:srgbClr val="003DA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8988552" y="4562855"/>
            <a:ext cx="192024" cy="0"/>
          </a:xfrm>
          <a:prstGeom prst="line">
            <a:avLst/>
          </a:prstGeom>
          <a:ln w="19050">
            <a:solidFill>
              <a:srgbClr val="003DA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384048" y="5760720"/>
            <a:ext cx="11423599" cy="384048"/>
          </a:xfrm>
          <a:prstGeom prst="rect">
            <a:avLst/>
          </a:prstGeom>
          <a:solidFill>
            <a:srgbClr val="0A2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384048" y="5760720"/>
            <a:ext cx="1142359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spc="120">
                <a:solidFill>
                  <a:srgbClr val="FFFFFF"/>
                </a:solidFill>
                <a:latin typeface="Calibri"/>
              </a:rPr>
              <a:t>CLASSIFIED DATA     ·     NAMED PEOPLE     ·     TRACEABLE OUTPUTS     ·     A PERSON DECIDES     ·     A RECORD OF EVERYTHING</a:t>
            </a:r>
          </a:p>
        </p:txBody>
      </p:sp>
    </p:spTree>
    <p:extLst>
      <p:ext uri="{BB962C8B-B14F-4D97-AF65-F5344CB8AC3E}">
        <p14:creationId xmlns:p14="http://schemas.microsoft.com/office/powerpoint/2010/main" val="17286405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0426B2D8CA0A94F885E990AD9C65561" ma:contentTypeVersion="3" ma:contentTypeDescription="Create a new document." ma:contentTypeScope="" ma:versionID="85bb13b16a9506a223afed9a3ec3a41c">
  <xsd:schema xmlns:xsd="http://www.w3.org/2001/XMLSchema" xmlns:xs="http://www.w3.org/2001/XMLSchema" xmlns:p="http://schemas.microsoft.com/office/2006/metadata/properties" xmlns:ns2="6537d64e-af8a-45f1-9663-213a80cc8430" targetNamespace="http://schemas.microsoft.com/office/2006/metadata/properties" ma:root="true" ma:fieldsID="d0025840606445d7475e5c4ef7c05746" ns2:_="">
    <xsd:import namespace="6537d64e-af8a-45f1-9663-213a80cc843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537d64e-af8a-45f1-9663-213a80cc843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DCDE733-B052-48C7-8D8B-6A197F3D689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E95DF1D-B647-411E-A3C7-BB819E8DE7D6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infopath/2007/PartnerControls"/>
    <ds:schemaRef ds:uri="http://purl.org/dc/dcmitype/"/>
    <ds:schemaRef ds:uri="http://schemas.microsoft.com/office/2006/metadata/properties"/>
    <ds:schemaRef ds:uri="http://purl.org/dc/terms/"/>
    <ds:schemaRef ds:uri="http://schemas.openxmlformats.org/package/2006/metadata/core-properties"/>
    <ds:schemaRef ds:uri="6537d64e-af8a-45f1-9663-213a80cc8430"/>
  </ds:schemaRefs>
</ds:datastoreItem>
</file>

<file path=customXml/itemProps3.xml><?xml version="1.0" encoding="utf-8"?>
<ds:datastoreItem xmlns:ds="http://schemas.openxmlformats.org/officeDocument/2006/customXml" ds:itemID="{AB3666F2-4465-4862-A672-AF211D658BD9}">
  <ds:schemaRefs>
    <ds:schemaRef ds:uri="6537d64e-af8a-45f1-9663-213a80cc843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School Days</Template>
  <TotalTime>0</TotalTime>
  <Words>2805</Words>
  <Application>Microsoft Office PowerPoint</Application>
  <PresentationFormat>Widescreen</PresentationFormat>
  <Paragraphs>401</Paragraphs>
  <Slides>16</Slides>
  <Notes>13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AmeriHealth Caritas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AI-in-Engineering Program Overview</dc:title>
  <dc:subject>PptxGenJS Presentation</dc:subject>
  <dc:creator>Hexaware Technologies</dc:creator>
  <cp:lastModifiedBy>Venu babu Anumolu</cp:lastModifiedBy>
  <cp:revision>3</cp:revision>
  <dcterms:created xsi:type="dcterms:W3CDTF">2026-08-20T11:55:34Z</dcterms:created>
  <dcterms:modified xsi:type="dcterms:W3CDTF">2026-08-28T15:46:15Z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0x01010020426B2D8CA0A94F885E990AD9C65561</vt:lpwstr>
  </property>
</Properties>
</file>