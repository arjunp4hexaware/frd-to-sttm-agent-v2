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210311" y="27432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274320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53367" y="27432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917375" y="210311"/>
            <a:ext cx="0" cy="128017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10311" y="6583680"/>
            <a:ext cx="128017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53367" y="6583680"/>
            <a:ext cx="128016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917375" y="6519672"/>
            <a:ext cx="0" cy="128016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47472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5F6B7C"/>
                </a:solidFill>
                <a:latin typeface="Calibri"/>
              </a:rPr>
              <a:t>HEXAWARE  ·  AMERIHEALTH CARITAS  ·  AGENT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11418"/>
                </a:solidFill>
                <a:latin typeface="Calibri"/>
              </a:rPr>
              <a:t>FRD → STTM Agent</a:t>
            </a:r>
            <a:r>
              <a:rPr sz="1500" b="0">
                <a:solidFill>
                  <a:srgbClr val="5F6B7C"/>
                </a:solidFill>
                <a:latin typeface="Calibri"/>
              </a:rPr>
              <a:t>    data governance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08813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5F6B7C"/>
                </a:solidFill>
                <a:latin typeface="Calibri"/>
              </a:rPr>
              <a:t>THE DOCUMENT'S JOURNEY 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325880"/>
            <a:ext cx="1831771" cy="283464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1472184"/>
            <a:ext cx="15391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007067"/>
                </a:solidFill>
                <a:latin typeface="Consolas"/>
              </a:rPr>
              <a:t>01</a:t>
            </a:r>
            <a:r>
              <a:rPr sz="850" b="1" spc="80">
                <a:solidFill>
                  <a:srgbClr val="007067"/>
                </a:solidFill>
                <a:latin typeface="Calibri"/>
              </a:rPr>
              <a:t>  ENTERS</a:t>
            </a:r>
          </a:p>
        </p:txBody>
      </p:sp>
      <p:pic>
        <p:nvPicPr>
          <p:cNvPr id="16" name="Picture 15" descr="share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975" y="1728216"/>
            <a:ext cx="298833" cy="292608"/>
          </a:xfrm>
          <a:prstGeom prst="rect">
            <a:avLst/>
          </a:prstGeom>
        </p:spPr>
      </p:pic>
      <p:pic>
        <p:nvPicPr>
          <p:cNvPr id="17" name="Picture 16" descr="unitycat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52" y="1728216"/>
            <a:ext cx="855487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4944" y="2148840"/>
            <a:ext cx="15391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00">
                <a:solidFill>
                  <a:srgbClr val="007067"/>
                </a:solidFill>
                <a:latin typeface="Calibri"/>
              </a:rPr>
              <a:t>WHAT DATA?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2350008"/>
            <a:ext cx="15391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Classified at the door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2624328"/>
            <a:ext cx="1539163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Documents come from the client's SharePoint, read-only. In Databricks every table and folder carries an owner, a steward, its sensitivity (confidential; may name PHI fields), its source and its retention rule — set by the data owner.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4944" y="3776472"/>
            <a:ext cx="1539163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4944" y="3831335"/>
            <a:ext cx="15391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7067"/>
                </a:solidFill>
                <a:latin typeface="Calibri"/>
              </a:rPr>
              <a:t>SharePoint · Unity Catalog tags &amp; comments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16987" y="2743200"/>
            <a:ext cx="237744" cy="0"/>
          </a:xfrm>
          <a:prstGeom prst="line">
            <a:avLst/>
          </a:prstGeom>
          <a:ln w="1587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691307" y="1325880"/>
            <a:ext cx="1831771" cy="283464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837611" y="1472184"/>
            <a:ext cx="15391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866103"/>
                </a:solidFill>
                <a:latin typeface="Consolas"/>
              </a:rPr>
              <a:t>02</a:t>
            </a:r>
            <a:r>
              <a:rPr sz="850" b="1" spc="80">
                <a:solidFill>
                  <a:srgbClr val="866103"/>
                </a:solidFill>
                <a:latin typeface="Calibri"/>
              </a:rPr>
              <a:t>  OPENED</a:t>
            </a:r>
          </a:p>
        </p:txBody>
      </p:sp>
      <p:pic>
        <p:nvPicPr>
          <p:cNvPr id="26" name="Picture 25" descr="ent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7611" y="1735804"/>
            <a:ext cx="310896" cy="277431"/>
          </a:xfrm>
          <a:prstGeom prst="rect">
            <a:avLst/>
          </a:prstGeom>
        </p:spPr>
      </p:pic>
      <p:pic>
        <p:nvPicPr>
          <p:cNvPr id="27" name="Picture 26" descr="databric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517" y="1728216"/>
            <a:ext cx="522692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837611" y="2148840"/>
            <a:ext cx="15391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00">
                <a:solidFill>
                  <a:srgbClr val="866103"/>
                </a:solidFill>
                <a:latin typeface="Calibri"/>
              </a:rPr>
              <a:t>WHO?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7611" y="2350008"/>
            <a:ext cx="15391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Only named BSAs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7611" y="2624328"/>
            <a:ext cx="1539163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Only the client's BSA group — the people already allowed to read the data — can open the app. Each signs in with the company login; nothing runs, is decided or handed out without that name.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37611" y="3776472"/>
            <a:ext cx="1539164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837611" y="3831335"/>
            <a:ext cx="15391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Microsoft Entra ID group · Databricks Apps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59655" y="2743200"/>
            <a:ext cx="237744" cy="0"/>
          </a:xfrm>
          <a:prstGeom prst="line">
            <a:avLst/>
          </a:prstGeom>
          <a:ln w="1587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833975" y="1325880"/>
            <a:ext cx="1831771" cy="2834640"/>
          </a:xfrm>
          <a:prstGeom prst="roundRect">
            <a:avLst>
              <a:gd name="adj" fmla="val 5000"/>
            </a:avLst>
          </a:prstGeom>
          <a:solidFill>
            <a:srgbClr val="FBEEE8"/>
          </a:solidFill>
          <a:ln w="158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980279" y="1472184"/>
            <a:ext cx="15391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A04D2C"/>
                </a:solidFill>
                <a:latin typeface="Consolas"/>
              </a:rPr>
              <a:t>03</a:t>
            </a:r>
            <a:r>
              <a:rPr sz="850" b="1" spc="80">
                <a:solidFill>
                  <a:srgbClr val="A04D2C"/>
                </a:solidFill>
                <a:latin typeface="Calibri"/>
              </a:rPr>
              <a:t>  GENERATED</a:t>
            </a:r>
          </a:p>
        </p:txBody>
      </p:sp>
      <p:pic>
        <p:nvPicPr>
          <p:cNvPr id="36" name="Picture 35" descr="clau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0279" y="1779508"/>
            <a:ext cx="868680" cy="19002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80279" y="2148840"/>
            <a:ext cx="15391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00">
                <a:solidFill>
                  <a:srgbClr val="A04D2C"/>
                </a:solidFill>
                <a:latin typeface="Calibri"/>
              </a:rPr>
              <a:t>WHERE FROM?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0279" y="2350008"/>
            <a:ext cx="15391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04D2C"/>
                </a:solidFill>
                <a:latin typeface="Calibri"/>
              </a:rPr>
              <a:t>Every output is traceable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0279" y="2624328"/>
            <a:ext cx="1539163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A04D2C"/>
                </a:solidFill>
                <a:latin typeface="Calibri"/>
              </a:rPr>
              <a:t>One AI call reads the FRD — the only one. Digital fingerprints tie the workbook to the exact FRD version, to that call (which model, which instructions) and to the person who asked.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980279" y="3776472"/>
            <a:ext cx="1539164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80279" y="3831335"/>
            <a:ext cx="15391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A04D2C"/>
                </a:solidFill>
                <a:latin typeface="Calibri"/>
              </a:rPr>
              <a:t>SHA-256 fingerprints · run manifests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02323" y="2743200"/>
            <a:ext cx="237744" cy="0"/>
          </a:xfrm>
          <a:prstGeom prst="line">
            <a:avLst/>
          </a:prstGeom>
          <a:ln w="15875">
            <a:solidFill>
              <a:srgbClr val="5F6B7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976643" y="1325880"/>
            <a:ext cx="1831771" cy="283464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 w="12700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22947" y="1472184"/>
            <a:ext cx="15391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spc="80">
                <a:solidFill>
                  <a:srgbClr val="866103"/>
                </a:solidFill>
                <a:latin typeface="Consolas"/>
              </a:rPr>
              <a:t>04</a:t>
            </a:r>
            <a:r>
              <a:rPr sz="850" b="1" spc="80">
                <a:solidFill>
                  <a:srgbClr val="866103"/>
                </a:solidFill>
                <a:latin typeface="Calibri"/>
              </a:rPr>
              <a:t>  DECIDED</a:t>
            </a:r>
          </a:p>
        </p:txBody>
      </p:sp>
      <p:pic>
        <p:nvPicPr>
          <p:cNvPr id="45" name="Picture 44" descr="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2947" y="1728216"/>
            <a:ext cx="292608" cy="2926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122947" y="2148840"/>
            <a:ext cx="15391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00">
                <a:solidFill>
                  <a:srgbClr val="866103"/>
                </a:solidFill>
                <a:latin typeface="Calibri"/>
              </a:rPr>
              <a:t>WHO DECIDES?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22947" y="2350008"/>
            <a:ext cx="15391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A person decides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22947" y="2624328"/>
            <a:ext cx="1539163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The AI only proposes. Code checks every mapping against the FRD word for word and scores it against an approved example; a named reviewer settles what is unclear, approves and uploads.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122947" y="3776472"/>
            <a:ext cx="1539164" cy="0"/>
          </a:xfrm>
          <a:prstGeom prst="line">
            <a:avLst/>
          </a:prstGeom>
          <a:ln w="6350">
            <a:solidFill>
              <a:srgbClr val="C5CB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122947" y="3831335"/>
            <a:ext cx="15391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66103"/>
                </a:solidFill>
                <a:latin typeface="Calibri"/>
              </a:rPr>
              <a:t>Grounding audit · golden-pair score · human-in-the-loop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4361688"/>
            <a:ext cx="8259775" cy="731520"/>
          </a:xfrm>
          <a:prstGeom prst="roundRect">
            <a:avLst>
              <a:gd name="adj" fmla="val 5000"/>
            </a:avLst>
          </a:prstGeom>
          <a:solidFill>
            <a:srgbClr val="EDEFF2"/>
          </a:solidFill>
          <a:ln w="12700">
            <a:solidFill>
              <a:srgbClr val="00A3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4562855"/>
            <a:ext cx="329184" cy="32918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133856" y="4480559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00">
                <a:solidFill>
                  <a:srgbClr val="007067"/>
                </a:solidFill>
                <a:latin typeface="Calibri"/>
              </a:rPr>
              <a:t>WHAT HAPPENED?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" y="4681727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2127"/>
                </a:solidFill>
                <a:latin typeface="Calibri"/>
              </a:rPr>
              <a:t>Nothing is off the record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4489703"/>
            <a:ext cx="5333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2F343C"/>
                </a:solidFill>
                <a:latin typeface="Calibri"/>
              </a:rPr>
              <a:t>Every step above — each run, reviewer decision, re-render, download and sync — writes one record the moment it happens. The trail cannot be edited afterwards and reads like a table.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4855464"/>
            <a:ext cx="533369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7067"/>
                </a:solidFill>
                <a:latin typeface="Calibri"/>
              </a:rPr>
              <a:t>Audit trail in a Unity Catalog volume · Delta run log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294375"/>
            <a:ext cx="39744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C2127"/>
                </a:solidFill>
                <a:latin typeface="Calibri"/>
              </a:rPr>
              <a:t>Client data crosses the platform boundary in exactly two places</a:t>
            </a:r>
            <a:r>
              <a:rPr sz="850" b="0">
                <a:solidFill>
                  <a:srgbClr val="2F343C"/>
                </a:solidFill>
                <a:latin typeface="Calibri"/>
              </a:rPr>
              <a:t> — both under the stations where they happen, both recorded.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33975" y="5257799"/>
            <a:ext cx="1831771" cy="731520"/>
          </a:xfrm>
          <a:prstGeom prst="roundRect">
            <a:avLst>
              <a:gd name="adj" fmla="val 8000"/>
            </a:avLst>
          </a:prstGeom>
          <a:solidFill>
            <a:srgbClr val="FBEEE8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943703" y="5330951"/>
            <a:ext cx="161231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1">
                <a:solidFill>
                  <a:srgbClr val="A04D2C"/>
                </a:solidFill>
                <a:latin typeface="Calibri"/>
              </a:rPr>
              <a:t>1  FRD text → Anthropic API</a:t>
            </a:r>
            <a:r>
              <a:rPr sz="750" b="0">
                <a:solidFill>
                  <a:srgbClr val="A04D2C"/>
                </a:solidFill>
                <a:latin typeface="Calibri"/>
              </a:rPr>
              <a:t> — API key in a Databricks secret scope; within the client's data-handling review.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76643" y="5257799"/>
            <a:ext cx="1831771" cy="731520"/>
          </a:xfrm>
          <a:prstGeom prst="roundRect">
            <a:avLst>
              <a:gd name="adj" fmla="val 8000"/>
            </a:avLst>
          </a:prstGeom>
          <a:solidFill>
            <a:srgbClr val="FBF3DC"/>
          </a:solidFill>
          <a:ln w="9525">
            <a:solidFill>
              <a:srgbClr val="D198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086371" y="5330951"/>
            <a:ext cx="161231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750" b="1">
                <a:solidFill>
                  <a:srgbClr val="866103"/>
                </a:solidFill>
                <a:latin typeface="Calibri"/>
              </a:rPr>
              <a:t>2  workbook → a named person</a:t>
            </a:r>
            <a:r>
              <a:rPr sz="750" b="0">
                <a:solidFill>
                  <a:srgbClr val="866103"/>
                </a:solidFill>
                <a:latin typeface="Calibri"/>
              </a:rPr>
              <a:t> — the download is recorded with the file's fingerprint; the agent never writes to SharePoint.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65615" y="1325880"/>
            <a:ext cx="2377440" cy="466344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 w="15875">
            <a:solidFill>
              <a:srgbClr val="7961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265615" y="108813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40">
                <a:solidFill>
                  <a:srgbClr val="5642A6"/>
                </a:solidFill>
                <a:latin typeface="Calibri"/>
              </a:rPr>
              <a:t>→  REGISTERED IN</a:t>
            </a:r>
          </a:p>
        </p:txBody>
      </p:sp>
      <p:pic>
        <p:nvPicPr>
          <p:cNvPr id="64" name="Picture 63" descr="collibr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4215" y="1601390"/>
            <a:ext cx="1920240" cy="45481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494215" y="2167128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00">
                <a:solidFill>
                  <a:srgbClr val="5642A6"/>
                </a:solidFill>
                <a:latin typeface="Calibri"/>
              </a:rPr>
              <a:t>GOVERNANCE REGISTER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94215" y="2404872"/>
            <a:ext cx="1920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43C"/>
                </a:solidFill>
                <a:latin typeface="Calibri"/>
              </a:rPr>
              <a:t>The client's data-governance catalog. The agent is registered here as an </a:t>
            </a:r>
            <a:r>
              <a:rPr sz="900" b="1">
                <a:solidFill>
                  <a:srgbClr val="1C2127"/>
                </a:solidFill>
                <a:latin typeface="Calibri"/>
              </a:rPr>
              <a:t>AI asset</a:t>
            </a:r>
            <a:r>
              <a:rPr sz="900" b="0">
                <a:solidFill>
                  <a:srgbClr val="2F343C"/>
                </a:solidFill>
                <a:latin typeface="Calibri"/>
              </a:rPr>
              <a:t>: what it is for, who owns and stewards it, how risky it is, the data it reads and writes, where that data flows, and the controls to the left — one place to answer "what is this agent, and is it under control?"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94215" y="4297680"/>
            <a:ext cx="1920240" cy="1463039"/>
          </a:xfrm>
          <a:prstGeom prst="roundRect">
            <a:avLst>
              <a:gd name="adj" fmla="val 8000"/>
            </a:avLst>
          </a:prstGeom>
          <a:solidFill>
            <a:srgbClr val="EDEFF2"/>
          </a:solidFill>
          <a:ln w="9525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8" name="Picture 67" descr="unitycata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9817" y="4425696"/>
            <a:ext cx="908955" cy="310896"/>
          </a:xfrm>
          <a:prstGeom prst="rect">
            <a:avLst/>
          </a:prstGeom>
        </p:spPr>
      </p:pic>
      <p:cxnSp>
        <p:nvCxnSpPr>
          <p:cNvPr id="69" name="Connector 68"/>
          <p:cNvCxnSpPr/>
          <p:nvPr/>
        </p:nvCxnSpPr>
        <p:spPr>
          <a:xfrm>
            <a:off x="10710367" y="4581144"/>
            <a:ext cx="256032" cy="0"/>
          </a:xfrm>
          <a:prstGeom prst="line">
            <a:avLst/>
          </a:prstGeom>
          <a:ln w="15875">
            <a:solidFill>
              <a:srgbClr val="7961D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631375" y="4828032"/>
            <a:ext cx="1645920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>
                <a:solidFill>
                  <a:srgbClr val="1C2127"/>
                </a:solidFill>
                <a:latin typeface="Calibri"/>
              </a:rPr>
              <a:t>Collibra harvests Unity Catalog</a:t>
            </a:r>
            <a:r>
              <a:rPr sz="850" b="0">
                <a:solidFill>
                  <a:srgbClr val="2F343C"/>
                </a:solidFill>
                <a:latin typeface="Calibri"/>
              </a:rPr>
              <a:t> — owners, sensitivity and descriptions set in Databricks appear here automatically. Classified once, visible in both.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881567" y="2743200"/>
            <a:ext cx="310896" cy="0"/>
          </a:xfrm>
          <a:prstGeom prst="line">
            <a:avLst/>
          </a:prstGeom>
          <a:ln w="22225">
            <a:solidFill>
              <a:srgbClr val="7961D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881567" y="4727448"/>
            <a:ext cx="310896" cy="0"/>
          </a:xfrm>
          <a:prstGeom prst="line">
            <a:avLst/>
          </a:prstGeom>
          <a:ln w="22225">
            <a:solidFill>
              <a:srgbClr val="7961D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548640" y="651052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7067"/>
                </a:solidFill>
                <a:latin typeface="Calibri"/>
              </a:rPr>
              <a:t>classified data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866103"/>
                </a:solidFill>
                <a:latin typeface="Calibri"/>
              </a:rPr>
              <a:t>named people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007067"/>
                </a:solidFill>
                <a:latin typeface="Calibri"/>
              </a:rPr>
              <a:t>traceable outputs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866103"/>
                </a:solidFill>
                <a:latin typeface="Calibri"/>
              </a:rPr>
              <a:t>a person decides</a:t>
            </a:r>
            <a:r>
              <a:rPr sz="1100" b="0">
                <a:solidFill>
                  <a:srgbClr val="C5CBD3"/>
                </a:solidFill>
                <a:latin typeface="Calibri"/>
              </a:rPr>
              <a:t>   ·   </a:t>
            </a:r>
            <a:r>
              <a:rPr sz="1100" b="1">
                <a:solidFill>
                  <a:srgbClr val="007067"/>
                </a:solidFill>
                <a:latin typeface="Calibri"/>
              </a:rPr>
              <a:t>a record of everything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45375" y="6492240"/>
            <a:ext cx="429768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5CB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345375" y="6556248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spc="100">
                <a:solidFill>
                  <a:srgbClr val="5F6B7C"/>
                </a:solidFill>
                <a:latin typeface="Calibri"/>
              </a:rPr>
              <a:t>CONTROLS BUILT 2026-08-23 · COLLIBRA ENTRY PENDING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