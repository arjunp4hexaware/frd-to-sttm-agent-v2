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ROW IS EMPTY TODAY — the circular reference. Structural Metadata &gt;</a:t>
            </a:r>
          </a:p>
          <a:p>
            <a:r>
              <a:t>Source Data Dictionary, verbatim in all three real FRDs on hand:</a:t>
            </a:r>
          </a:p>
          <a:p>
            <a:r>
              <a:t>  SD    "File and field descriptions are mentioned in the mapping document."</a:t>
            </a:r>
          </a:p>
          <a:p>
            <a:r>
              <a:t>  SFMC  the same sentence, word for word - it is the blank template's default text</a:t>
            </a:r>
          </a:p>
          <a:p>
            <a:r>
              <a:t>  CAQH  "Refer CAQH STTM"</a:t>
            </a:r>
          </a:p>
          <a:p>
            <a:r>
              <a:t>The STTM is the agent's OUTPUT. An input that points at the output is a circular</a:t>
            </a:r>
          </a:p>
          <a:p>
            <a:r>
              <a:t>reference; no prompt closes it, and no model should be asked to invent 410 column</a:t>
            </a:r>
          </a:p>
          <a:p>
            <a:r>
              <a:t>names and descriptions.</a:t>
            </a:r>
          </a:p>
          <a:p/>
          <a:p>
            <a:r>
              <a:t>IF A VENDOR CANNOT SUPPLY ONE, that is a real answer too. The agent renders the</a:t>
            </a:r>
          </a:p>
          <a:p>
            <a:r>
              <a:t>feed-level frame and raises one gated question naming the file whose columns it</a:t>
            </a:r>
          </a:p>
          <a:p>
            <a:r>
              <a:t>could not ground - a workbook with a visible gap, never one with invented names.</a:t>
            </a:r>
          </a:p>
          <a:p/>
          <a:p>
            <a:r>
              <a:t>THE STANDARDS ARE NOT A PER-RUN INPUT. They are versioned config in the agent</a:t>
            </a:r>
          </a:p>
          <a:p>
            <a:r>
              <a:t>(contracts/naming_standards.json + engineering_standards.json), hashed into every</a:t>
            </a:r>
          </a:p>
          <a:p>
            <a:r>
              <a:t>run as standards_sha256. Nobody hands them over with an FRD.</a:t>
            </a:r>
          </a:p>
          <a:p/>
          <a:p>
            <a:r>
              <a:t>THE PAIRING ALREADY WORKS: the sync pairs FRD_X to STTM_X by the stem after the</a:t>
            </a:r>
          </a:p>
          <a:p>
            <a:r>
              <a:t>prefix. VDD_X joins the same convention, into its own volume (vdd_raw), and</a:t>
            </a:r>
          </a:p>
          <a:p>
            <a:r>
              <a:t>the picker shows the pairing with a column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AUTHORING HABITS THAT BREAK THE DERIVATION - all four are in FRDs that have</a:t>
            </a:r>
          </a:p>
          <a:p>
            <a:r>
              <a:t>already been approved and mapped, so none of this is hypothetical:</a:t>
            </a:r>
          </a:p>
          <a:p/>
          <a:p>
            <a:r>
              <a:t>1  FILE NAMES IN THE TARGET-TABLE ROW. One FRD leaves Object Name blank and puts</a:t>
            </a:r>
          </a:p>
          <a:p>
            <a:r>
              <a:t>   demographics_package_YYYY_MM.csv under Target Table Name. The agent then looks</a:t>
            </a:r>
          </a:p>
          <a:p>
            <a:r>
              <a:t>   for a target table whose name is a .csv, and has nothing to match a delivered</a:t>
            </a:r>
          </a:p>
          <a:p>
            <a:r>
              <a:t>   file against. Object Name = the file patterns. Target Table Name = the tables.</a:t>
            </a:r>
          </a:p>
          <a:p/>
          <a:p>
            <a:r>
              <a:t>2  DQ RULES IN THE PROSE, "NA" IN THE ROWS. The same FRD answers "NA" to all three</a:t>
            </a:r>
          </a:p>
          <a:p>
            <a:r>
              <a:t>   HARD data-quality rows while its Description carries two real reject rules and a</a:t>
            </a:r>
          </a:p>
          <a:p>
            <a:r>
              <a:t>   7-day recycle window. A rule reachable only by reading prose must be gated.</a:t>
            </a:r>
          </a:p>
          <a:p/>
          <a:p>
            <a:r>
              <a:t>3  A BLANK LANDING FOLDER. Two of three give the ADLS path; the third leaves it</a:t>
            </a:r>
          </a:p>
          <a:p>
            <a:r>
              <a:t>   empty and answers the adjacent row with "Inbound" - a direction, not a location.</a:t>
            </a:r>
          </a:p>
          <a:p>
            <a:r>
              <a:t>   The shape is guessable; where PHI actually lands is not something to guess.</a:t>
            </a:r>
          </a:p>
          <a:p/>
          <a:p>
            <a:r>
              <a:t>4  A DOMAIN OUTSIDE THE CLIENT'S OWN VOCABULARY. One FRD's domain is not in the EDO</a:t>
            </a:r>
          </a:p>
          <a:p>
            <a:r>
              <a:t>   naming standard's domain table, so the stage schema cannot be derived from it.</a:t>
            </a:r>
          </a:p>
          <a:p>
            <a:r>
              <a:t>   The agent falls through to the FRD's wording and gates rather than inventing.</a:t>
            </a:r>
          </a:p>
          <a:p/>
          <a:p>
            <a:r>
              <a:t>THE OTHER BLOCKS THE AGENT READS: Descriptive Metadata &gt; Object Name (the file</a:t>
            </a:r>
          </a:p>
          <a:p>
            <a:r>
              <a:t>NAME PATTERNS - blank in 2 of 3) and Frequency. Technical Metadata &gt; Business</a:t>
            </a:r>
          </a:p>
          <a:p>
            <a:r>
              <a:t>Rules, Filter Criteria, PII Fields, Critical Data Elements - a rule lands on the</a:t>
            </a:r>
          </a:p>
          <a:p>
            <a:r>
              <a:t>STTM row whose column it NAMES, so name the columns. Data Quality &gt; the three HARD</a:t>
            </a:r>
          </a:p>
          <a:p>
            <a:r>
              <a:t>rows. Vendor Metadata &gt; Vendor Name and Abbreviation.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"CAN'T THE AGENT JUST READ A SAMPLE FILE?" It can, and it does - as a CHECK, never</a:t>
            </a:r>
          </a:p>
          <a:p>
            <a:r>
              <a:t>as the source of the mapping. Given the FRD's ADLS Location, code (not the model -</a:t>
            </a:r>
          </a:p>
          <a:p>
            <a:r>
              <a:t>the rows are PHI) confirms the field count, the delimiter and the encoding, flags a</a:t>
            </a:r>
          </a:p>
          <a:p>
            <a:r>
              <a:t>column the dictionary missed and one the file does not have. It fills NO names for</a:t>
            </a:r>
          </a:p>
          <a:p>
            <a:r>
              <a:t>a headerless file and no meaning for any file.</a:t>
            </a:r>
          </a:p>
          <a:p>
            <a:r>
              <a:t>The worked case: one real feed is a headerless, pipe-delimited file carrying three</a:t>
            </a:r>
          </a:p>
          <a:p>
            <a:r>
              <a:t>record types in one stream. Reading it yields "101 fields in the detail record" and</a:t>
            </a:r>
          </a:p>
          <a:p>
            <a:r>
              <a:t>not one field name.</a:t>
            </a:r>
          </a:p>
          <a:p/>
          <a:p>
            <a:r>
              <a:t>WHAT ONE DICTIONARY ROW BECOMES. Position 14 / Member ID / varchar / 20 / Y /</a:t>
            </a:r>
          </a:p>
          <a:p>
            <a:r>
              <a:t>"Health-plan member identifier" / M000123456 / PHI Y  -&gt;  eleven STTM cells: six</a:t>
            </a:r>
          </a:p>
          <a:p>
            <a:r>
              <a:t>straight from the vendor's row (source column, datatype+length, description,</a:t>
            </a:r>
          </a:p>
          <a:p>
            <a:r>
              <a:t>sample value, mandatory, PHI), four derived from the standards plus the FRD's</a:t>
            </a:r>
          </a:p>
          <a:p>
            <a:r>
              <a:t>frame (stage catalog/schema/table, stage column+datatype, standard schema/table,</a:t>
            </a:r>
          </a:p>
          <a:p>
            <a:r>
              <a:t>standard datatype) - and exactly one that is neither: the TARGET COLUMN NAME.</a:t>
            </a:r>
          </a:p>
          <a:p/>
          <a:p>
            <a:r>
              <a:t>THE TARGET COLUMN NAME, MEASURED - and this is the one cell neither document</a:t>
            </a:r>
          </a:p>
          <a:p>
            <a:r>
              <a:t>supplies. The agent decides from the FRD ALONE whether a feed renames: if the</a:t>
            </a:r>
          </a:p>
          <a:p>
            <a:r>
              <a:t>sub-domain appears in the target table names, the columns carry it too. That holds</a:t>
            </a:r>
          </a:p>
          <a:p>
            <a:r>
              <a:t>on both real feeds (CAQH renames 115/115, SD 4/411).</a:t>
            </a:r>
          </a:p>
          <a:p/>
          <a:p>
            <a:r>
              <a:t>What the reviewer then receives, on the renaming feed: 22 of 115 exact, 63 more</a:t>
            </a:r>
          </a:p>
          <a:p>
            <a:r>
              <a:t>recognisable renames - so 85 of 115 (74%) are a NAME EDIT, not a rebuild. Mean</a:t>
            </a:r>
          </a:p>
          <a:p>
            <a:r>
              <a:t>similarity 0.79. TPL_FILE_SEQUENCE_NUMBER -&gt; TPL_FILE_SEQ_NO is the shape of it;</a:t>
            </a:r>
          </a:p>
          <a:p>
            <a:r>
              <a:t>the row, table, position and source field are already correct. One "miss",</a:t>
            </a:r>
          </a:p>
          <a:p>
            <a:r>
              <a:t>TPL_DATA_SET_ID vs the approved TPL_DATE_SET_ID, is a typo in the client's own</a:t>
            </a:r>
          </a:p>
          <a:p>
            <a:r>
              <a:t>workbook. On a feed that does not rename, the agent is at 388/391.</a:t>
            </a:r>
          </a:p>
          <a:p/>
          <a:p>
            <a:r>
              <a:t>Asking a model to GENERATE the name scored 0 of 115 - and marked 71 of those wrong</a:t>
            </a:r>
          </a:p>
          <a:p>
            <a:r>
              <a:t>answers high confidence. Given a real catalog to match against it scored 95/101</a:t>
            </a:r>
          </a:p>
          <a:p>
            <a:r>
              <a:t>with a high band right 92 of 92. So the missing input is not a document and not a</a:t>
            </a:r>
          </a:p>
          <a:p>
            <a:r>
              <a:t>better prompt: it is read access to the existing warehouse columns.</a:t>
            </a:r>
          </a:p>
          <a:p/>
          <a:p>
            <a:r>
              <a:t>SCALE: the worked dictionary built from one approved STTM holds 399 fields across</a:t>
            </a:r>
          </a:p>
          <a:p>
            <a:r>
              <a:t>three files (86 / 267 / 46). That is the volume the FRD cannot carry.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c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347472"/>
            <a:ext cx="1298448" cy="8565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02336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60">
                <a:solidFill>
                  <a:srgbClr val="003DA5"/>
                </a:solidFill>
                <a:latin typeface="Segoe UI"/>
              </a:rPr>
              <a:t>THE SHAPE OF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2656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35">
                <a:solidFill>
                  <a:srgbClr val="0A2458"/>
                </a:solidFill>
                <a:latin typeface="Segoe UI"/>
              </a:rPr>
              <a:t>Two documents in — and one thing to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1036289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55560"/>
                </a:solidFill>
                <a:latin typeface="Segoe UI"/>
              </a:rPr>
              <a:t>An STTM answers two kinds of question. The FRD answers one of them well and the other not at all — by design, not by neglect. Everything else the agent brings itself.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00784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85800" y="1901952"/>
            <a:ext cx="5257800" cy="248716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5800" y="1901952"/>
            <a:ext cx="50292" cy="248716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0120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DOCUMENT 1 · AUTHORED BY ACFC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The FRD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7004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3DA5"/>
                </a:solidFill>
                <a:latin typeface="Segoe UI"/>
              </a:rPr>
              <a:t>the feed-level 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3017520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24712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File name pattern and format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3017520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11880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Delimiter, header row, encoding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3328415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24712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Landing folder in ADLS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47288" y="3328415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11880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Target schema + table, per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639312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24712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Load strategy, per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3639312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11880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DQ, reject and recycle rules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0120" y="4005072"/>
            <a:ext cx="4745736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60120" y="4096512"/>
            <a:ext cx="4782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1">
                <a:solidFill>
                  <a:srgbClr val="0A2458"/>
                </a:solidFill>
                <a:latin typeface="Segoe UI"/>
              </a:rPr>
              <a:t>Names ~2 columns.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352" y="1901952"/>
            <a:ext cx="5257800" cy="2487168"/>
          </a:xfrm>
          <a:prstGeom prst="rect">
            <a:avLst/>
          </a:prstGeom>
          <a:solidFill>
            <a:srgbClr val="EE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245352" y="1901952"/>
            <a:ext cx="50292" cy="2487168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9672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DOCUMENT 2 · SUPPLIED BY THE VENDOR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The Vendor Data Dictionary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267004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3DA5"/>
                </a:solidFill>
                <a:latin typeface="Segoe UI"/>
              </a:rPr>
              <a:t>every source column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19672" y="3017520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84264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Column name and position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3017520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71432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Data type and length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19672" y="3328415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84264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Required / nullable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3328415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71432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Description — what it means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19672" y="3639312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684264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Allowed values and ranges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6840" y="3639312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171432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PHI / PII flag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19672" y="4005072"/>
            <a:ext cx="4745736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19672" y="4096512"/>
            <a:ext cx="4782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1">
                <a:solidFill>
                  <a:srgbClr val="0A2458"/>
                </a:solidFill>
                <a:latin typeface="Segoe UI"/>
              </a:rPr>
              <a:t>Its STTM has ~410 column rows.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5800" y="4553712"/>
            <a:ext cx="10820095" cy="7498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85800" y="4553712"/>
            <a:ext cx="50292" cy="749808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78408" y="466344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 spc="110">
                <a:solidFill>
                  <a:srgbClr val="0A2458"/>
                </a:solidFill>
                <a:latin typeface="Segoe UI"/>
              </a:rPr>
              <a:t>BUILT INTO THE AGENT — NOT HANDED OVER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" y="4864608"/>
            <a:ext cx="101800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A2458"/>
                </a:solidFill>
                <a:latin typeface="Segoe UI"/>
              </a:rPr>
              <a:t>ACFC's naming + engineering standards</a:t>
            </a:r>
            <a:r>
              <a:rPr sz="1000" b="0">
                <a:solidFill>
                  <a:srgbClr val="333F48"/>
                </a:solidFill>
                <a:latin typeface="Segoe UI"/>
              </a:rPr>
              <a:t>  are versioned contracts the agent ships with, hashed into every run. So is the </a:t>
            </a:r>
            <a:r>
              <a:rPr sz="1000" b="1">
                <a:solidFill>
                  <a:srgbClr val="0A2458"/>
                </a:solidFill>
                <a:latin typeface="Segoe UI"/>
              </a:rPr>
              <a:t>term catalog</a:t>
            </a:r>
            <a:r>
              <a:rPr sz="1000" b="0">
                <a:solidFill>
                  <a:srgbClr val="333F48"/>
                </a:solidFill>
                <a:latin typeface="Segoe UI"/>
              </a:rPr>
              <a:t> — the warehouse's own column vocabulary, harvested from approved STTMs when they sync. Nobody attaches either to a feed, and </a:t>
            </a:r>
            <a:r>
              <a:rPr sz="1000" b="1">
                <a:solidFill>
                  <a:srgbClr val="D2202F"/>
                </a:solidFill>
                <a:latin typeface="Segoe UI"/>
              </a:rPr>
              <a:t>a run never opens an STTM</a:t>
            </a:r>
            <a:r>
              <a:rPr sz="1000" b="0">
                <a:solidFill>
                  <a:srgbClr val="333F48"/>
                </a:solidFill>
                <a:latin typeface="Segoe UI"/>
              </a:rPr>
              <a:t>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358383"/>
            <a:ext cx="10820095" cy="1115568"/>
          </a:xfrm>
          <a:prstGeom prst="rect">
            <a:avLst/>
          </a:prstGeom>
          <a:solidFill>
            <a:srgbClr val="EE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685800" y="5358383"/>
            <a:ext cx="50292" cy="1115568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78408" y="5522975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spc="-20">
                <a:solidFill>
                  <a:srgbClr val="0A2458"/>
                </a:solidFill>
                <a:latin typeface="Segoe UI"/>
              </a:rPr>
              <a:t>The one thing to change — and it is not the template.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" y="5852159"/>
            <a:ext cx="10180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333F48"/>
                </a:solidFill>
                <a:latin typeface="Segoe UI"/>
              </a:rPr>
              <a:t>Ask the vendor for </a:t>
            </a:r>
            <a:r>
              <a:rPr sz="1100" b="1">
                <a:solidFill>
                  <a:srgbClr val="003DA5"/>
                </a:solidFill>
                <a:latin typeface="Consolas"/>
              </a:rPr>
              <a:t>VDD_&lt;feed&gt;.xlsx</a:t>
            </a:r>
            <a:r>
              <a:rPr sz="1100" b="0">
                <a:solidFill>
                  <a:srgbClr val="333F48"/>
                </a:solidFill>
                <a:latin typeface="Segoe UI"/>
              </a:rPr>
              <a:t>, put it beside </a:t>
            </a:r>
            <a:r>
              <a:rPr sz="1100" b="1">
                <a:solidFill>
                  <a:srgbClr val="003DA5"/>
                </a:solidFill>
                <a:latin typeface="Consolas"/>
              </a:rPr>
              <a:t>FRD_&lt;feed&gt;.docx</a:t>
            </a:r>
            <a:r>
              <a:rPr sz="1100" b="0">
                <a:solidFill>
                  <a:srgbClr val="333F48"/>
                </a:solidFill>
                <a:latin typeface="Segoe UI"/>
              </a:rPr>
              <a:t> in the library, and name it in the FRD row that already exists for it: </a:t>
            </a:r>
            <a:r>
              <a:rPr sz="1100" b="1">
                <a:solidFill>
                  <a:srgbClr val="0A2458"/>
                </a:solidFill>
                <a:latin typeface="Consolas"/>
              </a:rPr>
              <a:t>Structural Metadata › Source Data Dictionary</a:t>
            </a:r>
            <a:r>
              <a:rPr sz="1100" b="0">
                <a:solidFill>
                  <a:srgbClr val="333F48"/>
                </a:solidFill>
                <a:latin typeface="Segoe UI"/>
              </a:rPr>
              <a:t>. No new section, no new field, no re-approval of the template.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6309360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6428232"/>
            <a:ext cx="98142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55560"/>
                </a:solidFill>
                <a:latin typeface="Segoe UI"/>
              </a:rPr>
              <a:t>docs/THREE_INPUT_ARCHITECTURE.md · the agent ingests VDD_ workbooks as of 2026-08-27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91495" y="642823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03DA5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60">
                <a:solidFill>
                  <a:srgbClr val="003DA5"/>
                </a:solidFill>
                <a:latin typeface="Segoe UI"/>
              </a:rPr>
              <a:t>THE FRD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92656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35">
                <a:solidFill>
                  <a:srgbClr val="0A2458"/>
                </a:solidFill>
                <a:latin typeface="Segoe UI"/>
              </a:rPr>
              <a:t>Structural Metadata — the eleven rows you already have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1036289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55560"/>
                </a:solidFill>
                <a:latin typeface="Segoe UI"/>
              </a:rPr>
              <a:t>“Filled” counts the three real FRDs on hand. Nothing below asks for a new row.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1499616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1700784"/>
            <a:ext cx="2185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TEMPLATE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700784"/>
            <a:ext cx="47457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WHAT IT DECIDES IN THE STTM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59" y="1700784"/>
            <a:ext cx="5120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FILLED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1700784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HOW TO FILL 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1975104"/>
            <a:ext cx="10817352" cy="0"/>
          </a:xfrm>
          <a:prstGeom prst="line">
            <a:avLst/>
          </a:prstGeom>
          <a:ln w="15875">
            <a:solidFill>
              <a:srgbClr val="0A24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57400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Object/data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057400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How the file is parsed at all — format and delimiter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59" y="2057400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057400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Give the delimiter literally: “Pipe ( | ) .txt”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325069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237078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Target Schema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37078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Stage and standard schema; catalog if known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59" y="237078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37078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Name BOTH layers — “Stage: … / Standard: …”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68417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Target Table 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268417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The target tables, one per record 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59" y="268417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2 /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67928" y="268417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Segoe UI"/>
              </a:rPr>
              <a:t>Tables, never file names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2951849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" y="299756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Domain and Sub-domain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299756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Schema derivation, and the landing-path shape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59" y="299756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67928" y="299756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Use a term from the EDO domain 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1095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Load Strategy STG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31095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How the stage table is loaded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59" y="331095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331095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One of the four sanctioned strategies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578629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" y="362434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Load Strategy STD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62434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How the standard table is loaded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59" y="362434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7928" y="362434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“Upsert” = Update Else Insert; both accepted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393773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Load Strategy Consumption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393773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Out of scope for an ingest feed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9559" y="393773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455560"/>
                </a:solidFill>
                <a:latin typeface="Consolas"/>
              </a:rPr>
              <a:t>1 /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67928" y="393773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“Not Applicable” beats a blank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4205408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425112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Archive Schedule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425112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Retention note carried onto the workbook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59" y="425112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455560"/>
                </a:solidFill>
                <a:latin typeface="Consolas"/>
              </a:rPr>
              <a:t>1 /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67928" y="425112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State files and data separately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56451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Source Data Dictionary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456451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0A2458"/>
                </a:solidFill>
                <a:latin typeface="Segoe UI"/>
              </a:rPr>
              <a:t>The vendor dictionary the source side is built from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59" y="456451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Consolas"/>
              </a:rPr>
              <a:t>0 /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67928" y="456451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Consolas"/>
              </a:rPr>
              <a:t>Name the VDD_&lt;feed&gt;.xlsx here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832188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5800" y="487790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ADLS Location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17520" y="487790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Where the landing-zone check looks for the file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59" y="487790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2 /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67928" y="487790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455560"/>
                </a:solidFill>
                <a:latin typeface="Consolas"/>
              </a:rPr>
              <a:t>mftlanding/inbound/&lt;domain&gt;/&lt;sub&gt;/&lt;vendor&gt;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19129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Inbound File Folder Path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7520" y="519129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History vs incremental delivery route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09559" y="519129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2 / 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67928" y="519129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Segoe UI"/>
              </a:rPr>
              <a:t>A route, not a direction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5577840"/>
            <a:ext cx="10820095" cy="640080"/>
          </a:xfrm>
          <a:prstGeom prst="rect">
            <a:avLst/>
          </a:prstGeom>
          <a:solidFill>
            <a:srgbClr val="F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85800" y="5577840"/>
            <a:ext cx="50292" cy="640080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78408" y="5724144"/>
            <a:ext cx="10253167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2202F"/>
                </a:solidFill>
                <a:latin typeface="Segoe UI"/>
              </a:rPr>
              <a:t>Zero of three </a:t>
            </a:r>
            <a:r>
              <a:rPr sz="1100" b="0">
                <a:solidFill>
                  <a:srgbClr val="333F48"/>
                </a:solidFill>
                <a:latin typeface="Segoe UI"/>
              </a:rPr>
              <a:t>FRDs name a data dictionary — every one names the STTM instead. That single row is the difference between a mapping the agent DERIVES and a mapping it COPIES.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6309360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800" y="6428232"/>
            <a:ext cx="98142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55560"/>
                </a:solidFill>
                <a:latin typeface="Segoe UI"/>
              </a:rPr>
              <a:t>Row names verbatim from FRD_Enhanced_Metadata_Template.docx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91495" y="642823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03DA5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60">
                <a:solidFill>
                  <a:srgbClr val="003DA5"/>
                </a:solidFill>
                <a:latin typeface="Segoe UI"/>
              </a:rPr>
              <a:t>THE VDD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92656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35">
                <a:solidFill>
                  <a:srgbClr val="0A2458"/>
                </a:solidFill>
                <a:latin typeface="Segoe UI"/>
              </a:rPr>
              <a:t>What the Vendor Data Dictionary must contain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1036289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55560"/>
                </a:solidFill>
                <a:latin typeface="Segoe UI"/>
              </a:rPr>
              <a:t>One Excel workbook per feed, two kinds of sheet. Nothing in it is an ACFC decision — every cell is something the vendor already knows about its own file.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1700784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85800" y="1901952"/>
            <a:ext cx="5257800" cy="356616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85800" y="1901952"/>
            <a:ext cx="50292" cy="356616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SHEET 1 · USUALLY 1–5 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FILES — one row per delivered 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274777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26700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File Name Pattern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670048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matches a delivered file to this feed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" y="2967227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43000" y="2889503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File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889503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the human name; names the sheet it maps into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" y="3186684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43000" y="3108960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3108960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delimited · fixed-width · csv ·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" y="3406140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3328416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Delimiter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5224" y="3328416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the literal character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8408" y="3625596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143000" y="3547872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Header Row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5224" y="3547872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Y/N — does row 1 carry COLUMN NAMES?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" y="384505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43000" y="376732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Encoding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5224" y="3767328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UTF-8, Latin-1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8408" y="4064508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143000" y="3986784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Delivery Cadence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5224" y="3986784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cross-checked against the FRD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" y="4283964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43000" y="4206240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Content Description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5224" y="4206240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what ONE ROW of this file means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8408" y="4503420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43000" y="4425696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Field Sheet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5224" y="4425696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the tab holding this file's columns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" y="4722876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143000" y="4645152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Null Representation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35224" y="4645152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what a MISSING value looks like in the file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8408" y="5102352"/>
            <a:ext cx="4709160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78408" y="5175504"/>
            <a:ext cx="4690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>
                <a:solidFill>
                  <a:srgbClr val="0A2458"/>
                </a:solidFill>
                <a:latin typeface="Segoe UI"/>
              </a:rPr>
              <a:t>Multi-record files add:</a:t>
            </a:r>
            <a:r>
              <a:rPr sz="840" b="0">
                <a:solidFill>
                  <a:srgbClr val="333F48"/>
                </a:solidFill>
                <a:latin typeface="Segoe UI"/>
              </a:rPr>
              <a:t>  Multi-Record-Type · Record Type Field · Record Type Values · Expected Field Count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2" y="1901952"/>
            <a:ext cx="5257800" cy="3566160"/>
          </a:xfrm>
          <a:prstGeom prst="rect">
            <a:avLst/>
          </a:prstGeom>
          <a:solidFill>
            <a:srgbClr val="EE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245352" y="1901952"/>
            <a:ext cx="50292" cy="356616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519672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SHEET 2 · ONE TAB PER FILE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672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Field sheets — one row per source column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274777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702552" y="267004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31352" y="2670048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003DA5"/>
                </a:solidFill>
                <a:latin typeface="Segoe UI"/>
              </a:rPr>
              <a:t>from the file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967227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02552" y="2889503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Field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31352" y="2889503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only if row 1 has headers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37960" y="3186684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702552" y="3108960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Data Type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31352" y="310896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guessable, not knowable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37960" y="3406140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702552" y="3328416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Length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3328416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not from the data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3625596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02552" y="3547872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Required (Y/N)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31352" y="3547872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not from the data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37960" y="3845052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702552" y="376732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Description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31352" y="3767328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meaning is not in the data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7960" y="4064508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702552" y="3986784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Allowed Values / Range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31352" y="39867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a sample is not a domain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37960" y="4283964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702552" y="4206240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Example Value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31352" y="420624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003DA5"/>
                </a:solidFill>
                <a:latin typeface="Segoe UI"/>
              </a:rPr>
              <a:t>the vendor's, never a real member's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37960" y="4503420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702552" y="4425696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PHI / PII (Y/N)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31352" y="4425696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a compliance answer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4722876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702552" y="4645152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Key / Uniqueness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31352" y="4645152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the match key an Upsert needs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37960" y="494233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702552" y="486460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Segment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31352" y="4864608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455560"/>
                </a:solidFill>
                <a:latin typeface="Segoe UI"/>
              </a:rPr>
              <a:t>multi-record files only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537960" y="5102352"/>
            <a:ext cx="4709160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537960" y="517550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0">
                <a:solidFill>
                  <a:srgbClr val="455560"/>
                </a:solidFill>
                <a:latin typeface="Segoe UI"/>
              </a:rPr>
              <a:t>Blue = a data file could tell us.   Red = only the vendor can.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" y="5650992"/>
            <a:ext cx="10820095" cy="768096"/>
          </a:xfrm>
          <a:prstGeom prst="rect">
            <a:avLst/>
          </a:prstGeom>
          <a:solidFill>
            <a:srgbClr val="F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685800" y="5650992"/>
            <a:ext cx="50292" cy="768096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78408" y="579729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2202F"/>
                </a:solidFill>
                <a:latin typeface="Segoe UI"/>
              </a:rPr>
              <a:t>Eight of these eleven can never be recovered from a data file.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F48"/>
                </a:solidFill>
                <a:latin typeface="Segoe UI"/>
              </a:rPr>
              <a:t>They exist only in the vendor's specification. Where the dictionary is missing them the agent leaves the cell blank and raises a named question — it will not write a description, a null rule or a key it inferred.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85800" y="6309360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85800" y="6428232"/>
            <a:ext cx="98142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55560"/>
                </a:solidFill>
                <a:latin typeface="Segoe UI"/>
              </a:rPr>
              <a:t>templates/DICT_TEMPLATE_v1.3.xlsx — issue it to the vendor as-is; src/frdsttm/dictionary.py parses what comes back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91495" y="642823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03DA5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