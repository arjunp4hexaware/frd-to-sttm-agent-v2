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c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0896"/>
            <a:ext cx="1188720" cy="784171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048256" y="347472"/>
            <a:ext cx="0" cy="804672"/>
          </a:xfrm>
          <a:prstGeom prst="line">
            <a:avLst/>
          </a:prstGeom>
          <a:ln w="1270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31136" y="34747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003DA5"/>
                </a:solidFill>
                <a:latin typeface="Segoe UI"/>
              </a:rPr>
              <a:t>AMERIHEALTH CARITAS  ·  AI-IN-ENGINEERING  ·  AGENT 01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36" y="5486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spc="-40">
                <a:solidFill>
                  <a:srgbClr val="0A2458"/>
                </a:solidFill>
                <a:latin typeface="Segoe UI"/>
              </a:rPr>
              <a:t>FRD → STTM Agent</a:t>
            </a:r>
            <a:r>
              <a:rPr sz="1300" b="0">
                <a:solidFill>
                  <a:srgbClr val="455560"/>
                </a:solidFill>
                <a:latin typeface="Segoe UI"/>
              </a:rPr>
              <a:t>    solution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1136" y="932688"/>
            <a:ext cx="2036368" cy="292608"/>
          </a:xfrm>
          <a:prstGeom prst="rect">
            <a:avLst/>
          </a:prstGeom>
          <a:noFill/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31136" y="1001268"/>
            <a:ext cx="2036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80">
                <a:solidFill>
                  <a:srgbClr val="003DA5"/>
                </a:solidFill>
                <a:latin typeface="Segoe UI"/>
              </a:rPr>
              <a:t>TWO DOCUMENT INPUTS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5520" y="932688"/>
            <a:ext cx="2631643" cy="292608"/>
          </a:xfrm>
          <a:prstGeom prst="rect">
            <a:avLst/>
          </a:prstGeom>
          <a:noFill/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95520" y="1001268"/>
            <a:ext cx="26316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80">
                <a:solidFill>
                  <a:srgbClr val="003DA5"/>
                </a:solidFill>
                <a:latin typeface="Segoe UI"/>
              </a:rPr>
              <a:t>UNITY CATALOG IS THE 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5179" y="932688"/>
            <a:ext cx="1611172" cy="292608"/>
          </a:xfrm>
          <a:prstGeom prst="rect">
            <a:avLst/>
          </a:prstGeom>
          <a:noFill/>
          <a:ln w="12700">
            <a:solidFill>
              <a:srgbClr val="D2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55179" y="1001268"/>
            <a:ext cx="16111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80">
                <a:solidFill>
                  <a:srgbClr val="D2202F"/>
                </a:solidFill>
                <a:latin typeface="Segoe UI"/>
              </a:rPr>
              <a:t>ONE MODEL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7327" y="384048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19" b="1">
                <a:solidFill>
                  <a:srgbClr val="0A2458"/>
                </a:solidFill>
                <a:latin typeface="Segoe UI"/>
              </a:rPr>
              <a:t>Built by Hexaware</a:t>
            </a:r>
          </a:p>
          <a:p>
            <a:pPr algn="r">
              <a:lnSpc>
                <a:spcPct val="118000"/>
              </a:lnSpc>
            </a:pPr>
            <a:r>
              <a:rPr sz="819" b="0">
                <a:solidFill>
                  <a:srgbClr val="455560"/>
                </a:solidFill>
                <a:latin typeface="Segoe UI"/>
              </a:rPr>
              <a:t>rebuilt inside the ACFC environment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444752"/>
            <a:ext cx="10874959" cy="131673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8368" y="1444752"/>
            <a:ext cx="45720" cy="1316736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15636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003DA5"/>
                </a:solidFill>
                <a:latin typeface="Segoe UI"/>
              </a:rPr>
              <a:t>INPUTS · THE ONLY TWO DOCUMENTS THE AGENT IS GIVEN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1719072"/>
            <a:ext cx="5108295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77824" y="1719072"/>
            <a:ext cx="5108295" cy="36576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1894459"/>
            <a:ext cx="310896" cy="28930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08176" y="1865376"/>
            <a:ext cx="4431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0A2458"/>
                </a:solidFill>
                <a:latin typeface="Consolas"/>
              </a:rPr>
              <a:t>FRD_&lt;source&gt;.docx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2084832"/>
            <a:ext cx="44316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spc="100">
                <a:solidFill>
                  <a:srgbClr val="003DA5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7" y="2286000"/>
            <a:ext cx="481568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333F48"/>
                </a:solidFill>
                <a:latin typeface="Segoe UI"/>
              </a:rPr>
              <a:t>The source-level frame — file pattern and format, target schema and table per layer, load strategy, landing folder, DQ and recycle rules. Authored and approved by ACFC's BSAs.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5575" y="1719072"/>
            <a:ext cx="5108295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05575" y="1719072"/>
            <a:ext cx="5108295" cy="36576"/>
          </a:xfrm>
          <a:prstGeom prst="rect">
            <a:avLst/>
          </a:prstGeom>
          <a:solidFill>
            <a:srgbClr val="69B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ex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879" y="1894459"/>
            <a:ext cx="310896" cy="28930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35927" y="1865376"/>
            <a:ext cx="4431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0A2458"/>
                </a:solidFill>
                <a:latin typeface="Consolas"/>
              </a:rPr>
              <a:t>VDD_&lt;source&gt;.xlsx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5927" y="2084832"/>
            <a:ext cx="44316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spc="100">
                <a:solidFill>
                  <a:srgbClr val="D2202F"/>
                </a:solidFill>
                <a:latin typeface="Segoe UI"/>
              </a:rPr>
              <a:t>INGESTED · NOT YET READ BY STAGES 02–04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2286000"/>
            <a:ext cx="481568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333F48"/>
                </a:solidFill>
                <a:latin typeface="Segoe UI"/>
              </a:rPr>
              <a:t>The vendor data dictionary — every source column: name, position, type, length, required, description, allowed values, PHI. Supplied by the vendor.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70048" y="2761488"/>
            <a:ext cx="0" cy="182880"/>
          </a:xfrm>
          <a:prstGeom prst="line">
            <a:avLst/>
          </a:prstGeom>
          <a:ln w="22225">
            <a:solidFill>
              <a:srgbClr val="0A24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52928" y="2752344"/>
            <a:ext cx="904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33F48"/>
                </a:solidFill>
                <a:latin typeface="Segoe UI"/>
              </a:rPr>
              <a:t>every input lands in Unity Catalog first — the agent never reads a document over the network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944368"/>
            <a:ext cx="10874959" cy="122529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" y="2944368"/>
            <a:ext cx="45720" cy="1225296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77824" y="30632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0A2458"/>
                </a:solidFill>
                <a:latin typeface="Segoe UI"/>
              </a:rPr>
              <a:t>DOCUMENT LOADERS  →  THE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325526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0A2458"/>
                </a:solidFill>
                <a:latin typeface="Segoe UI"/>
              </a:rPr>
              <a:t>Three interchangeable loaders, one interface</a:t>
            </a:r>
          </a:p>
        </p:txBody>
      </p:sp>
      <p:pic>
        <p:nvPicPr>
          <p:cNvPr id="37" name="Picture 36" descr="sharepo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485769"/>
            <a:ext cx="182880" cy="1790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88719" y="3474720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A2458"/>
                </a:solidFill>
                <a:latin typeface="Segoe UI"/>
              </a:rPr>
              <a:t>SharePoint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3483864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55560"/>
                </a:solidFill>
                <a:latin typeface="Consolas"/>
              </a:rPr>
              <a:t>Graph, read-only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348386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spc="80">
                <a:solidFill>
                  <a:srgbClr val="D2202F"/>
                </a:solidFill>
                <a:latin typeface="Segoe UI"/>
              </a:rPr>
              <a:t>NOT YET WIRED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" y="3762756"/>
            <a:ext cx="77724" cy="77724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88719" y="3694176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A2458"/>
                </a:solidFill>
                <a:latin typeface="Segoe UI"/>
              </a:rPr>
              <a:t>Local documents folder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3703320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55560"/>
                </a:solidFill>
                <a:latin typeface="Consolas"/>
              </a:rPr>
              <a:t>STTM_LOCAL_SOURCE_DIR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37033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spc="80">
                <a:solidFill>
                  <a:srgbClr val="003DA5"/>
                </a:solidFill>
                <a:latin typeface="Segoe UI"/>
              </a:rPr>
              <a:t>LOCAL MODE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" y="3982212"/>
            <a:ext cx="77724" cy="77724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188719" y="3913632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0A2458"/>
                </a:solidFill>
                <a:latin typeface="Segoe UI"/>
              </a:rPr>
              <a:t>Direct volume push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9232" y="3922776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55560"/>
                </a:solidFill>
                <a:latin typeface="Consolas"/>
              </a:rPr>
              <a:t>push_local_source_to_volumes.py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2352" y="39227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" b="1" spc="80">
                <a:solidFill>
                  <a:srgbClr val="003DA5"/>
                </a:solidFill>
                <a:latin typeface="Segoe UI"/>
              </a:rPr>
              <a:t>IN USE TODAY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63055" y="3557016"/>
            <a:ext cx="402337" cy="0"/>
          </a:xfrm>
          <a:prstGeom prst="line">
            <a:avLst/>
          </a:prstGeom>
          <a:ln w="25400">
            <a:solidFill>
              <a:srgbClr val="0A24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693407" y="3145536"/>
            <a:ext cx="4620463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unitycat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22" y="3273552"/>
            <a:ext cx="695083" cy="2377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028431" y="3273552"/>
            <a:ext cx="31391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0A2458"/>
                </a:solidFill>
                <a:latin typeface="Segoe UI"/>
              </a:rPr>
              <a:t>Unity Catalog — volumes + Delta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3566160"/>
            <a:ext cx="4327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003DA5"/>
                </a:solidFill>
                <a:latin typeface="Consolas"/>
              </a:rPr>
              <a:t>frd_raw · vdd_raw · sttm_reference · sttm_out_app · sttm_audit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3767328"/>
            <a:ext cx="4327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>
                <a:solidFill>
                  <a:srgbClr val="0A2458"/>
                </a:solidFill>
                <a:latin typeface="Segoe UI"/>
              </a:rPr>
              <a:t>The review app reads THIS.</a:t>
            </a:r>
            <a:r>
              <a:rPr sz="840" b="0">
                <a:solidFill>
                  <a:srgbClr val="333F48"/>
                </a:solidFill>
                <a:latin typeface="Segoe UI"/>
              </a:rPr>
              <a:t>  SharePoint is not on the request path.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670048" y="4169664"/>
            <a:ext cx="0" cy="146304"/>
          </a:xfrm>
          <a:prstGeom prst="line">
            <a:avLst/>
          </a:prstGeom>
          <a:ln w="22225">
            <a:solidFill>
              <a:srgbClr val="0A24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52928" y="4142232"/>
            <a:ext cx="904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33F48"/>
                </a:solidFill>
                <a:latin typeface="Segoe UI"/>
              </a:rPr>
              <a:t>the app triggers the job; the job reads and writes the volumes natively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15968"/>
            <a:ext cx="10874959" cy="168249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58368" y="4315968"/>
            <a:ext cx="45720" cy="1682496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77824" y="44348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003DA5"/>
                </a:solidFill>
                <a:latin typeface="Segoe UI"/>
              </a:rPr>
              <a:t>DATABRICKS PLATFORM</a:t>
            </a:r>
          </a:p>
        </p:txBody>
      </p:sp>
      <p:pic>
        <p:nvPicPr>
          <p:cNvPr id="60" name="Picture 59" descr="databric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544" y="4700016"/>
            <a:ext cx="424688" cy="237744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2103120" y="4553712"/>
            <a:ext cx="58887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249424" y="4626864"/>
            <a:ext cx="5596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2458"/>
                </a:solidFill>
                <a:latin typeface="Segoe UI"/>
              </a:rPr>
              <a:t>Generation job</a:t>
            </a:r>
            <a:r>
              <a:rPr sz="840" b="0">
                <a:solidFill>
                  <a:srgbClr val="333F48"/>
                </a:solidFill>
                <a:latin typeface="Segoe UI"/>
              </a:rPr>
              <a:t>   Databricks Jobs · serverless · stages 01–04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49424" y="4846320"/>
            <a:ext cx="1337310" cy="566928"/>
          </a:xfrm>
          <a:prstGeom prst="rect">
            <a:avLst/>
          </a:prstGeom>
          <a:solidFill>
            <a:srgbClr val="F0F0F0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2340864" y="4901183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3DA5"/>
                </a:solidFill>
                <a:latin typeface="Consolas"/>
              </a:rPr>
              <a:t>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40864" y="5056632"/>
            <a:ext cx="11544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0A2458"/>
                </a:solidFill>
                <a:latin typeface="Segoe UI"/>
              </a:rPr>
              <a:t>Ingest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40864" y="5239512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455560"/>
                </a:solidFill>
                <a:latin typeface="Segoe UI"/>
              </a:rPr>
              <a:t>docx → markdown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591306" y="5129783"/>
            <a:ext cx="73152" cy="0"/>
          </a:xfrm>
          <a:prstGeom prst="line">
            <a:avLst/>
          </a:prstGeom>
          <a:ln w="12700">
            <a:solidFill>
              <a:srgbClr val="45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3669030" y="4846320"/>
            <a:ext cx="1337310" cy="566928"/>
          </a:xfrm>
          <a:prstGeom prst="rect">
            <a:avLst/>
          </a:prstGeom>
          <a:solidFill>
            <a:srgbClr val="FCECEE"/>
          </a:solidFill>
          <a:ln w="15875">
            <a:solidFill>
              <a:srgbClr val="D22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760470" y="4901183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D2202F"/>
                </a:solidFill>
                <a:latin typeface="Consolas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60470" y="5056632"/>
            <a:ext cx="11544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0A2458"/>
                </a:solidFill>
                <a:latin typeface="Segoe UI"/>
              </a:rPr>
              <a:t>Extract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60470" y="5239512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D2202F"/>
                </a:solidFill>
                <a:latin typeface="Segoe UI"/>
              </a:rPr>
              <a:t>the one model call</a:t>
            </a:r>
          </a:p>
        </p:txBody>
      </p:sp>
      <p:pic>
        <p:nvPicPr>
          <p:cNvPr id="72" name="Picture 71" descr="clau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9412" y="4904041"/>
            <a:ext cx="475488" cy="104013"/>
          </a:xfrm>
          <a:prstGeom prst="rect">
            <a:avLst/>
          </a:prstGeom>
        </p:spPr>
      </p:pic>
      <p:cxnSp>
        <p:nvCxnSpPr>
          <p:cNvPr id="73" name="Connector 72"/>
          <p:cNvCxnSpPr/>
          <p:nvPr/>
        </p:nvCxnSpPr>
        <p:spPr>
          <a:xfrm>
            <a:off x="5010912" y="5129783"/>
            <a:ext cx="73152" cy="0"/>
          </a:xfrm>
          <a:prstGeom prst="line">
            <a:avLst/>
          </a:prstGeom>
          <a:ln w="12700">
            <a:solidFill>
              <a:srgbClr val="45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088636" y="4846320"/>
            <a:ext cx="1337310" cy="566928"/>
          </a:xfrm>
          <a:prstGeom prst="rect">
            <a:avLst/>
          </a:prstGeom>
          <a:solidFill>
            <a:srgbClr val="F0F0F0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5180075" y="4901183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3DA5"/>
                </a:solidFill>
                <a:latin typeface="Consolas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075" y="5056632"/>
            <a:ext cx="11544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0A2458"/>
                </a:solidFill>
                <a:latin typeface="Segoe UI"/>
              </a:rPr>
              <a:t>Audit · gate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80075" y="5239512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455560"/>
                </a:solidFill>
                <a:latin typeface="Segoe UI"/>
              </a:rPr>
              <a:t>verbatim grounding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430518" y="5129783"/>
            <a:ext cx="73152" cy="0"/>
          </a:xfrm>
          <a:prstGeom prst="line">
            <a:avLst/>
          </a:prstGeom>
          <a:ln w="12700">
            <a:solidFill>
              <a:srgbClr val="45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508242" y="4846320"/>
            <a:ext cx="1337310" cy="566928"/>
          </a:xfrm>
          <a:prstGeom prst="rect">
            <a:avLst/>
          </a:prstGeom>
          <a:solidFill>
            <a:srgbClr val="F0F0F0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599681" y="4901183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3DA5"/>
                </a:solidFill>
                <a:latin typeface="Consolas"/>
              </a:rPr>
              <a:t>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99681" y="5056632"/>
            <a:ext cx="115443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0A2458"/>
                </a:solidFill>
                <a:latin typeface="Segoe UI"/>
              </a:rPr>
              <a:t>Render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99681" y="5239512"/>
            <a:ext cx="11544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455560"/>
                </a:solidFill>
                <a:latin typeface="Segoe UI"/>
              </a:rPr>
              <a:t>STTM + contract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74736" y="4553712"/>
            <a:ext cx="3139135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8321040" y="4626864"/>
            <a:ext cx="284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2458"/>
                </a:solidFill>
                <a:latin typeface="Segoe UI"/>
              </a:rPr>
              <a:t>Review app</a:t>
            </a:r>
            <a:r>
              <a:rPr sz="840" b="0">
                <a:solidFill>
                  <a:srgbClr val="333F48"/>
                </a:solidFill>
                <a:latin typeface="Segoe UI"/>
              </a:rPr>
              <a:t>   Databricks Apps</a:t>
            </a:r>
          </a:p>
        </p:txBody>
      </p:sp>
      <p:pic>
        <p:nvPicPr>
          <p:cNvPr id="85" name="Picture 84" descr="fastap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4894373"/>
            <a:ext cx="603504" cy="114204"/>
          </a:xfrm>
          <a:prstGeom prst="rect">
            <a:avLst/>
          </a:prstGeom>
        </p:spPr>
      </p:pic>
      <p:pic>
        <p:nvPicPr>
          <p:cNvPr id="86" name="Picture 85" descr="re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5984" y="4856162"/>
            <a:ext cx="182880" cy="163195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321040" y="5102352"/>
            <a:ext cx="28465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333F48"/>
                </a:solidFill>
                <a:latin typeface="Segoe UI"/>
              </a:rPr>
              <a:t>Pick an FRD · run (confirm-gated, billed) · resolve what the agent gated · re-render · download.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9536" y="5504688"/>
            <a:ext cx="1045433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859536" y="5504688"/>
            <a:ext cx="45720" cy="457200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60704" y="555955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spc="120">
                <a:solidFill>
                  <a:srgbClr val="0A2458"/>
                </a:solidFill>
                <a:latin typeface="Segoe UI"/>
              </a:rPr>
              <a:t>BUILT INTO THE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0704" y="574243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455560"/>
                </a:solidFill>
                <a:latin typeface="Segoe UI"/>
              </a:rPr>
              <a:t>not handed over per run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10128" y="5559551"/>
            <a:ext cx="7948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2458"/>
                </a:solidFill>
                <a:latin typeface="Segoe UI"/>
              </a:rPr>
              <a:t>Standards contracts</a:t>
            </a:r>
            <a:r>
              <a:rPr sz="800" b="0">
                <a:solidFill>
                  <a:srgbClr val="333F48"/>
                </a:solidFill>
                <a:latin typeface="Segoe UI"/>
              </a:rPr>
              <a:t>  naming + engineering, hashed into every run</a:t>
            </a:r>
            <a:r>
              <a:rPr sz="800" b="0">
                <a:solidFill>
                  <a:srgbClr val="CDD2D8"/>
                </a:solidFill>
                <a:latin typeface="Segoe UI"/>
              </a:rPr>
              <a:t>      ·      </a:t>
            </a:r>
            <a:r>
              <a:rPr sz="800" b="1">
                <a:solidFill>
                  <a:srgbClr val="0A2458"/>
                </a:solidFill>
                <a:latin typeface="Segoe UI"/>
              </a:rPr>
              <a:t>Term catalog</a:t>
            </a:r>
            <a:r>
              <a:rPr sz="800" b="0">
                <a:solidFill>
                  <a:srgbClr val="333F48"/>
                </a:solidFill>
                <a:latin typeface="Segoe UI"/>
              </a:rPr>
              <a:t>  the column vocabulary, harvested at sync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0128" y="5751575"/>
            <a:ext cx="79488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A2458"/>
                </a:solidFill>
                <a:latin typeface="Segoe UI"/>
              </a:rPr>
              <a:t>Approved-STTM corpus</a:t>
            </a:r>
            <a:r>
              <a:rPr sz="800" b="0">
                <a:solidFill>
                  <a:srgbClr val="333F48"/>
                </a:solidFill>
                <a:latin typeface="Segoe UI"/>
              </a:rPr>
              <a:t>  layout only, plus the after-the-fact eval.  </a:t>
            </a:r>
            <a:r>
              <a:rPr sz="800" b="1">
                <a:solidFill>
                  <a:srgbClr val="D2202F"/>
                </a:solidFill>
                <a:latin typeface="Segoe UI"/>
              </a:rPr>
              <a:t>A RUN NEVER OPENS AN STTM.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938528" y="5998464"/>
            <a:ext cx="0" cy="109728"/>
          </a:xfrm>
          <a:prstGeom prst="line">
            <a:avLst/>
          </a:prstGeom>
          <a:ln w="22225">
            <a:solidFill>
              <a:srgbClr val="0A24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121408" y="5952743"/>
            <a:ext cx="904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33F48"/>
                </a:solidFill>
                <a:latin typeface="Segoe UI"/>
              </a:rPr>
              <a:t>draft STTM .xlsx  +  source contract .json   →   to a named person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8368" y="6108192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7" name="Picture 96" descr="us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672" y="6236207"/>
            <a:ext cx="256032" cy="256032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152144" y="6181344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>
                <a:solidFill>
                  <a:srgbClr val="0A2458"/>
                </a:solidFill>
                <a:latin typeface="Segoe UI"/>
              </a:rPr>
              <a:t>A person decides.</a:t>
            </a:r>
          </a:p>
          <a:p>
            <a:pPr algn="l">
              <a:lnSpc>
                <a:spcPct val="110000"/>
              </a:lnSpc>
            </a:pPr>
            <a:r>
              <a:rPr sz="819" b="0">
                <a:solidFill>
                  <a:srgbClr val="333F48"/>
                </a:solidFill>
                <a:latin typeface="Segoe UI"/>
              </a:rPr>
              <a:t>The reviewer resolves every gated item, approves, and returns the workbook — the next sync pairs it.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54496" y="6108192"/>
            <a:ext cx="5278831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A2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ex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6253607"/>
            <a:ext cx="237744" cy="221234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675120" y="6199631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0A2458"/>
                </a:solidFill>
                <a:latin typeface="Segoe UI"/>
              </a:rPr>
              <a:t>STTM workbook</a:t>
            </a:r>
          </a:p>
          <a:p>
            <a:pPr algn="l">
              <a:lnSpc>
                <a:spcPct val="105000"/>
              </a:lnSpc>
            </a:pPr>
            <a:r>
              <a:rPr sz="819" b="0">
                <a:solidFill>
                  <a:srgbClr val="333F48"/>
                </a:solidFill>
                <a:latin typeface="Segoe UI"/>
              </a:rPr>
              <a:t>.xlsx · client dialect</a:t>
            </a:r>
          </a:p>
        </p:txBody>
      </p:sp>
      <p:pic>
        <p:nvPicPr>
          <p:cNvPr id="102" name="Picture 101" descr="js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5008" y="6245352"/>
            <a:ext cx="219456" cy="21945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357616" y="6199631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0A2458"/>
                </a:solidFill>
                <a:latin typeface="Segoe UI"/>
              </a:rPr>
              <a:t>Source contract</a:t>
            </a:r>
          </a:p>
          <a:p>
            <a:pPr algn="l">
              <a:lnSpc>
                <a:spcPct val="105000"/>
              </a:lnSpc>
            </a:pPr>
            <a:r>
              <a:rPr sz="819" b="0">
                <a:solidFill>
                  <a:srgbClr val="333F48"/>
                </a:solidFill>
                <a:latin typeface="Segoe UI"/>
              </a:rPr>
              <a:t>contract.json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9674352" y="6373368"/>
            <a:ext cx="237744" cy="0"/>
          </a:xfrm>
          <a:prstGeom prst="line">
            <a:avLst/>
          </a:prstGeom>
          <a:ln w="19050">
            <a:solidFill>
              <a:srgbClr val="0A245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021824" y="6199631"/>
            <a:ext cx="1383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1">
                <a:solidFill>
                  <a:srgbClr val="003DA5"/>
                </a:solidFill>
                <a:latin typeface="Segoe UI"/>
              </a:rPr>
              <a:t>CodeGen agent</a:t>
            </a:r>
          </a:p>
          <a:p>
            <a:pPr algn="l">
              <a:lnSpc>
                <a:spcPct val="105000"/>
              </a:lnSpc>
            </a:pPr>
            <a:r>
              <a:rPr sz="819" b="1">
                <a:solidFill>
                  <a:srgbClr val="003DA5"/>
                </a:solidFill>
                <a:latin typeface="Segoe UI"/>
              </a:rPr>
              <a:t>Code Review agent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A2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658368" y="6675120"/>
            <a:ext cx="10874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spc="100">
                <a:solidFill>
                  <a:srgbClr val="FFD9DC"/>
                </a:solidFill>
                <a:latin typeface="Segoe UI"/>
              </a:rPr>
              <a:t>ONE ANTHROPIC CALL PER DOCUMENT</a:t>
            </a:r>
            <a:r>
              <a:rPr sz="780" b="0" spc="100">
                <a:solidFill>
                  <a:srgbClr val="6B7FA8"/>
                </a:solidFill>
                <a:latin typeface="Segoe UI"/>
              </a:rPr>
              <a:t>     ·     </a:t>
            </a:r>
            <a:r>
              <a:rPr sz="780" b="1" spc="100">
                <a:solidFill>
                  <a:srgbClr val="FFFFFF"/>
                </a:solidFill>
                <a:latin typeface="Segoe UI"/>
              </a:rPr>
              <a:t>EVERYTHING ELSE IS DETERMINISTIC CODE</a:t>
            </a:r>
            <a:r>
              <a:rPr sz="780" b="0" spc="100">
                <a:solidFill>
                  <a:srgbClr val="6B7FA8"/>
                </a:solidFill>
                <a:latin typeface="Segoe UI"/>
              </a:rPr>
              <a:t>     ·     </a:t>
            </a:r>
            <a:r>
              <a:rPr sz="780" b="1" spc="100">
                <a:solidFill>
                  <a:srgbClr val="FFFFFF"/>
                </a:solidFill>
                <a:latin typeface="Segoe UI"/>
              </a:rPr>
              <a:t>A PERSON APPROVES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