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147469756" r:id="rId7"/>
    <p:sldId id="2147469762" r:id="rId8"/>
    <p:sldId id="258" r:id="rId9"/>
    <p:sldId id="2147469760" r:id="rId10"/>
    <p:sldId id="2147469764" r:id="rId11"/>
    <p:sldId id="398" r:id="rId12"/>
    <p:sldId id="2147469772" r:id="rId13"/>
    <p:sldId id="2147469770" r:id="rId14"/>
    <p:sldId id="261" r:id="rId15"/>
    <p:sldId id="2147469752" r:id="rId16"/>
    <p:sldId id="2147469771" r:id="rId17"/>
    <p:sldId id="264" r:id="rId18"/>
    <p:sldId id="2147469765" r:id="rId19"/>
    <p:sldId id="26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BB00F6C-91F8-4A0E-B8FB-7A61AF68BD20}">
          <p14:sldIdLst>
            <p14:sldId id="256"/>
            <p14:sldId id="257"/>
            <p14:sldId id="2147469756"/>
            <p14:sldId id="2147469762"/>
            <p14:sldId id="258"/>
            <p14:sldId id="2147469760"/>
            <p14:sldId id="2147469764"/>
            <p14:sldId id="398"/>
            <p14:sldId id="2147469772"/>
            <p14:sldId id="2147469770"/>
            <p14:sldId id="261"/>
            <p14:sldId id="2147469752"/>
            <p14:sldId id="2147469771"/>
            <p14:sldId id="264"/>
            <p14:sldId id="2147469765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66B1"/>
    <a:srgbClr val="0338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AF1090-E779-9589-53C0-BCE84208D3B8}" v="1" dt="2026-08-27T20:42:20.873"/>
    <p1510:client id="{56F99941-40A3-47CB-9BE5-F9F0FA358D8C}" v="787" dt="2026-08-27T11:28:20.765"/>
    <p1510:client id="{B5C27B78-DEAE-4E4F-9BBA-7105430FE859}" v="714" dt="2026-08-27T12:09:56.2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7AAE9-E3B9-4C1F-B063-B56A918B35C1}" type="datetimeFigureOut"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F4F88F-DB2D-4C99-9E9D-5D24CC6B19B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83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ACFC-formatted program overview. Architecture slides depict the target shape inside AmeriHealth's own Databricks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9F4D7-DA76-286C-3E29-6F3807C0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F23617-E9C7-1F8A-9A16-B00A972B2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D36F39-9B83-CE4D-DCA2-63A57C7AE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CC353-427C-06B4-E334-828EB2C358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879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82DB7-65AD-A0A9-17B1-E9EFD2B2D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79DEF-D2D6-72D3-96C8-FA417097E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2ADE5-90C9-24AA-1680-321EBBB8F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D4AA1-5FC8-CA60-51B0-9A336051D7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695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EBAA0-ABD0-F16D-1550-0D39A444F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6475A4-3FB7-A15A-78B9-07C096609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F8CECD-C9F3-707E-1894-BE46A5F64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B076B-7547-93F9-7EBC-1E015F918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925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ACF2B-D2A3-DE63-9EAC-13AFC945A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C8B239-6875-3D24-C94C-AC022AE728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120B85-26B3-0275-8AC5-5A192186C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0B7BA-AD62-5F0C-2497-07ED01EF04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2484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7D3B8-28C7-3E37-6877-B52B0AD9E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E1E8F2-3B4B-ED2F-79D3-41BD739BC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BC36D2-648E-E874-C338-A8B461A24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32E50-BC14-988F-29E7-D3FF5DC714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78380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D831F-A701-006B-4852-36FFA2FFE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0BACDA-DB15-7150-6868-7FFE369A8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BAB9A0-F172-8D6A-2634-1B7A8D3207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78A9E-7956-1805-C4F2-971157E525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2908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Two-layer trust rule: templates write code; the model only advises on rules templates cannot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3BBF8-7B71-E08E-9D30-6330667AA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BA81E6-D110-5121-BF25-A2BF9E873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379F91-0F54-2F68-CB35-4E2144C22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B31DC-3633-8C0F-CAC0-2783C2397C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0036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7753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e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e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9.png"/><Relationship Id="rId16" Type="http://schemas.openxmlformats.org/officeDocument/2006/relationships/image" Target="../media/image20.png"/><Relationship Id="rId17" Type="http://schemas.openxmlformats.org/officeDocument/2006/relationships/image" Target="../media/image38.png"/><Relationship Id="rId18" Type="http://schemas.openxmlformats.org/officeDocument/2006/relationships/image" Target="../media/image36.png"/><Relationship Id="rId19" Type="http://schemas.openxmlformats.org/officeDocument/2006/relationships/image" Target="../media/image41.png"/><Relationship Id="rId20" Type="http://schemas.openxmlformats.org/officeDocument/2006/relationships/image" Target="../media/image32.png"/><Relationship Id="rId21" Type="http://schemas.openxmlformats.org/officeDocument/2006/relationships/image" Target="../media/image25.png"/><Relationship Id="rId22" Type="http://schemas.openxmlformats.org/officeDocument/2006/relationships/image" Target="../media/image31.png"/><Relationship Id="rId23" Type="http://schemas.openxmlformats.org/officeDocument/2006/relationships/image" Target="../media/image4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eg"/><Relationship Id="rId4" Type="http://schemas.openxmlformats.org/officeDocument/2006/relationships/image" Target="../media/image21.png"/><Relationship Id="rId5" Type="http://schemas.openxmlformats.org/officeDocument/2006/relationships/image" Target="../media/image9.png"/><Relationship Id="rId6" Type="http://schemas.openxmlformats.org/officeDocument/2006/relationships/image" Target="../media/image36.png"/><Relationship Id="rId7" Type="http://schemas.openxmlformats.org/officeDocument/2006/relationships/image" Target="../media/image13.png"/><Relationship Id="rId8" Type="http://schemas.openxmlformats.org/officeDocument/2006/relationships/image" Target="../media/image25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e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eg"/><Relationship Id="rId4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12.png"/><Relationship Id="rId9" Type="http://schemas.openxmlformats.org/officeDocument/2006/relationships/image" Target="../media/image14.png"/><Relationship Id="rId10" Type="http://schemas.openxmlformats.org/officeDocument/2006/relationships/image" Target="../media/image2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6.png"/><Relationship Id="rId16" Type="http://schemas.openxmlformats.org/officeDocument/2006/relationships/image" Target="../media/image27.png"/><Relationship Id="rId17" Type="http://schemas.openxmlformats.org/officeDocument/2006/relationships/image" Target="../media/image28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eg"/><Relationship Id="rId4" Type="http://schemas.openxmlformats.org/officeDocument/2006/relationships/image" Target="../media/image29.png"/><Relationship Id="rId5" Type="http://schemas.openxmlformats.org/officeDocument/2006/relationships/image" Target="../media/image9.png"/><Relationship Id="rId6" Type="http://schemas.openxmlformats.org/officeDocument/2006/relationships/image" Target="../media/image30.png"/><Relationship Id="rId7" Type="http://schemas.openxmlformats.org/officeDocument/2006/relationships/image" Target="../media/image13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9.png"/><Relationship Id="rId4" Type="http://schemas.openxmlformats.org/officeDocument/2006/relationships/image" Target="../media/image38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25.png"/><Relationship Id="rId8" Type="http://schemas.openxmlformats.org/officeDocument/2006/relationships/image" Target="../media/image36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31.png"/><Relationship Id="rId12" Type="http://schemas.openxmlformats.org/officeDocument/2006/relationships/image" Target="../media/image3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eg"/><Relationship Id="rId4" Type="http://schemas.openxmlformats.org/officeDocument/2006/relationships/image" Target="../media/image29.png"/><Relationship Id="rId5" Type="http://schemas.openxmlformats.org/officeDocument/2006/relationships/image" Target="../media/image9.png"/><Relationship Id="rId6" Type="http://schemas.openxmlformats.org/officeDocument/2006/relationships/image" Target="../media/image30.png"/><Relationship Id="rId7" Type="http://schemas.openxmlformats.org/officeDocument/2006/relationships/image" Target="../media/image15.png"/><Relationship Id="rId8" Type="http://schemas.openxmlformats.org/officeDocument/2006/relationships/image" Target="../media/image13.png"/><Relationship Id="rId9" Type="http://schemas.openxmlformats.org/officeDocument/2006/relationships/image" Target="../media/image32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31.png"/><Relationship Id="rId1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073" y="55418"/>
            <a:ext cx="2487168" cy="1856232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work/assets/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74320"/>
            <a:ext cx="1847088" cy="12252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450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DATA ENGINEERING</a:t>
            </a:r>
            <a:endParaRPr lang="en-US" sz="1100"/>
          </a:p>
        </p:txBody>
      </p:sp>
      <p:sp>
        <p:nvSpPr>
          <p:cNvPr id="5" name="Text 2"/>
          <p:cNvSpPr/>
          <p:nvPr/>
        </p:nvSpPr>
        <p:spPr>
          <a:xfrm>
            <a:off x="786383" y="2761488"/>
            <a:ext cx="833914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AI-in-Data Engineering Program</a:t>
            </a:r>
            <a:endParaRPr lang="en-US" sz="4000"/>
          </a:p>
        </p:txBody>
      </p:sp>
      <p:sp>
        <p:nvSpPr>
          <p:cNvPr id="6" name="Text 3"/>
          <p:cNvSpPr/>
          <p:nvPr/>
        </p:nvSpPr>
        <p:spPr>
          <a:xfrm>
            <a:off x="822960" y="404164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  ·  the two agents, end to end</a:t>
            </a:r>
            <a:endParaRPr lang="en-US" sz="1700"/>
          </a:p>
        </p:txBody>
      </p:sp>
      <p:sp>
        <p:nvSpPr>
          <p:cNvPr id="7" name="Text 4"/>
          <p:cNvSpPr/>
          <p:nvPr/>
        </p:nvSpPr>
        <p:spPr>
          <a:xfrm>
            <a:off x="7589520" y="523036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 on one governed</a:t>
            </a:r>
            <a:endParaRPr lang="en-US" sz="1300"/>
          </a:p>
          <a:p>
            <a:pPr marL="0" indent="0" algn="r">
              <a:buNone/>
            </a:pPr>
            <a:r>
              <a:rPr lang="en-US" sz="13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platform</a:t>
            </a:r>
            <a:endParaRPr lang="en-US" sz="1300"/>
          </a:p>
        </p:txBody>
      </p:sp>
      <p:sp>
        <p:nvSpPr>
          <p:cNvPr id="8" name="Text 5"/>
          <p:cNvSpPr/>
          <p:nvPr/>
        </p:nvSpPr>
        <p:spPr>
          <a:xfrm>
            <a:off x="841248" y="5504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8778240" y="64739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and Confidential</a:t>
            </a:r>
            <a:endParaRPr lang="en-US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182880"/>
            <a:ext cx="76325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497840" y="1208024"/>
            <a:ext cx="1152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1325880" y="1875536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>
                <a:solidFill>
                  <a:srgbClr val="0067B1"/>
                </a:solidFill>
                <a:ea typeface="Calibri" pitchFamily="34" charset="-122"/>
                <a:cs typeface="Calibri" pitchFamily="34" charset="-120"/>
              </a:rPr>
              <a:t>01</a:t>
            </a:r>
            <a:endParaRPr lang="en-US" sz="3800"/>
          </a:p>
        </p:txBody>
      </p:sp>
      <p:sp>
        <p:nvSpPr>
          <p:cNvPr id="5" name="Text 3"/>
          <p:cNvSpPr/>
          <p:nvPr/>
        </p:nvSpPr>
        <p:spPr>
          <a:xfrm>
            <a:off x="2286000" y="2029968"/>
            <a:ext cx="767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0067B1"/>
                </a:solidFill>
                <a:ea typeface="Calibri" pitchFamily="34" charset="-122"/>
                <a:cs typeface="Calibri" pitchFamily="34" charset="-120"/>
              </a:rPr>
              <a:t>How the two agents fit together</a:t>
            </a: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0" y="245262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5A6875"/>
                </a:solidFill>
                <a:ea typeface="Calibri" pitchFamily="34" charset="-122"/>
                <a:cs typeface="Calibri" pitchFamily="34" charset="-120"/>
              </a:rPr>
              <a:t>One relay from an approved FRD through to generated </a:t>
            </a:r>
            <a:r>
              <a:rPr lang="en-US" sz="1400">
                <a:solidFill>
                  <a:srgbClr val="5A6875"/>
                </a:solidFill>
                <a:ea typeface="Calibri" pitchFamily="34" charset="-122"/>
                <a:cs typeface="Calibri" pitchFamily="34" charset="-120"/>
              </a:rPr>
              <a:t>pipeline</a:t>
            </a:r>
            <a:r>
              <a:rPr lang="en-US" sz="1200">
                <a:solidFill>
                  <a:srgbClr val="5A6875"/>
                </a:solidFill>
                <a:ea typeface="Calibri" pitchFamily="34" charset="-122"/>
                <a:cs typeface="Calibri" pitchFamily="34" charset="-120"/>
              </a:rPr>
              <a:t> code — with a human gate at each hand-off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1325880" y="310896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>
                <a:solidFill>
                  <a:srgbClr val="0067B1"/>
                </a:solidFill>
                <a:ea typeface="Calibri" pitchFamily="34" charset="-122"/>
                <a:cs typeface="Calibri" pitchFamily="34" charset="-120"/>
              </a:rPr>
              <a:t>02</a:t>
            </a:r>
            <a:endParaRPr lang="en-US" sz="3800"/>
          </a:p>
        </p:txBody>
      </p:sp>
      <p:sp>
        <p:nvSpPr>
          <p:cNvPr id="8" name="Text 6"/>
          <p:cNvSpPr/>
          <p:nvPr/>
        </p:nvSpPr>
        <p:spPr>
          <a:xfrm>
            <a:off x="2286000" y="3127248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0067B1"/>
                </a:solidFill>
                <a:ea typeface="Calibri" pitchFamily="34" charset="-122"/>
                <a:cs typeface="Calibri" pitchFamily="34" charset="-120"/>
              </a:rPr>
              <a:t>STTM Agent Overview and Demo</a:t>
            </a: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0" y="3566160"/>
            <a:ext cx="78093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5A6875"/>
                </a:solidFill>
                <a:ea typeface="Calibri" pitchFamily="34" charset="-122"/>
                <a:cs typeface="Calibri" pitchFamily="34" charset="-120"/>
              </a:rPr>
              <a:t>The source-to-target mapping workbook, filled in from the approved FRD and returned to SharePoint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1325880" y="4178808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>
                <a:solidFill>
                  <a:srgbClr val="0067B1"/>
                </a:solidFill>
                <a:ea typeface="Calibri" pitchFamily="34" charset="-122"/>
                <a:cs typeface="Calibri" pitchFamily="34" charset="-120"/>
              </a:rPr>
              <a:t>03</a:t>
            </a:r>
            <a:endParaRPr lang="en-US" sz="3800"/>
          </a:p>
        </p:txBody>
      </p:sp>
      <p:sp>
        <p:nvSpPr>
          <p:cNvPr id="14" name="Text 12"/>
          <p:cNvSpPr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0239994B-E59D-E805-A9B8-1D596E8A6F7A}"/>
              </a:ext>
            </a:extLst>
          </p:cNvPr>
          <p:cNvSpPr/>
          <p:nvPr/>
        </p:nvSpPr>
        <p:spPr>
          <a:xfrm>
            <a:off x="2286000" y="4318416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err="1">
                <a:solidFill>
                  <a:srgbClr val="0067B1"/>
                </a:solidFill>
                <a:ea typeface="Calibri" pitchFamily="34" charset="-122"/>
                <a:cs typeface="Calibri" pitchFamily="34" charset="-120"/>
              </a:rPr>
              <a:t>CodeGen</a:t>
            </a:r>
            <a:r>
              <a:rPr lang="en-US" b="1">
                <a:solidFill>
                  <a:srgbClr val="0067B1"/>
                </a:solidFill>
                <a:ea typeface="Calibri" pitchFamily="34" charset="-122"/>
                <a:cs typeface="Calibri" pitchFamily="34" charset="-120"/>
              </a:rPr>
              <a:t> /Data Engineer Agent Overview and Demo</a:t>
            </a:r>
            <a:endParaRPr lang="en-US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92B3162F-C173-DBA8-274A-92984417B20B}"/>
              </a:ext>
            </a:extLst>
          </p:cNvPr>
          <p:cNvSpPr/>
          <p:nvPr/>
        </p:nvSpPr>
        <p:spPr>
          <a:xfrm>
            <a:off x="1325880" y="5138928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>
                <a:solidFill>
                  <a:srgbClr val="0067B1"/>
                </a:solidFill>
                <a:ea typeface="Calibri" pitchFamily="34" charset="-122"/>
                <a:cs typeface="Calibri" pitchFamily="34" charset="-120"/>
              </a:rPr>
              <a:t>04</a:t>
            </a:r>
            <a:endParaRPr lang="en-US" sz="380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E2A7F70F-A49C-E9A6-1FF0-0DD612B05A9D}"/>
              </a:ext>
            </a:extLst>
          </p:cNvPr>
          <p:cNvSpPr/>
          <p:nvPr/>
        </p:nvSpPr>
        <p:spPr>
          <a:xfrm>
            <a:off x="2286000" y="5278536"/>
            <a:ext cx="767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0067B1"/>
                </a:solidFill>
                <a:ea typeface="Calibri" pitchFamily="34" charset="-122"/>
                <a:cs typeface="Calibri" pitchFamily="34" charset="-120"/>
              </a:rPr>
              <a:t>Next Steps and Prioritize Agent Training and Deployment 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1EE325-D41D-18AE-B5B7-24A977619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D3DC0E4-ACEE-8A13-F6C1-950894DED4F3}"/>
              </a:ext>
            </a:extLst>
          </p:cNvPr>
          <p:cNvSpPr/>
          <p:nvPr/>
        </p:nvSpPr>
        <p:spPr>
          <a:xfrm>
            <a:off x="329184" y="182880"/>
            <a:ext cx="76325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>
                <a:solidFill>
                  <a:schemeClr val="bg1"/>
                </a:solidFill>
              </a:rPr>
              <a:t>TEAM INTRODUCTIONS</a:t>
            </a:r>
            <a:endParaRPr lang="en-US" sz="2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4D07018-3BBA-1CEF-2147-0F1DC2B8AD56}"/>
              </a:ext>
            </a:extLst>
          </p:cNvPr>
          <p:cNvSpPr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>
                <a:solidFill>
                  <a:srgbClr val="9AA5AE"/>
                </a:solidFill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346ACE32-DB34-568F-483A-522DADBABF35}"/>
              </a:ext>
            </a:extLst>
          </p:cNvPr>
          <p:cNvSpPr txBox="1">
            <a:spLocks/>
          </p:cNvSpPr>
          <p:nvPr/>
        </p:nvSpPr>
        <p:spPr>
          <a:xfrm>
            <a:off x="329184" y="1186759"/>
            <a:ext cx="4945912" cy="659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000" b="1" i="0" kern="1200">
                <a:solidFill>
                  <a:schemeClr val="bg1"/>
                </a:solidFill>
                <a:latin typeface="+mj-lt"/>
                <a:ea typeface="+mj-ea"/>
                <a:cs typeface="Helvetica"/>
              </a:defRPr>
            </a:lvl1pPr>
          </a:lstStyle>
          <a:p>
            <a:r>
              <a:rPr lang="en-US">
                <a:solidFill>
                  <a:srgbClr val="03389F"/>
                </a:solidFill>
              </a:rPr>
              <a:t>Dedicated POD for this program</a:t>
            </a: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AAF59620-EE2C-25C3-CBBD-F787D7772D87}"/>
              </a:ext>
            </a:extLst>
          </p:cNvPr>
          <p:cNvSpPr/>
          <p:nvPr/>
        </p:nvSpPr>
        <p:spPr>
          <a:xfrm>
            <a:off x="444500" y="3262064"/>
            <a:ext cx="10360745" cy="2440236"/>
          </a:xfrm>
          <a:prstGeom prst="roundRect">
            <a:avLst>
              <a:gd name="adj" fmla="val 3879"/>
            </a:avLst>
          </a:prstGeom>
          <a:solidFill>
            <a:schemeClr val="bg1">
              <a:alpha val="90000"/>
            </a:schemeClr>
          </a:solidFill>
          <a:ln w="12700">
            <a:solidFill>
              <a:srgbClr val="03389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B38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3A41D3A4-E8C9-FEE6-CA6A-E942717E8BB9}"/>
              </a:ext>
            </a:extLst>
          </p:cNvPr>
          <p:cNvSpPr/>
          <p:nvPr/>
        </p:nvSpPr>
        <p:spPr>
          <a:xfrm>
            <a:off x="841544" y="3626397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>
                <a:ln>
                  <a:noFill/>
                </a:ln>
                <a:solidFill>
                  <a:srgbClr val="03389F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HEXAWARE DELIVERY POD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3389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6AD4AE33-25E5-63FA-AE28-B7E5DA6F726E}"/>
              </a:ext>
            </a:extLst>
          </p:cNvPr>
          <p:cNvSpPr/>
          <p:nvPr/>
        </p:nvSpPr>
        <p:spPr>
          <a:xfrm>
            <a:off x="935683" y="4225603"/>
            <a:ext cx="303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3389F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Venu Anumolu/Ram </a:t>
            </a:r>
            <a:r>
              <a:rPr kumimoji="0" lang="en-US" sz="1400" b="1" i="0" u="none" strike="noStrike" kern="1200" cap="none" spc="0" normalizeH="0" baseline="0" noProof="0" err="1">
                <a:ln>
                  <a:noFill/>
                </a:ln>
                <a:solidFill>
                  <a:srgbClr val="03389F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Kuchana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3389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7355DAC5-A102-E906-FB09-C9FB8A3A93F3}"/>
              </a:ext>
            </a:extLst>
          </p:cNvPr>
          <p:cNvSpPr/>
          <p:nvPr/>
        </p:nvSpPr>
        <p:spPr>
          <a:xfrm>
            <a:off x="935683" y="4528713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Engagement Lead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38D118C8-BEC7-6B5E-01E3-BA113A8CC001}"/>
              </a:ext>
            </a:extLst>
          </p:cNvPr>
          <p:cNvSpPr/>
          <p:nvPr/>
        </p:nvSpPr>
        <p:spPr>
          <a:xfrm>
            <a:off x="934217" y="4982782"/>
            <a:ext cx="3026664" cy="495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Scope, plan, client alignment, solution architecture guidance and escalations.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B38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FFB2AF0C-4369-870D-C5E6-0BEC58E50A1F}"/>
              </a:ext>
            </a:extLst>
          </p:cNvPr>
          <p:cNvSpPr/>
          <p:nvPr/>
        </p:nvSpPr>
        <p:spPr>
          <a:xfrm>
            <a:off x="4412079" y="4225603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AI Engineer 1 (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3389F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Arjun Pillai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)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F0FF4D97-7D03-69C0-1666-E1C844062B15}"/>
              </a:ext>
            </a:extLst>
          </p:cNvPr>
          <p:cNvSpPr/>
          <p:nvPr/>
        </p:nvSpPr>
        <p:spPr>
          <a:xfrm>
            <a:off x="4412079" y="4543455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Dedicated — 100%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B972B91D-1AEB-A657-C6AD-DE3AE5A1B4D7}"/>
              </a:ext>
            </a:extLst>
          </p:cNvPr>
          <p:cNvSpPr/>
          <p:nvPr/>
        </p:nvSpPr>
        <p:spPr>
          <a:xfrm>
            <a:off x="4439994" y="4809034"/>
            <a:ext cx="3026664" cy="49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FRD - STTM Agent ·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B38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7047063A-6929-530F-549E-97CDF6534860}"/>
              </a:ext>
            </a:extLst>
          </p:cNvPr>
          <p:cNvSpPr/>
          <p:nvPr/>
        </p:nvSpPr>
        <p:spPr>
          <a:xfrm>
            <a:off x="7936387" y="4225603"/>
            <a:ext cx="32894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AI Engineer 2  (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3389F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Soham Banerjee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)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09724162-318D-6E2E-88DA-EE9FF868AC30}"/>
              </a:ext>
            </a:extLst>
          </p:cNvPr>
          <p:cNvSpPr/>
          <p:nvPr/>
        </p:nvSpPr>
        <p:spPr>
          <a:xfrm>
            <a:off x="7936387" y="4539569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Dedicated — 100%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562D51E0-B424-CCFB-5B36-D580DFA4E193}"/>
              </a:ext>
            </a:extLst>
          </p:cNvPr>
          <p:cNvSpPr/>
          <p:nvPr/>
        </p:nvSpPr>
        <p:spPr>
          <a:xfrm>
            <a:off x="7961745" y="4841778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CodeGen / Data Engineer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B38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B86B8A4-5408-EDBB-A288-13AF559931CC}"/>
              </a:ext>
            </a:extLst>
          </p:cNvPr>
          <p:cNvGrpSpPr/>
          <p:nvPr/>
        </p:nvGrpSpPr>
        <p:grpSpPr>
          <a:xfrm>
            <a:off x="544396" y="2010589"/>
            <a:ext cx="10748445" cy="953961"/>
            <a:chOff x="411525" y="2208836"/>
            <a:chExt cx="9956874" cy="953961"/>
          </a:xfrm>
        </p:grpSpPr>
        <p:sp>
          <p:nvSpPr>
            <p:cNvPr id="27" name="Text 21">
              <a:extLst>
                <a:ext uri="{FF2B5EF4-FFF2-40B4-BE49-F238E27FC236}">
                  <a16:creationId xmlns:a16="http://schemas.microsoft.com/office/drawing/2014/main" id="{01F78C1C-272E-18C2-94AA-89C488E4B077}"/>
                </a:ext>
              </a:extLst>
            </p:cNvPr>
            <p:cNvSpPr/>
            <p:nvPr/>
          </p:nvSpPr>
          <p:spPr>
            <a:xfrm>
              <a:off x="411525" y="2521505"/>
              <a:ext cx="5486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20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ea typeface="Manrope" pitchFamily="34" charset="-122"/>
                  <a:cs typeface="Manrope" pitchFamily="34" charset="-120"/>
                </a:rPr>
                <a:t>PARTNER/</a:t>
              </a:r>
              <a:br>
                <a:rPr kumimoji="0" lang="en-US" sz="1400" b="1" i="0" u="none" strike="noStrike" kern="0" cap="none" spc="20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ea typeface="Manrope" pitchFamily="34" charset="-122"/>
                  <a:cs typeface="Manrope" pitchFamily="34" charset="-120"/>
                </a:rPr>
              </a:br>
              <a:r>
                <a:rPr kumimoji="0" lang="en-US" sz="1400" b="1" i="0" u="none" strike="noStrike" kern="0" cap="none" spc="20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ea typeface="Manrope" pitchFamily="34" charset="-122"/>
                  <a:cs typeface="Manrope" pitchFamily="34" charset="-120"/>
                </a:rPr>
                <a:t>CLIENT COUNTERPARTS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8" name="Text 24">
              <a:extLst>
                <a:ext uri="{FF2B5EF4-FFF2-40B4-BE49-F238E27FC236}">
                  <a16:creationId xmlns:a16="http://schemas.microsoft.com/office/drawing/2014/main" id="{E4EB2BA5-BF84-C8CD-5565-ADB2194CC23B}"/>
                </a:ext>
              </a:extLst>
            </p:cNvPr>
            <p:cNvSpPr/>
            <p:nvPr/>
          </p:nvSpPr>
          <p:spPr>
            <a:xfrm>
              <a:off x="3720251" y="2217709"/>
              <a:ext cx="247802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3389F"/>
                  </a:solidFill>
                  <a:effectLst/>
                  <a:uLnTx/>
                  <a:uFillTx/>
                  <a:ea typeface="Manrope" pitchFamily="34" charset="-122"/>
                  <a:cs typeface="+mn-cs"/>
                </a:rPr>
                <a:t>Raj Gokaraju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3389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9" name="Text 25">
              <a:extLst>
                <a:ext uri="{FF2B5EF4-FFF2-40B4-BE49-F238E27FC236}">
                  <a16:creationId xmlns:a16="http://schemas.microsoft.com/office/drawing/2014/main" id="{65D359C6-85F5-B608-3B33-A589AD9EADBB}"/>
                </a:ext>
              </a:extLst>
            </p:cNvPr>
            <p:cNvSpPr/>
            <p:nvPr/>
          </p:nvSpPr>
          <p:spPr>
            <a:xfrm>
              <a:off x="3720251" y="2482885"/>
              <a:ext cx="247802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E93A3"/>
                  </a:solidFill>
                  <a:effectLst/>
                  <a:uLnTx/>
                  <a:uFillTx/>
                  <a:ea typeface="Manrope" pitchFamily="34" charset="-122"/>
                  <a:cs typeface="+mn-cs"/>
                </a:rPr>
                <a:t>Sponsor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D2B38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0" name="Text 26">
              <a:extLst>
                <a:ext uri="{FF2B5EF4-FFF2-40B4-BE49-F238E27FC236}">
                  <a16:creationId xmlns:a16="http://schemas.microsoft.com/office/drawing/2014/main" id="{B8F472A8-0454-08BE-6EB7-1ABF723BBFAA}"/>
                </a:ext>
              </a:extLst>
            </p:cNvPr>
            <p:cNvSpPr/>
            <p:nvPr/>
          </p:nvSpPr>
          <p:spPr>
            <a:xfrm>
              <a:off x="3720251" y="2793781"/>
              <a:ext cx="3026664" cy="369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E3350"/>
                  </a:solidFill>
                  <a:effectLst/>
                  <a:uLnTx/>
                  <a:uFillTx/>
                  <a:ea typeface="Manrope" pitchFamily="34" charset="-122"/>
                  <a:cs typeface="Manrope" pitchFamily="34" charset="-120"/>
                </a:rPr>
                <a:t>Reviews sample BRDs / FRDs / STTMs;</a:t>
              </a:r>
              <a:b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E3350"/>
                  </a:solidFill>
                  <a:effectLst/>
                  <a:uLnTx/>
                  <a:uFillTx/>
                  <a:ea typeface="Manrope" pitchFamily="34" charset="-122"/>
                  <a:cs typeface="Manrope" pitchFamily="34" charset="-120"/>
                </a:rPr>
              </a:b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E3350"/>
                  </a:solidFill>
                  <a:effectLst/>
                  <a:uLnTx/>
                  <a:uFillTx/>
                  <a:ea typeface="Manrope" pitchFamily="34" charset="-122"/>
                  <a:cs typeface="Manrope" pitchFamily="34" charset="-120"/>
                </a:rPr>
                <a:t>leads output acceptance and UAT sign-off.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D2B38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1" name="Text 34">
              <a:extLst>
                <a:ext uri="{FF2B5EF4-FFF2-40B4-BE49-F238E27FC236}">
                  <a16:creationId xmlns:a16="http://schemas.microsoft.com/office/drawing/2014/main" id="{3AD69A26-3619-F31F-8746-1A2883D0F278}"/>
                </a:ext>
              </a:extLst>
            </p:cNvPr>
            <p:cNvSpPr/>
            <p:nvPr/>
          </p:nvSpPr>
          <p:spPr>
            <a:xfrm>
              <a:off x="7880085" y="2208836"/>
              <a:ext cx="247802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D2B38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2" name="Text 35">
              <a:extLst>
                <a:ext uri="{FF2B5EF4-FFF2-40B4-BE49-F238E27FC236}">
                  <a16:creationId xmlns:a16="http://schemas.microsoft.com/office/drawing/2014/main" id="{977990B4-D38F-4AC1-BBF5-FDEBF3A024A4}"/>
                </a:ext>
              </a:extLst>
            </p:cNvPr>
            <p:cNvSpPr/>
            <p:nvPr/>
          </p:nvSpPr>
          <p:spPr>
            <a:xfrm>
              <a:off x="7863199" y="2457497"/>
              <a:ext cx="247802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E93A3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3" name="Text 36">
              <a:extLst>
                <a:ext uri="{FF2B5EF4-FFF2-40B4-BE49-F238E27FC236}">
                  <a16:creationId xmlns:a16="http://schemas.microsoft.com/office/drawing/2014/main" id="{07326662-7AAE-B089-73AB-8DC1B01DD11F}"/>
                </a:ext>
              </a:extLst>
            </p:cNvPr>
            <p:cNvSpPr/>
            <p:nvPr/>
          </p:nvSpPr>
          <p:spPr>
            <a:xfrm>
              <a:off x="7890374" y="2760274"/>
              <a:ext cx="2478025" cy="3401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D2B38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4" name="Text 24">
              <a:extLst>
                <a:ext uri="{FF2B5EF4-FFF2-40B4-BE49-F238E27FC236}">
                  <a16:creationId xmlns:a16="http://schemas.microsoft.com/office/drawing/2014/main" id="{B29E7AA0-F56C-E61C-9C7D-00E19EE504AC}"/>
                </a:ext>
              </a:extLst>
            </p:cNvPr>
            <p:cNvSpPr/>
            <p:nvPr/>
          </p:nvSpPr>
          <p:spPr>
            <a:xfrm>
              <a:off x="6890049" y="2217709"/>
              <a:ext cx="247802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3389F"/>
                  </a:solidFill>
                  <a:effectLst/>
                  <a:uLnTx/>
                  <a:uFillTx/>
                  <a:ea typeface="Manrope" pitchFamily="34" charset="-122"/>
                  <a:cs typeface="+mn-cs"/>
                </a:rPr>
                <a:t>Oliver Doren</a:t>
              </a:r>
            </a:p>
          </p:txBody>
        </p:sp>
        <p:sp>
          <p:nvSpPr>
            <p:cNvPr id="35" name="Text 25">
              <a:extLst>
                <a:ext uri="{FF2B5EF4-FFF2-40B4-BE49-F238E27FC236}">
                  <a16:creationId xmlns:a16="http://schemas.microsoft.com/office/drawing/2014/main" id="{9E313D96-6B76-6822-8183-1DE0284E2702}"/>
                </a:ext>
              </a:extLst>
            </p:cNvPr>
            <p:cNvSpPr/>
            <p:nvPr/>
          </p:nvSpPr>
          <p:spPr>
            <a:xfrm>
              <a:off x="6890049" y="2482885"/>
              <a:ext cx="247802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E93A3"/>
                  </a:solidFill>
                  <a:effectLst/>
                  <a:uLnTx/>
                  <a:uFillTx/>
                  <a:ea typeface="Manrope" pitchFamily="34" charset="-122"/>
                  <a:cs typeface="+mn-cs"/>
                </a:rPr>
                <a:t>Databricks Solution Architect</a:t>
              </a:r>
            </a:p>
          </p:txBody>
        </p:sp>
        <p:sp>
          <p:nvSpPr>
            <p:cNvPr id="36" name="Text 26">
              <a:extLst>
                <a:ext uri="{FF2B5EF4-FFF2-40B4-BE49-F238E27FC236}">
                  <a16:creationId xmlns:a16="http://schemas.microsoft.com/office/drawing/2014/main" id="{144E6CAE-F85A-927E-2F7F-ECA1B3F18E38}"/>
                </a:ext>
              </a:extLst>
            </p:cNvPr>
            <p:cNvSpPr/>
            <p:nvPr/>
          </p:nvSpPr>
          <p:spPr>
            <a:xfrm>
              <a:off x="6890049" y="2793781"/>
              <a:ext cx="3026664" cy="369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E3350"/>
                  </a:solidFill>
                  <a:effectLst/>
                  <a:uLnTx/>
                  <a:uFillTx/>
                  <a:ea typeface="Manrope" pitchFamily="34" charset="-122"/>
                  <a:cs typeface="Manrope" pitchFamily="34" charset="-120"/>
                </a:rPr>
                <a:t>Shares sample BRDs, FRDs and STTMs — the seed corpus for agent grounding.</a:t>
              </a:r>
            </a:p>
          </p:txBody>
        </p:sp>
      </p:grpSp>
      <p:sp>
        <p:nvSpPr>
          <p:cNvPr id="37" name="Text 37">
            <a:extLst>
              <a:ext uri="{FF2B5EF4-FFF2-40B4-BE49-F238E27FC236}">
                <a16:creationId xmlns:a16="http://schemas.microsoft.com/office/drawing/2014/main" id="{C15ABA08-10DF-23FE-4FF2-642AAEC19B82}"/>
              </a:ext>
            </a:extLst>
          </p:cNvPr>
          <p:cNvSpPr/>
          <p:nvPr/>
        </p:nvSpPr>
        <p:spPr>
          <a:xfrm>
            <a:off x="664469" y="598856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7125E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Cadence:  </a:t>
            </a:r>
            <a:r>
              <a:rPr lang="en-US" sz="1400">
                <a:solidFill>
                  <a:srgbClr val="2E3350"/>
                </a:solidFill>
                <a:ea typeface="Manrope" pitchFamily="34" charset="-122"/>
                <a:cs typeface="Manrope" pitchFamily="34" charset="-120"/>
              </a:rPr>
              <a:t>D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aily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 pod stand-up · weekly client status · bi-weekly demos &amp; SME checkpoints · monthly steering.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B38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0577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A5944F-C513-D26C-344F-732C8A5A0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7">
            <a:extLst>
              <a:ext uri="{FF2B5EF4-FFF2-40B4-BE49-F238E27FC236}">
                <a16:creationId xmlns:a16="http://schemas.microsoft.com/office/drawing/2014/main" id="{23B04B38-6FF8-3490-268B-D374785575F2}"/>
              </a:ext>
            </a:extLst>
          </p:cNvPr>
          <p:cNvSpPr txBox="1">
            <a:spLocks/>
          </p:cNvSpPr>
          <p:nvPr/>
        </p:nvSpPr>
        <p:spPr>
          <a:xfrm>
            <a:off x="-81122" y="136525"/>
            <a:ext cx="11131607" cy="65922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>
                <a:solidFill>
                  <a:schemeClr val="bg1"/>
                </a:solidFill>
              </a:rPr>
              <a:t>Four agents, two waves — all live by Jan 31, 2026</a:t>
            </a:r>
            <a:endParaRPr lang="en-IN" sz="2000" b="1">
              <a:solidFill>
                <a:schemeClr val="bg1"/>
              </a:solidFill>
            </a:endParaRP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F908A0D-E727-73CB-BBEE-50277182FBC9}"/>
              </a:ext>
            </a:extLst>
          </p:cNvPr>
          <p:cNvSpPr txBox="1">
            <a:spLocks/>
          </p:cNvSpPr>
          <p:nvPr/>
        </p:nvSpPr>
        <p:spPr>
          <a:xfrm>
            <a:off x="161234" y="81713"/>
            <a:ext cx="4945912" cy="292765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>
                <a:solidFill>
                  <a:schemeClr val="bg1"/>
                </a:solidFill>
              </a:rPr>
              <a:t>Agents Scope</a:t>
            </a:r>
          </a:p>
          <a:p>
            <a:endParaRPr lang="en-IN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F38B84-64BB-F3D3-DB1C-6CBB34BB2F7D}"/>
              </a:ext>
            </a:extLst>
          </p:cNvPr>
          <p:cNvSpPr txBox="1">
            <a:spLocks/>
          </p:cNvSpPr>
          <p:nvPr/>
        </p:nvSpPr>
        <p:spPr>
          <a:xfrm>
            <a:off x="8695660" y="6356350"/>
            <a:ext cx="2743200" cy="365125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0A81C14-33F8-BE40-BDED-F272C5E24441}" type="slidenum">
              <a:rPr lang="en-US" sz="800" smtClean="0">
                <a:solidFill>
                  <a:srgbClr val="19237E">
                    <a:lumMod val="20000"/>
                    <a:lumOff val="80000"/>
                  </a:srgbClr>
                </a:solidFill>
                <a:latin typeface="Aptos" panose="02110004020202020204"/>
              </a:rPr>
              <a:pPr algn="r"/>
              <a:t>4</a:t>
            </a:fld>
            <a:endParaRPr lang="en-US" sz="800">
              <a:solidFill>
                <a:srgbClr val="19237E">
                  <a:lumMod val="20000"/>
                  <a:lumOff val="80000"/>
                </a:srgbClr>
              </a:solidFill>
              <a:latin typeface="Aptos" panose="02110004020202020204"/>
            </a:endParaRP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9E72217-7580-649F-979E-C0BB4F0D0535}"/>
              </a:ext>
            </a:extLst>
          </p:cNvPr>
          <p:cNvSpPr txBox="1">
            <a:spLocks/>
          </p:cNvSpPr>
          <p:nvPr/>
        </p:nvSpPr>
        <p:spPr>
          <a:xfrm>
            <a:off x="659219" y="6356350"/>
            <a:ext cx="7315200" cy="365125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spc="300">
                <a:solidFill>
                  <a:srgbClr val="19237E">
                    <a:lumMod val="20000"/>
                    <a:lumOff val="80000"/>
                  </a:srgbClr>
                </a:solidFill>
                <a:latin typeface="Aptos" panose="02110004020202020204"/>
              </a:rPr>
              <a:t>AMERIHEALTH CARITAS  |  PROPRIETARY AND CONFIDENTIAL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5373EC3-5D88-398E-21AB-50A1561A0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883" y="1168400"/>
            <a:ext cx="11004234" cy="437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722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182880"/>
            <a:ext cx="9107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AT A GLANCE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329184" y="896112"/>
            <a:ext cx="1152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agents, one relay — from an approved FRD through to generated pipeline code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384048" y="1664208"/>
            <a:ext cx="1920240" cy="804672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75564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FRD</a:t>
            </a:r>
            <a:endParaRPr lang="en-US" sz="1250"/>
          </a:p>
        </p:txBody>
      </p:sp>
      <p:sp>
        <p:nvSpPr>
          <p:cNvPr id="6" name="Text 4"/>
          <p:cNvSpPr/>
          <p:nvPr/>
        </p:nvSpPr>
        <p:spPr>
          <a:xfrm>
            <a:off x="457200" y="2048256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approved,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SharePoint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414016" y="1417320"/>
            <a:ext cx="2615184" cy="1298448"/>
          </a:xfrm>
          <a:prstGeom prst="roundRect">
            <a:avLst>
              <a:gd name="adj" fmla="val 4930"/>
            </a:avLst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487168" y="15270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>
                <a:solidFill>
                  <a:srgbClr val="9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2487168" y="178308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FRD → STTM</a:t>
            </a:r>
            <a:endParaRPr lang="en-US" sz="1500"/>
          </a:p>
        </p:txBody>
      </p:sp>
      <p:sp>
        <p:nvSpPr>
          <p:cNvPr id="10" name="Shape 8"/>
          <p:cNvSpPr/>
          <p:nvPr/>
        </p:nvSpPr>
        <p:spPr>
          <a:xfrm>
            <a:off x="3191256" y="2368296"/>
            <a:ext cx="1060704" cy="237744"/>
          </a:xfrm>
          <a:prstGeom prst="roundRect">
            <a:avLst>
              <a:gd name="adj" fmla="val 19231"/>
            </a:avLst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191256" y="2368296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800"/>
          </a:p>
        </p:txBody>
      </p:sp>
      <p:sp>
        <p:nvSpPr>
          <p:cNvPr id="12" name="Shape 10"/>
          <p:cNvSpPr/>
          <p:nvPr/>
        </p:nvSpPr>
        <p:spPr>
          <a:xfrm>
            <a:off x="5138928" y="1664208"/>
            <a:ext cx="1920240" cy="804672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212080" y="175564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STTM</a:t>
            </a:r>
            <a:endParaRPr lang="en-US" sz="1250"/>
          </a:p>
        </p:txBody>
      </p:sp>
      <p:sp>
        <p:nvSpPr>
          <p:cNvPr id="14" name="Text 12"/>
          <p:cNvSpPr/>
          <p:nvPr/>
        </p:nvSpPr>
        <p:spPr>
          <a:xfrm>
            <a:off x="5212080" y="2048256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workbook,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SharePoint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7168896" y="1417320"/>
            <a:ext cx="2615184" cy="1298448"/>
          </a:xfrm>
          <a:prstGeom prst="roundRect">
            <a:avLst>
              <a:gd name="adj" fmla="val 4930"/>
            </a:avLst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242048" y="15270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>
                <a:solidFill>
                  <a:srgbClr val="9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7242048" y="178308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</a:t>
            </a:r>
            <a:endParaRPr lang="en-US" sz="1500"/>
          </a:p>
        </p:txBody>
      </p:sp>
      <p:sp>
        <p:nvSpPr>
          <p:cNvPr id="18" name="Shape 16"/>
          <p:cNvSpPr/>
          <p:nvPr/>
        </p:nvSpPr>
        <p:spPr>
          <a:xfrm>
            <a:off x="7946136" y="2368296"/>
            <a:ext cx="1060704" cy="237744"/>
          </a:xfrm>
          <a:prstGeom prst="roundRect">
            <a:avLst>
              <a:gd name="adj" fmla="val 19231"/>
            </a:avLst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946136" y="2368296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800"/>
          </a:p>
        </p:txBody>
      </p:sp>
      <p:sp>
        <p:nvSpPr>
          <p:cNvPr id="20" name="Shape 18"/>
          <p:cNvSpPr/>
          <p:nvPr/>
        </p:nvSpPr>
        <p:spPr>
          <a:xfrm>
            <a:off x="9893808" y="1664208"/>
            <a:ext cx="1920240" cy="804672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966960" y="175564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code</a:t>
            </a:r>
            <a:endParaRPr lang="en-US" sz="1250"/>
          </a:p>
        </p:txBody>
      </p:sp>
      <p:sp>
        <p:nvSpPr>
          <p:cNvPr id="22" name="Text 20"/>
          <p:cNvSpPr/>
          <p:nvPr/>
        </p:nvSpPr>
        <p:spPr>
          <a:xfrm>
            <a:off x="9966960" y="2048256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transforms, DDL,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job config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384048" y="2798064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FRD is authored and approved by your team. Agent 1's workbook is Agent 2's input — and nothing moves downstream until a named person approves it.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384048" y="303580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FRDs and STTM workbooks are read from, and written back to, the AmeriHealth SharePoint document library through the Microsoft Graph API.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384048" y="3401568"/>
            <a:ext cx="368808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48640" y="35478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0" descr="/home/claude/work/assets/image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" y="3628339"/>
            <a:ext cx="204826" cy="204826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005840" y="3547872"/>
            <a:ext cx="290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only ever drafts</a:t>
            </a:r>
            <a:endParaRPr lang="en-US" sz="1150"/>
          </a:p>
        </p:txBody>
      </p:sp>
      <p:sp>
        <p:nvSpPr>
          <p:cNvPr id="29" name="Text 26"/>
          <p:cNvSpPr/>
          <p:nvPr/>
        </p:nvSpPr>
        <p:spPr>
          <a:xfrm>
            <a:off x="548640" y="3986784"/>
            <a:ext cx="3358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grounding, gating and rendering are all ordinary code. The model is never the arbiter of whether its own output is right.</a:t>
            </a:r>
            <a:endParaRPr lang="en-US" sz="900"/>
          </a:p>
        </p:txBody>
      </p:sp>
      <p:sp>
        <p:nvSpPr>
          <p:cNvPr id="30" name="Shape 27"/>
          <p:cNvSpPr/>
          <p:nvPr/>
        </p:nvSpPr>
        <p:spPr>
          <a:xfrm>
            <a:off x="4255008" y="3401568"/>
            <a:ext cx="368808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4419600" y="35478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1" descr="/home/claude/work/assets/image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0067" y="3628339"/>
            <a:ext cx="204826" cy="204826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4876800" y="3547872"/>
            <a:ext cx="290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cites its source</a:t>
            </a:r>
            <a:endParaRPr lang="en-US" sz="1150"/>
          </a:p>
        </p:txBody>
      </p:sp>
      <p:sp>
        <p:nvSpPr>
          <p:cNvPr id="34" name="Text 30"/>
          <p:cNvSpPr/>
          <p:nvPr/>
        </p:nvSpPr>
        <p:spPr>
          <a:xfrm>
            <a:off x="4419600" y="3986784"/>
            <a:ext cx="3358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that cannot be found word-for-word in the source document fails the run — it is never quietly invented or approximated.</a:t>
            </a:r>
            <a:endParaRPr lang="en-US" sz="900"/>
          </a:p>
        </p:txBody>
      </p:sp>
      <p:sp>
        <p:nvSpPr>
          <p:cNvPr id="35" name="Shape 31"/>
          <p:cNvSpPr/>
          <p:nvPr/>
        </p:nvSpPr>
        <p:spPr>
          <a:xfrm>
            <a:off x="8125968" y="3401568"/>
            <a:ext cx="368808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2"/>
          <p:cNvSpPr/>
          <p:nvPr/>
        </p:nvSpPr>
        <p:spPr>
          <a:xfrm>
            <a:off x="8290560" y="35478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7" name="Image 2" descr="/home/claude/work/assets/image3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1027" y="3628339"/>
            <a:ext cx="204826" cy="204826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8747760" y="3547872"/>
            <a:ext cx="290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person signs off</a:t>
            </a:r>
            <a:endParaRPr lang="en-US" sz="1150"/>
          </a:p>
        </p:txBody>
      </p:sp>
      <p:sp>
        <p:nvSpPr>
          <p:cNvPr id="39" name="Text 34"/>
          <p:cNvSpPr/>
          <p:nvPr/>
        </p:nvSpPr>
        <p:spPr>
          <a:xfrm>
            <a:off x="8290560" y="3986784"/>
            <a:ext cx="3358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stops at a review gate before its output moves on. Decisions are recorded and survive re-runs of the same document.</a:t>
            </a:r>
            <a:endParaRPr lang="en-US" sz="900"/>
          </a:p>
        </p:txBody>
      </p:sp>
      <p:sp>
        <p:nvSpPr>
          <p:cNvPr id="40" name="Shape 35"/>
          <p:cNvSpPr/>
          <p:nvPr/>
        </p:nvSpPr>
        <p:spPr>
          <a:xfrm>
            <a:off x="384048" y="4773168"/>
            <a:ext cx="11430000" cy="1005840"/>
          </a:xfrm>
          <a:prstGeom prst="roundRect">
            <a:avLst>
              <a:gd name="adj" fmla="val 6364"/>
            </a:avLst>
          </a:prstGeom>
          <a:solidFill>
            <a:srgbClr val="EAF3FA"/>
          </a:solidFill>
          <a:ln w="12700">
            <a:solidFill>
              <a:srgbClr val="CB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6"/>
          <p:cNvSpPr/>
          <p:nvPr/>
        </p:nvSpPr>
        <p:spPr>
          <a:xfrm>
            <a:off x="566928" y="48646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both agents run</a:t>
            </a:r>
            <a:endParaRPr lang="en-US" sz="1050"/>
          </a:p>
        </p:txBody>
      </p:sp>
      <p:sp>
        <p:nvSpPr>
          <p:cNvPr id="42" name="Text 37"/>
          <p:cNvSpPr/>
          <p:nvPr/>
        </p:nvSpPr>
        <p:spPr>
          <a:xfrm>
            <a:off x="566928" y="5138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Lakeflow Declarative Pipelines</a:t>
            </a:r>
            <a:endParaRPr lang="en-US" sz="950"/>
          </a:p>
        </p:txBody>
      </p:sp>
      <p:sp>
        <p:nvSpPr>
          <p:cNvPr id="43" name="Text 38"/>
          <p:cNvSpPr/>
          <p:nvPr/>
        </p:nvSpPr>
        <p:spPr>
          <a:xfrm>
            <a:off x="566928" y="5358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 per agent; each stage re-runnable</a:t>
            </a:r>
            <a:endParaRPr lang="en-US" sz="800"/>
          </a:p>
        </p:txBody>
      </p:sp>
      <p:sp>
        <p:nvSpPr>
          <p:cNvPr id="44" name="Text 39"/>
          <p:cNvSpPr/>
          <p:nvPr/>
        </p:nvSpPr>
        <p:spPr>
          <a:xfrm>
            <a:off x="3401568" y="5138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950"/>
          </a:p>
        </p:txBody>
      </p:sp>
      <p:sp>
        <p:nvSpPr>
          <p:cNvPr id="45" name="Text 40"/>
          <p:cNvSpPr/>
          <p:nvPr/>
        </p:nvSpPr>
        <p:spPr>
          <a:xfrm>
            <a:off x="3401568" y="5358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tables and Volumes own every artifact</a:t>
            </a:r>
            <a:endParaRPr lang="en-US" sz="800"/>
          </a:p>
        </p:txBody>
      </p:sp>
      <p:sp>
        <p:nvSpPr>
          <p:cNvPr id="46" name="Text 41"/>
          <p:cNvSpPr/>
          <p:nvPr/>
        </p:nvSpPr>
        <p:spPr>
          <a:xfrm>
            <a:off x="6236208" y="5138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/ AI Gateway</a:t>
            </a:r>
            <a:endParaRPr lang="en-US" sz="950"/>
          </a:p>
        </p:txBody>
      </p:sp>
      <p:sp>
        <p:nvSpPr>
          <p:cNvPr id="47" name="Text 42"/>
          <p:cNvSpPr/>
          <p:nvPr/>
        </p:nvSpPr>
        <p:spPr>
          <a:xfrm>
            <a:off x="6236208" y="5358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Claude-family endpoint each agent calls</a:t>
            </a:r>
            <a:endParaRPr lang="en-US" sz="800"/>
          </a:p>
        </p:txBody>
      </p:sp>
      <p:sp>
        <p:nvSpPr>
          <p:cNvPr id="48" name="Text 43"/>
          <p:cNvSpPr/>
          <p:nvPr/>
        </p:nvSpPr>
        <p:spPr>
          <a:xfrm>
            <a:off x="9070848" y="5138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Apps</a:t>
            </a:r>
            <a:endParaRPr lang="en-US" sz="950"/>
          </a:p>
        </p:txBody>
      </p:sp>
      <p:sp>
        <p:nvSpPr>
          <p:cNvPr id="49" name="Text 44"/>
          <p:cNvSpPr/>
          <p:nvPr/>
        </p:nvSpPr>
        <p:spPr>
          <a:xfrm>
            <a:off x="9070848" y="5358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surface where a person decides</a:t>
            </a:r>
            <a:endParaRPr lang="en-US" sz="800"/>
          </a:p>
        </p:txBody>
      </p:sp>
      <p:sp>
        <p:nvSpPr>
          <p:cNvPr id="50" name="Text 45"/>
          <p:cNvSpPr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EC9136-5402-38FA-0C99-D6A02E05B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82880"/>
            <a:ext cx="11338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FRD → STTM AGENT  ·  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896112"/>
            <a:ext cx="11521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3DA5"/>
                </a:solidFill>
                <a:latin typeface="Calibri"/>
              </a:rPr>
              <a:t>Two documents in, one model call, one workbook out — a person approves every hand-off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371600"/>
            <a:ext cx="2514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003DA5"/>
                </a:solidFill>
                <a:latin typeface="Calibri"/>
              </a:rPr>
              <a:t>SOURCE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371600"/>
            <a:ext cx="5440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003DA5"/>
                </a:solidFill>
                <a:latin typeface="Calibri"/>
              </a:rPr>
              <a:t>DATABRICKS PLATFORM — WHERE THE AGENT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34272" y="1371600"/>
            <a:ext cx="27733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003DA5"/>
                </a:solidFill>
                <a:latin typeface="Calibri"/>
              </a:rPr>
              <a:t>OUTPUT  ·  DOWNSTREAM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627632"/>
            <a:ext cx="2514600" cy="170078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1705356"/>
            <a:ext cx="438912" cy="429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4127" y="1709928"/>
            <a:ext cx="1746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D2D2D"/>
                </a:solidFill>
                <a:latin typeface="Calibri"/>
              </a:rPr>
              <a:t>Microsoft SharePoint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1911095"/>
            <a:ext cx="17465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455560"/>
                </a:solidFill>
                <a:latin typeface="Calibri"/>
              </a:rPr>
              <a:t>system of record — where documents are approved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2064" y="2205355"/>
            <a:ext cx="310896" cy="28930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2688" y="2185416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>
                <a:solidFill>
                  <a:srgbClr val="003DA5"/>
                </a:solidFill>
                <a:latin typeface="Consolas"/>
              </a:rPr>
              <a:t>FRD_&lt;source&gt;.docx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40864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455560"/>
                </a:solidFill>
                <a:latin typeface="Calibri"/>
              </a:rPr>
              <a:t>requirements — written by the BSA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2064" y="2589403"/>
            <a:ext cx="310896" cy="28930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2688" y="2569464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>
                <a:solidFill>
                  <a:srgbClr val="003DA5"/>
                </a:solidFill>
                <a:latin typeface="Consolas"/>
              </a:rPr>
              <a:t>VDD_&lt;source&gt;.xlsx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724912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455560"/>
                </a:solidFill>
                <a:latin typeface="Calibri"/>
              </a:rPr>
              <a:t>the vendor's data dictionary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2064" y="2973451"/>
            <a:ext cx="310896" cy="28930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2688" y="2953512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>
                <a:solidFill>
                  <a:srgbClr val="003DA5"/>
                </a:solidFill>
                <a:latin typeface="Consolas"/>
              </a:rPr>
              <a:t>STTM_&lt;source&gt;.xlsx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108960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455560"/>
                </a:solidFill>
                <a:latin typeface="Calibri"/>
              </a:rPr>
              <a:t>approved workbooks — layout 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3419856"/>
            <a:ext cx="2514600" cy="475488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3465576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7552" y="3465576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D2D2D"/>
                </a:solidFill>
                <a:latin typeface="Calibri"/>
              </a:rPr>
              <a:t>Jira board / Azure DevOps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3648456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455560"/>
                </a:solidFill>
                <a:latin typeface="Calibri"/>
              </a:rPr>
              <a:t>requirement stories and acceptance criteria behind the FRD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3986784"/>
            <a:ext cx="2514600" cy="475488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4032504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87552" y="4032504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D2D2D"/>
                </a:solidFill>
                <a:latin typeface="Calibri"/>
              </a:rPr>
              <a:t>Confluence / other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4215384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455560"/>
                </a:solidFill>
                <a:latin typeface="Calibri"/>
              </a:rPr>
              <a:t>source-system notes, run books — same connector pattern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4553712"/>
            <a:ext cx="2514600" cy="1024128"/>
          </a:xfrm>
          <a:prstGeom prst="rect">
            <a:avLst/>
          </a:prstGeom>
          <a:noFill/>
          <a:ln w="12700">
            <a:solidFill>
              <a:srgbClr val="003D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" y="4666805"/>
            <a:ext cx="402336" cy="35902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87552" y="4626864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D2D2D"/>
                </a:solidFill>
                <a:latin typeface="Calibri"/>
              </a:rPr>
              <a:t>One connector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4809744"/>
            <a:ext cx="17830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333F48"/>
                </a:solidFill>
                <a:latin typeface="Calibri"/>
              </a:rPr>
              <a:t>Entra ID app · Microsoft Graph + Atlassian REST · scoped read-only · one write folder for approved workbooks.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5266944"/>
            <a:ext cx="22585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>
                <a:solidFill>
                  <a:srgbClr val="003DA5"/>
                </a:solidFill>
                <a:latin typeface="Calibri"/>
              </a:rPr>
              <a:t>00  sync on start-up</a:t>
            </a:r>
            <a:r>
              <a:rPr sz="680" b="0">
                <a:solidFill>
                  <a:srgbClr val="333F48"/>
                </a:solidFill>
                <a:latin typeface="Calibri"/>
              </a:rPr>
              <a:t>  —  new FRD_* / VDD_* / STTM_* files are imported, paired by name — never by similarity.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898648" y="2130552"/>
            <a:ext cx="347472" cy="0"/>
          </a:xfrm>
          <a:prstGeom prst="line">
            <a:avLst/>
          </a:prstGeom>
          <a:ln w="25400">
            <a:solidFill>
              <a:srgbClr val="003D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246120" y="1627632"/>
            <a:ext cx="5440680" cy="3950208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3355848" y="1737360"/>
            <a:ext cx="522122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65122" y="1801368"/>
            <a:ext cx="1015891" cy="34747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617720" y="1828800"/>
            <a:ext cx="38496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55560"/>
                </a:solidFill>
                <a:latin typeface="Calibri"/>
              </a:rPr>
              <a:t>volumes + Delta tables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47288" y="2212848"/>
            <a:ext cx="50383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3DA5"/>
                </a:solidFill>
                <a:latin typeface="Consolas"/>
              </a:rPr>
              <a:t>frds  ·  vdds  ·  reference_sttms  ·  output_sttms</a:t>
            </a:r>
            <a:r>
              <a:rPr sz="800" b="1">
                <a:solidFill>
                  <a:srgbClr val="455560"/>
                </a:solidFill>
                <a:latin typeface="Calibri"/>
              </a:rPr>
              <a:t>      +  table  </a:t>
            </a:r>
            <a:r>
              <a:rPr sz="800" b="1">
                <a:solidFill>
                  <a:srgbClr val="003DA5"/>
                </a:solidFill>
                <a:latin typeface="Consolas"/>
              </a:rPr>
              <a:t>frd_pairing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47288" y="2414015"/>
            <a:ext cx="50383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F48"/>
                </a:solidFill>
                <a:latin typeface="Calibri"/>
              </a:rPr>
              <a:t>Every file the agent reads or writes lives here. The review app reads this — SharePoint is never on the request path.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55848" y="2743200"/>
            <a:ext cx="5221224" cy="365760"/>
          </a:xfrm>
          <a:prstGeom prst="rect">
            <a:avLst/>
          </a:prstGeom>
          <a:noFill/>
          <a:ln w="12700">
            <a:solidFill>
              <a:srgbClr val="003D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1" name="Picture 40" descr="braces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47288" y="2816352"/>
            <a:ext cx="219456" cy="21945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758184" y="2779776"/>
            <a:ext cx="471830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2D2D2D"/>
                </a:solidFill>
                <a:latin typeface="Calibri"/>
              </a:rPr>
              <a:t>ACFC standards as config</a:t>
            </a:r>
            <a:r>
              <a:rPr sz="750" b="0">
                <a:solidFill>
                  <a:srgbClr val="455560"/>
                </a:solidFill>
                <a:latin typeface="Calibri"/>
              </a:rPr>
              <a:t>  —  </a:t>
            </a:r>
            <a:r>
              <a:rPr sz="750" b="0">
                <a:solidFill>
                  <a:srgbClr val="003DA5"/>
                </a:solidFill>
                <a:latin typeface="Consolas"/>
              </a:rPr>
              <a:t>naming_standards.json · engineering_standards.json</a:t>
            </a:r>
            <a:r>
              <a:rPr sz="750" b="0">
                <a:solidFill>
                  <a:srgbClr val="333F48"/>
                </a:solidFill>
                <a:latin typeface="Calibri"/>
              </a:rPr>
              <a:t>  —  catalog and schema per layer, stage type, promoted type, audit columns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55848" y="3227832"/>
            <a:ext cx="5221224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447288" y="3291840"/>
            <a:ext cx="50383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D2D2D"/>
                </a:solidFill>
                <a:latin typeface="Calibri"/>
              </a:rPr>
              <a:t>Generation job</a:t>
            </a:r>
            <a:r>
              <a:rPr sz="800" b="0">
                <a:solidFill>
                  <a:srgbClr val="455560"/>
                </a:solidFill>
                <a:latin typeface="Calibri"/>
              </a:rPr>
              <a:t>    Databricks Jobs · serverless · </a:t>
            </a:r>
            <a:r>
              <a:rPr sz="800" b="0">
                <a:solidFill>
                  <a:srgbClr val="455560"/>
                </a:solidFill>
                <a:latin typeface="Consolas"/>
              </a:rPr>
              <a:t>frd_sttm_pipeline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47288" y="3593592"/>
            <a:ext cx="1170432" cy="1042415"/>
          </a:xfrm>
          <a:prstGeom prst="rect">
            <a:avLst/>
          </a:prstGeom>
          <a:solidFill>
            <a:srgbClr val="FCECEE"/>
          </a:solidFill>
          <a:ln w="12700">
            <a:solidFill>
              <a:srgbClr val="D22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3520440" y="3639312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20">
                <a:solidFill>
                  <a:srgbClr val="D2202F"/>
                </a:solidFill>
                <a:latin typeface="Calibri"/>
              </a:rPr>
              <a:t>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0440" y="3776472"/>
            <a:ext cx="10241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2D2D"/>
                </a:solidFill>
                <a:latin typeface="Calibri"/>
              </a:rPr>
              <a:t>Extract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0440" y="3986784"/>
            <a:ext cx="10241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333F48"/>
                </a:solidFill>
                <a:latin typeface="Calibri"/>
              </a:rPr>
              <a:t>docx → markdown; the one Claude call returns the source-level facts. The VDD is parsed by code.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0440" y="4471416"/>
            <a:ext cx="10241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D2202F"/>
                </a:solidFill>
                <a:latin typeface="Calibri"/>
              </a:rPr>
              <a:t>the one model call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626864" y="4114800"/>
            <a:ext cx="100584" cy="0"/>
          </a:xfrm>
          <a:prstGeom prst="line">
            <a:avLst/>
          </a:prstGeom>
          <a:ln w="15875">
            <a:solidFill>
              <a:srgbClr val="003D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4736592" y="3593592"/>
            <a:ext cx="1170432" cy="1042415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4809744" y="3639312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20">
                <a:solidFill>
                  <a:srgbClr val="003DA5"/>
                </a:solidFill>
                <a:latin typeface="Calibri"/>
              </a:rPr>
              <a:t>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09744" y="3776472"/>
            <a:ext cx="10241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2D2D"/>
                </a:solidFill>
                <a:latin typeface="Calibri"/>
              </a:rPr>
              <a:t>Assess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9744" y="3986784"/>
            <a:ext cx="10241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333F48"/>
                </a:solidFill>
                <a:latin typeface="Calibri"/>
              </a:rPr>
              <a:t>Every identifier grounded verbatim in the FRD; sources paired to dictionaries; targets per layer; blockers.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916168" y="4114800"/>
            <a:ext cx="100584" cy="0"/>
          </a:xfrm>
          <a:prstGeom prst="line">
            <a:avLst/>
          </a:prstGeom>
          <a:ln w="15875">
            <a:solidFill>
              <a:srgbClr val="003D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6025896" y="3593592"/>
            <a:ext cx="1170432" cy="1042415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099048" y="3639312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20">
                <a:solidFill>
                  <a:srgbClr val="003DA5"/>
                </a:solidFill>
                <a:latin typeface="Calibri"/>
              </a:rPr>
              <a:t>03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99048" y="3776472"/>
            <a:ext cx="10241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2D2D"/>
                </a:solidFill>
                <a:latin typeface="Calibri"/>
              </a:rPr>
              <a:t>Answer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99048" y="3986784"/>
            <a:ext cx="10241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333F48"/>
                </a:solidFill>
                <a:latin typeface="Calibri"/>
              </a:rPr>
              <a:t>ready · needs input · cannot generate. The reviewer settles each question; answers live on run.json.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205472" y="4114800"/>
            <a:ext cx="100584" cy="0"/>
          </a:xfrm>
          <a:prstGeom prst="line">
            <a:avLst/>
          </a:prstGeom>
          <a:ln w="15875">
            <a:solidFill>
              <a:srgbClr val="003D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315200" y="3593592"/>
            <a:ext cx="1170432" cy="1042415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388352" y="3639312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20">
                <a:solidFill>
                  <a:srgbClr val="003DA5"/>
                </a:solidFill>
                <a:latin typeface="Calibri"/>
              </a:rPr>
              <a:t>04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88352" y="3776472"/>
            <a:ext cx="10241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2D2D"/>
                </a:solidFill>
                <a:latin typeface="Calibri"/>
              </a:rPr>
              <a:t>Render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88352" y="3986784"/>
            <a:ext cx="10241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333F48"/>
                </a:solidFill>
                <a:latin typeface="Calibri"/>
              </a:rPr>
              <a:t>Rows from the VDD, targets from the FRD and standards, rules on the row they name — in an approved layout.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55848" y="4828032"/>
            <a:ext cx="25557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447288" y="4901755"/>
            <a:ext cx="914400" cy="200025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4453128" y="4892040"/>
            <a:ext cx="13670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D2D2D"/>
                </a:solidFill>
                <a:latin typeface="Calibri"/>
              </a:rPr>
              <a:t>via Foundation Model APIs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47288" y="5138928"/>
            <a:ext cx="237286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3DA5"/>
                </a:solidFill>
                <a:latin typeface="Consolas"/>
              </a:rPr>
              <a:t>databricks-claude-opus-5</a:t>
            </a:r>
            <a:r>
              <a:rPr sz="700" b="0">
                <a:solidFill>
                  <a:srgbClr val="333F48"/>
                </a:solidFill>
                <a:latin typeface="Calibri"/>
              </a:rPr>
              <a:t>  ·  through AI Gateway: logging, rate limits, guardrails on every call  ·  inside the client's workspace — no external key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21324" y="4828032"/>
            <a:ext cx="25557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23783" y="4864608"/>
            <a:ext cx="490024" cy="27432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6716268" y="4892040"/>
            <a:ext cx="17693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D2D2D"/>
                </a:solidFill>
                <a:latin typeface="Calibri"/>
              </a:rPr>
              <a:t>Review app</a:t>
            </a:r>
            <a:r>
              <a:rPr sz="850" b="0">
                <a:solidFill>
                  <a:srgbClr val="455560"/>
                </a:solidFill>
                <a:latin typeface="Calibri"/>
              </a:rPr>
              <a:t>    Databricks Apps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12764" y="5138928"/>
            <a:ext cx="237286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F48"/>
                </a:solidFill>
                <a:latin typeface="Calibri"/>
              </a:rPr>
              <a:t>Pick a source · run (confirm-gated) · answer what the agent will not guess · re-render · download. Nothing is invented on the reviewer's behalf.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034272" y="1627632"/>
            <a:ext cx="2773375" cy="1097280"/>
          </a:xfrm>
          <a:prstGeom prst="rect">
            <a:avLst/>
          </a:prstGeom>
          <a:noFill/>
          <a:ln w="12700">
            <a:solidFill>
              <a:srgbClr val="003D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0" y="1733677"/>
            <a:ext cx="420624" cy="391414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9656064" y="1737360"/>
            <a:ext cx="20235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D2D2D"/>
                </a:solidFill>
                <a:latin typeface="Calibri"/>
              </a:rPr>
              <a:t>Draft STTM workbook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56064" y="1975104"/>
            <a:ext cx="20235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003DA5"/>
                </a:solidFill>
                <a:latin typeface="Calibri"/>
              </a:rPr>
              <a:t>.xlsx  ·  ACFC layout  ·  open questions flagged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62288" y="2194560"/>
            <a:ext cx="251734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333F48"/>
                </a:solidFill>
                <a:latin typeface="Calibri"/>
              </a:rPr>
              <a:t>Every cell comes from the FRD, the VDD or the standards — target column names carried as-is from the dictionary. What cannot be sourced is a question, not a guess.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8686800" y="2130552"/>
            <a:ext cx="347472" cy="0"/>
          </a:xfrm>
          <a:prstGeom prst="line">
            <a:avLst/>
          </a:prstGeom>
          <a:ln w="25400">
            <a:solidFill>
              <a:srgbClr val="003D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9034272" y="2889504"/>
            <a:ext cx="2773375" cy="1371600"/>
          </a:xfrm>
          <a:prstGeom prst="rect">
            <a:avLst/>
          </a:prstGeom>
          <a:solidFill>
            <a:srgbClr val="0A2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62288" y="3017520"/>
            <a:ext cx="274320" cy="27432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9528048" y="3008376"/>
            <a:ext cx="215158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A named reviewer decides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62288" y="3310128"/>
            <a:ext cx="25173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Calibri"/>
              </a:rPr>
              <a:t>Resolves each open question, edits in Excel if needed, approves — and returns the workbook to SharePoint. The next sync pairs it: it becomes a layout other sources may borrow, never content. Nothing moves downstream unapproved.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0420959" y="2724912"/>
            <a:ext cx="0" cy="164592"/>
          </a:xfrm>
          <a:prstGeom prst="line">
            <a:avLst/>
          </a:prstGeom>
          <a:ln w="19050">
            <a:solidFill>
              <a:srgbClr val="003D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9034272" y="4425696"/>
            <a:ext cx="2773375" cy="1152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9162288" y="4517136"/>
            <a:ext cx="25173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40">
                <a:solidFill>
                  <a:srgbClr val="455560"/>
                </a:solidFill>
                <a:latin typeface="Calibri"/>
              </a:rPr>
              <a:t>DOWNSTREAM</a:t>
            </a:r>
          </a:p>
        </p:txBody>
      </p:sp>
      <p:pic>
        <p:nvPicPr>
          <p:cNvPr id="86" name="Picture 85" descr="cod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62288" y="4754880"/>
            <a:ext cx="256032" cy="256032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9509760" y="4736592"/>
            <a:ext cx="21698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2D2D2D"/>
                </a:solidFill>
                <a:latin typeface="Calibri"/>
              </a:rPr>
              <a:t>CodeGen agent</a:t>
            </a:r>
            <a:r>
              <a:rPr sz="950" b="0">
                <a:solidFill>
                  <a:srgbClr val="455560"/>
                </a:solidFill>
                <a:latin typeface="Calibri"/>
              </a:rPr>
              <a:t>   Agent 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62288" y="5010912"/>
            <a:ext cx="25173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333F48"/>
                </a:solidFill>
                <a:latin typeface="Calibri"/>
              </a:rPr>
              <a:t>Reads the approved workbook — its only input from this agent — and emits the pipeline code. Unity Catalog carries the lineage from FRD to table.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0420959" y="4261104"/>
            <a:ext cx="0" cy="164592"/>
          </a:xfrm>
          <a:prstGeom prst="line">
            <a:avLst/>
          </a:prstGeom>
          <a:ln w="19050">
            <a:solidFill>
              <a:srgbClr val="003D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384048" y="5760720"/>
            <a:ext cx="11423599" cy="384048"/>
          </a:xfrm>
          <a:prstGeom prst="rect">
            <a:avLst/>
          </a:prstGeom>
          <a:solidFill>
            <a:srgbClr val="0A2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384048" y="5760720"/>
            <a:ext cx="1142359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spc="120">
                <a:solidFill>
                  <a:srgbClr val="FFFFFF"/>
                </a:solidFill>
                <a:latin typeface="Calibri"/>
              </a:rPr>
              <a:t>ONE MODEL CALL PER RUN     ·     EVERYTHING ELSE IS DETERMINISTIC CODE     ·     NOTHING IS INVENTED     ·     A PERSON APPROVES</a:t>
            </a:r>
          </a:p>
        </p:txBody>
      </p:sp>
    </p:spTree>
    <p:extLst>
      <p:ext uri="{BB962C8B-B14F-4D97-AF65-F5344CB8AC3E}">
        <p14:creationId xmlns:p14="http://schemas.microsoft.com/office/powerpoint/2010/main" val="2508389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CCC3B5-6D46-FB51-5B70-0F5DF9FFF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82880"/>
            <a:ext cx="11338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FRD → STTM AGENT  ·  DATA GOVERNANCE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896112"/>
            <a:ext cx="11521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3DA5"/>
                </a:solidFill>
                <a:latin typeface="Calibri"/>
              </a:rPr>
              <a:t>Classified data · named people · traceable outputs · a person decides · a record of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37160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003DA5"/>
                </a:solidFill>
                <a:latin typeface="Calibri"/>
              </a:rPr>
              <a:t>THE DOCUMENT'S JOURNEY 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1371600"/>
            <a:ext cx="26179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003DA5"/>
                </a:solidFill>
                <a:latin typeface="Calibri"/>
              </a:rPr>
              <a:t>→  REGISTERED IN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609344"/>
            <a:ext cx="2011680" cy="25603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12064" y="1719072"/>
            <a:ext cx="17556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003DA5"/>
                </a:solidFill>
                <a:latin typeface="Calibri"/>
              </a:rPr>
              <a:t>01   ENTERS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1943100"/>
            <a:ext cx="438912" cy="42976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1954691"/>
            <a:ext cx="1188720" cy="4065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2064" y="2414016"/>
            <a:ext cx="17556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40">
                <a:solidFill>
                  <a:srgbClr val="455560"/>
                </a:solidFill>
                <a:latin typeface="Calibri"/>
              </a:rPr>
              <a:t>WHAT DATA?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578608"/>
            <a:ext cx="17556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D2D2D"/>
                </a:solidFill>
                <a:latin typeface="Calibri"/>
              </a:rPr>
              <a:t>Classified at the door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2852928"/>
            <a:ext cx="175564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F48"/>
                </a:solidFill>
                <a:latin typeface="Calibri"/>
              </a:rPr>
              <a:t>Two documents per source — the FRD and the vendor's data dictionary — arrive from SharePoint read-only and land in Unity Catalog volumes. Every volume and table carries an owner, a steward, its sensitivity (the dictionary flags PHI columns) and a retention rule, set by the data owner.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2064" y="3858768"/>
            <a:ext cx="1755648" cy="0"/>
          </a:xfrm>
          <a:prstGeom prst="line">
            <a:avLst/>
          </a:prstGeom>
          <a:ln w="1270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12064" y="3913631"/>
            <a:ext cx="17556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>
                <a:solidFill>
                  <a:srgbClr val="003DA5"/>
                </a:solidFill>
                <a:latin typeface="Calibri"/>
              </a:rPr>
              <a:t>SharePoint read-only · Unity Catalog tags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04872" y="2706624"/>
            <a:ext cx="164592" cy="0"/>
          </a:xfrm>
          <a:prstGeom prst="line">
            <a:avLst/>
          </a:prstGeom>
          <a:ln w="19050">
            <a:solidFill>
              <a:srgbClr val="003D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578608" y="1609344"/>
            <a:ext cx="2011680" cy="25603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706624" y="1719072"/>
            <a:ext cx="17556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003DA5"/>
                </a:solidFill>
                <a:latin typeface="Calibri"/>
              </a:rPr>
              <a:t>02   OPENED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6624" y="1962150"/>
            <a:ext cx="438912" cy="391667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1840" y="1953228"/>
            <a:ext cx="731520" cy="40951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06624" y="2414016"/>
            <a:ext cx="17556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40">
                <a:solidFill>
                  <a:srgbClr val="455560"/>
                </a:solidFill>
                <a:latin typeface="Calibri"/>
              </a:rPr>
              <a:t>WHO?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06624" y="2578608"/>
            <a:ext cx="17556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D2D2D"/>
                </a:solidFill>
                <a:latin typeface="Calibri"/>
              </a:rPr>
              <a:t>Only named people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06624" y="2852928"/>
            <a:ext cx="175564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F48"/>
                </a:solidFill>
                <a:latin typeface="Calibri"/>
              </a:rPr>
              <a:t>Only the client's BSA group — the people already allowed to read this data — can open the review app. Each signs in with the company login; nothing runs, is decided or is handed out without that name. May run equals may read.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06624" y="3858768"/>
            <a:ext cx="1755648" cy="0"/>
          </a:xfrm>
          <a:prstGeom prst="line">
            <a:avLst/>
          </a:prstGeom>
          <a:ln w="1270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706624" y="3913631"/>
            <a:ext cx="17556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>
                <a:solidFill>
                  <a:srgbClr val="003DA5"/>
                </a:solidFill>
                <a:latin typeface="Calibri"/>
              </a:rPr>
              <a:t>Microsoft Entra ID group · Databricks Apps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99432" y="2706624"/>
            <a:ext cx="164592" cy="0"/>
          </a:xfrm>
          <a:prstGeom prst="line">
            <a:avLst/>
          </a:prstGeom>
          <a:ln w="19050">
            <a:solidFill>
              <a:srgbClr val="003D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773168" y="1609344"/>
            <a:ext cx="2011680" cy="2560320"/>
          </a:xfrm>
          <a:prstGeom prst="rect">
            <a:avLst/>
          </a:prstGeom>
          <a:solidFill>
            <a:srgbClr val="FCECEE"/>
          </a:solidFill>
          <a:ln w="12700">
            <a:solidFill>
              <a:srgbClr val="D22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901184" y="1719072"/>
            <a:ext cx="17556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D2202F"/>
                </a:solidFill>
                <a:latin typeface="Calibri"/>
              </a:rPr>
              <a:t>03   GENERATED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1184" y="2007965"/>
            <a:ext cx="1371600" cy="30003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901184" y="2414016"/>
            <a:ext cx="17556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40">
                <a:solidFill>
                  <a:srgbClr val="455560"/>
                </a:solidFill>
                <a:latin typeface="Calibri"/>
              </a:rPr>
              <a:t>WHERE FROM?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01184" y="2578608"/>
            <a:ext cx="17556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D2202F"/>
                </a:solidFill>
                <a:latin typeface="Calibri"/>
              </a:rPr>
              <a:t>Every cell has a source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01184" y="2852928"/>
            <a:ext cx="175564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F48"/>
                </a:solidFill>
                <a:latin typeface="Calibri"/>
              </a:rPr>
              <a:t>One Claude call reads the FRD — the only one in the system. Every identifier it returns must appear word-for-word in the FRD or becomes a question. Column names are carried as-is from the dictionary; the agent never opens the source's own approved workbook; a missing dictionary blocks the run.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901184" y="3858768"/>
            <a:ext cx="1755648" cy="0"/>
          </a:xfrm>
          <a:prstGeom prst="line">
            <a:avLst/>
          </a:prstGeom>
          <a:ln w="1270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901184" y="3913631"/>
            <a:ext cx="17556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>
                <a:solidFill>
                  <a:srgbClr val="D2202F"/>
                </a:solidFill>
                <a:latin typeface="Calibri"/>
              </a:rPr>
              <a:t>verbatim grounding · three sources or a question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793992" y="2706624"/>
            <a:ext cx="164592" cy="0"/>
          </a:xfrm>
          <a:prstGeom prst="line">
            <a:avLst/>
          </a:prstGeom>
          <a:ln w="19050">
            <a:solidFill>
              <a:srgbClr val="003D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967728" y="1609344"/>
            <a:ext cx="2011680" cy="25603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095744" y="1719072"/>
            <a:ext cx="17556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003DA5"/>
                </a:solidFill>
                <a:latin typeface="Calibri"/>
              </a:rPr>
              <a:t>04   DECIDED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5744" y="1938528"/>
            <a:ext cx="438912" cy="43891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095744" y="2414016"/>
            <a:ext cx="17556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40">
                <a:solidFill>
                  <a:srgbClr val="455560"/>
                </a:solidFill>
                <a:latin typeface="Calibri"/>
              </a:rPr>
              <a:t>WHO DECIDES?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95744" y="2578608"/>
            <a:ext cx="17556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D2D2D"/>
                </a:solidFill>
                <a:latin typeface="Calibri"/>
              </a:rPr>
              <a:t>A person decides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95744" y="2852928"/>
            <a:ext cx="175564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F48"/>
                </a:solidFill>
                <a:latin typeface="Calibri"/>
              </a:rPr>
              <a:t>The AI only proposes. Code computes the verdict — ready, needs input, cannot generate — and lists what it would not guess. A named reviewer answers each question (keep · remove · correct); the answers are recorded and survive a re-run of the same document. Approval is the reviewer's upload.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095744" y="3858768"/>
            <a:ext cx="1755648" cy="0"/>
          </a:xfrm>
          <a:prstGeom prst="line">
            <a:avLst/>
          </a:prstGeom>
          <a:ln w="1270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095744" y="3913631"/>
            <a:ext cx="17556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>
                <a:solidFill>
                  <a:srgbClr val="003DA5"/>
                </a:solidFill>
                <a:latin typeface="Calibri"/>
              </a:rPr>
              <a:t>run.json · human-in-the-loop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4297679"/>
            <a:ext cx="8595360" cy="530352"/>
          </a:xfrm>
          <a:prstGeom prst="rect">
            <a:avLst/>
          </a:prstGeom>
          <a:noFill/>
          <a:ln w="12700">
            <a:solidFill>
              <a:srgbClr val="003D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2064" y="4416551"/>
            <a:ext cx="292608" cy="29260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14400" y="4370831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40">
                <a:solidFill>
                  <a:srgbClr val="455560"/>
                </a:solidFill>
                <a:latin typeface="Calibri"/>
              </a:rPr>
              <a:t>WHAT HAPPENED?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4535423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D2D2D"/>
                </a:solidFill>
                <a:latin typeface="Calibri"/>
              </a:rPr>
              <a:t>Nothing is off the record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55848" y="4361688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333F48"/>
                </a:solidFill>
                <a:latin typeface="Calibri"/>
              </a:rPr>
              <a:t>Every run, every reviewer answer, every render and download is written as a record in Unity Catalog the moment it happens. The trail reads like a table and cannot be edited afterwards.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55848" y="4663440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>
                <a:solidFill>
                  <a:srgbClr val="003DA5"/>
                </a:solidFill>
                <a:latin typeface="Calibri"/>
              </a:rPr>
              <a:t>Audit trail  ·  Delta run log  ·  a person's name on every action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" y="4992623"/>
            <a:ext cx="26974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2D2D2D"/>
                </a:solidFill>
                <a:latin typeface="Calibri"/>
              </a:rPr>
              <a:t>Client data crosses the platform boundary in exactly two places</a:t>
            </a:r>
            <a:r>
              <a:rPr sz="750" b="0">
                <a:solidFill>
                  <a:srgbClr val="333F48"/>
                </a:solidFill>
                <a:latin typeface="Calibri"/>
              </a:rPr>
              <a:t> — both under the stations where they happen, both recorded.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64408" y="4956047"/>
            <a:ext cx="2784348" cy="676656"/>
          </a:xfrm>
          <a:prstGeom prst="rect">
            <a:avLst/>
          </a:prstGeom>
          <a:solidFill>
            <a:srgbClr val="FCECEE"/>
          </a:solidFill>
          <a:ln w="12700">
            <a:solidFill>
              <a:srgbClr val="D22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374136" y="5010911"/>
            <a:ext cx="25648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D2202F"/>
                </a:solidFill>
                <a:latin typeface="Calibri"/>
              </a:rPr>
              <a:t>1   FRD text  →  Claude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74136" y="5193791"/>
            <a:ext cx="256489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333F48"/>
                </a:solidFill>
                <a:latin typeface="Calibri"/>
              </a:rPr>
              <a:t>Through the workspace's Foundation Model APIs and AI Gateway — inside the client's Databricks tenant, logged per call, no external key. Within the client's data-handling review.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95060" y="4956047"/>
            <a:ext cx="2784348" cy="676656"/>
          </a:xfrm>
          <a:prstGeom prst="rect">
            <a:avLst/>
          </a:prstGeom>
          <a:solidFill>
            <a:srgbClr val="EAF0FA"/>
          </a:solidFill>
          <a:ln w="12700">
            <a:solidFill>
              <a:srgbClr val="003D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304788" y="5010911"/>
            <a:ext cx="25648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3DA5"/>
                </a:solidFill>
                <a:latin typeface="Calibri"/>
              </a:rPr>
              <a:t>2   workbook  →  a named person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4788" y="5193791"/>
            <a:ext cx="256489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333F48"/>
                </a:solidFill>
                <a:latin typeface="Calibri"/>
              </a:rPr>
              <a:t>The download is recorded with the workbook's fingerprint and the reviewer's name. The reviewer — not the agent — returns the approved workbook to SharePoint.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89720" y="1609344"/>
            <a:ext cx="2617927" cy="4023359"/>
          </a:xfrm>
          <a:prstGeom prst="rect">
            <a:avLst/>
          </a:prstGeom>
          <a:noFill/>
          <a:ln w="15875">
            <a:solidFill>
              <a:srgbClr val="0A24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87959" y="1737360"/>
            <a:ext cx="1621449" cy="38404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317736" y="2231136"/>
            <a:ext cx="23618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40">
                <a:solidFill>
                  <a:srgbClr val="455560"/>
                </a:solidFill>
                <a:latin typeface="Calibri"/>
              </a:rPr>
              <a:t>GOVERNANCE REGISTER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17736" y="2414016"/>
            <a:ext cx="23618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333F48"/>
                </a:solidFill>
                <a:latin typeface="Calibri"/>
              </a:rPr>
              <a:t>The client's data-governance catalog. The agent is registered here as an AI asset — one place to answer “what is this agent, and is it under control?”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17736" y="2980944"/>
            <a:ext cx="2361895" cy="932688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0884" y="3054096"/>
            <a:ext cx="962423" cy="329184"/>
          </a:xfrm>
          <a:prstGeom prst="rect">
            <a:avLst/>
          </a:prstGeom>
        </p:spPr>
      </p:pic>
      <p:cxnSp>
        <p:nvCxnSpPr>
          <p:cNvPr id="62" name="Connector 61"/>
          <p:cNvCxnSpPr/>
          <p:nvPr/>
        </p:nvCxnSpPr>
        <p:spPr>
          <a:xfrm>
            <a:off x="10515600" y="3218687"/>
            <a:ext cx="502920" cy="0"/>
          </a:xfrm>
          <a:prstGeom prst="line">
            <a:avLst/>
          </a:prstGeom>
          <a:ln w="15875">
            <a:solidFill>
              <a:srgbClr val="003D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9409176" y="3383279"/>
            <a:ext cx="217901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>
                <a:solidFill>
                  <a:srgbClr val="2D2D2D"/>
                </a:solidFill>
                <a:latin typeface="Calibri"/>
              </a:rPr>
              <a:t>Collibra harvests Unity Catalog</a:t>
            </a:r>
            <a:r>
              <a:rPr sz="680" b="0">
                <a:solidFill>
                  <a:srgbClr val="333F48"/>
                </a:solidFill>
                <a:latin typeface="Calibri"/>
              </a:rPr>
              <a:t> — owners, sensitivity and descriptions set in Databricks appear here automatically. Classified once, visible in both.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17736" y="4059935"/>
            <a:ext cx="23618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40">
                <a:solidFill>
                  <a:srgbClr val="455560"/>
                </a:solidFill>
                <a:latin typeface="Calibri"/>
              </a:rPr>
              <a:t>WHAT IS REGISTERED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336024" y="4343399"/>
            <a:ext cx="82296" cy="82296"/>
          </a:xfrm>
          <a:prstGeom prst="rect">
            <a:avLst/>
          </a:prstGeom>
          <a:solidFill>
            <a:srgbClr val="69B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500616" y="4297679"/>
            <a:ext cx="21790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333F48"/>
                </a:solidFill>
                <a:latin typeface="Calibri"/>
              </a:rPr>
              <a:t>What the agent is for, and its risk tier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336024" y="4617719"/>
            <a:ext cx="82296" cy="82296"/>
          </a:xfrm>
          <a:prstGeom prst="rect">
            <a:avLst/>
          </a:prstGeom>
          <a:solidFill>
            <a:srgbClr val="69B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9500616" y="4571999"/>
            <a:ext cx="21790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333F48"/>
                </a:solidFill>
                <a:latin typeface="Calibri"/>
              </a:rPr>
              <a:t>Who owns it and who stewards it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336024" y="4892039"/>
            <a:ext cx="82296" cy="82296"/>
          </a:xfrm>
          <a:prstGeom prst="rect">
            <a:avLst/>
          </a:prstGeom>
          <a:solidFill>
            <a:srgbClr val="69B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9500616" y="4846319"/>
            <a:ext cx="21790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333F48"/>
                </a:solidFill>
                <a:latin typeface="Calibri"/>
              </a:rPr>
              <a:t>The data it reads and writes, and where it flows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36024" y="5166359"/>
            <a:ext cx="82296" cy="82296"/>
          </a:xfrm>
          <a:prstGeom prst="rect">
            <a:avLst/>
          </a:prstGeom>
          <a:solidFill>
            <a:srgbClr val="69B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9500616" y="5120640"/>
            <a:ext cx="21790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333F48"/>
                </a:solidFill>
                <a:latin typeface="Calibri"/>
              </a:rPr>
              <a:t>The five controls shown to the left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8988552" y="2706624"/>
            <a:ext cx="192024" cy="0"/>
          </a:xfrm>
          <a:prstGeom prst="line">
            <a:avLst/>
          </a:prstGeom>
          <a:ln w="19050">
            <a:solidFill>
              <a:srgbClr val="003D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988552" y="4562855"/>
            <a:ext cx="192024" cy="0"/>
          </a:xfrm>
          <a:prstGeom prst="line">
            <a:avLst/>
          </a:prstGeom>
          <a:ln w="19050">
            <a:solidFill>
              <a:srgbClr val="003D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384048" y="5760720"/>
            <a:ext cx="11423599" cy="384048"/>
          </a:xfrm>
          <a:prstGeom prst="rect">
            <a:avLst/>
          </a:prstGeom>
          <a:solidFill>
            <a:srgbClr val="0A2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384048" y="5760720"/>
            <a:ext cx="1142359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spc="120">
                <a:solidFill>
                  <a:srgbClr val="FFFFFF"/>
                </a:solidFill>
                <a:latin typeface="Calibri"/>
              </a:rPr>
              <a:t>CLASSIFIED DATA     ·     NAMED PEOPLE     ·     TRACEABLE OUTPUTS     ·     A PERSON DECIDES     ·     A RECORD OF EVERYTHING</a:t>
            </a:r>
          </a:p>
        </p:txBody>
      </p:sp>
    </p:spTree>
    <p:extLst>
      <p:ext uri="{BB962C8B-B14F-4D97-AF65-F5344CB8AC3E}">
        <p14:creationId xmlns:p14="http://schemas.microsoft.com/office/powerpoint/2010/main" val="1728640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2E6D32F-7B35-20E2-7543-EA625EF68098}"/>
              </a:ext>
            </a:extLst>
          </p:cNvPr>
          <p:cNvGrpSpPr/>
          <p:nvPr/>
        </p:nvGrpSpPr>
        <p:grpSpPr>
          <a:xfrm>
            <a:off x="5306059" y="2277688"/>
            <a:ext cx="1371600" cy="1371600"/>
            <a:chOff x="5501640" y="2834640"/>
            <a:chExt cx="1371600" cy="1371600"/>
          </a:xfrm>
        </p:grpSpPr>
        <p:pic>
          <p:nvPicPr>
            <p:cNvPr id="4" name="Graphic 3" descr="Play with solid fill">
              <a:extLst>
                <a:ext uri="{FF2B5EF4-FFF2-40B4-BE49-F238E27FC236}">
                  <a16:creationId xmlns:a16="http://schemas.microsoft.com/office/drawing/2014/main" id="{49A3CF01-C4B6-56AD-EF22-1CF19BA47F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12301" y="3086686"/>
              <a:ext cx="914400" cy="914400"/>
            </a:xfrm>
            <a:prstGeom prst="rect">
              <a:avLst/>
            </a:prstGeom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21FCFB9-3B3E-E6A1-657C-A910BCF64C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01640" y="2834640"/>
              <a:ext cx="1371600" cy="13716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60B891B-5F76-C6D9-4EDA-5FE9F2BE01DD}"/>
              </a:ext>
            </a:extLst>
          </p:cNvPr>
          <p:cNvSpPr txBox="1"/>
          <p:nvPr/>
        </p:nvSpPr>
        <p:spPr>
          <a:xfrm>
            <a:off x="5059017" y="3827532"/>
            <a:ext cx="1938131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STTM Agent Demo       		</a:t>
            </a:r>
          </a:p>
        </p:txBody>
      </p:sp>
    </p:spTree>
    <p:extLst>
      <p:ext uri="{BB962C8B-B14F-4D97-AF65-F5344CB8AC3E}">
        <p14:creationId xmlns:p14="http://schemas.microsoft.com/office/powerpoint/2010/main" val="2402061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F6A1D5-1966-A9CF-70D0-2EFDF246D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B3322F9-0BC8-BAB5-8ADE-221F16E6053E}"/>
              </a:ext>
            </a:extLst>
          </p:cNvPr>
          <p:cNvSpPr/>
          <p:nvPr/>
        </p:nvSpPr>
        <p:spPr>
          <a:xfrm>
            <a:off x="329184" y="182880"/>
            <a:ext cx="9107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/Data Pipeline Agent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1E0A26-84D1-9678-82CD-9E159A51C48B}"/>
              </a:ext>
            </a:extLst>
          </p:cNvPr>
          <p:cNvSpPr/>
          <p:nvPr/>
        </p:nvSpPr>
        <p:spPr>
          <a:xfrm>
            <a:off x="329184" y="896112"/>
            <a:ext cx="1152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0067B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Two agents, one relay — from an approved FRD through to generated pipeline code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9DA6EEF-0BD9-6CF5-BB14-5210CEBF2595}"/>
              </a:ext>
            </a:extLst>
          </p:cNvPr>
          <p:cNvSpPr/>
          <p:nvPr/>
        </p:nvSpPr>
        <p:spPr>
          <a:xfrm>
            <a:off x="1596929" y="1435146"/>
            <a:ext cx="1389888" cy="422471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FA716F0-AD1D-3970-D65A-E4248258E978}"/>
              </a:ext>
            </a:extLst>
          </p:cNvPr>
          <p:cNvSpPr/>
          <p:nvPr/>
        </p:nvSpPr>
        <p:spPr>
          <a:xfrm>
            <a:off x="1874520" y="1578044"/>
            <a:ext cx="834705" cy="163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STTM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793DADB-BB75-92CB-BF15-C464931DCE40}"/>
              </a:ext>
            </a:extLst>
          </p:cNvPr>
          <p:cNvSpPr/>
          <p:nvPr/>
        </p:nvSpPr>
        <p:spPr>
          <a:xfrm>
            <a:off x="3904488" y="1353312"/>
            <a:ext cx="2615184" cy="1298448"/>
          </a:xfrm>
          <a:prstGeom prst="roundRect">
            <a:avLst>
              <a:gd name="adj" fmla="val 4930"/>
            </a:avLst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72D4B87-3D71-84DE-4D5C-90CF5F78A64A}"/>
              </a:ext>
            </a:extLst>
          </p:cNvPr>
          <p:cNvSpPr/>
          <p:nvPr/>
        </p:nvSpPr>
        <p:spPr>
          <a:xfrm>
            <a:off x="3977640" y="14630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>
                <a:ln>
                  <a:noFill/>
                </a:ln>
                <a:solidFill>
                  <a:srgbClr val="9FD3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9D80579-8518-2E06-0FE7-F87F49CA2D66}"/>
              </a:ext>
            </a:extLst>
          </p:cNvPr>
          <p:cNvSpPr/>
          <p:nvPr/>
        </p:nvSpPr>
        <p:spPr>
          <a:xfrm>
            <a:off x="3977640" y="171907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CodeGen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1E0F4E5-71C9-3DFF-CA73-BF1986BAB3B6}"/>
              </a:ext>
            </a:extLst>
          </p:cNvPr>
          <p:cNvSpPr/>
          <p:nvPr/>
        </p:nvSpPr>
        <p:spPr>
          <a:xfrm>
            <a:off x="4681728" y="2304288"/>
            <a:ext cx="1060704" cy="237744"/>
          </a:xfrm>
          <a:prstGeom prst="roundRect">
            <a:avLst>
              <a:gd name="adj" fmla="val 19231"/>
            </a:avLst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AE38693-6216-6F89-6AA8-B9C2253A6DAD}"/>
              </a:ext>
            </a:extLst>
          </p:cNvPr>
          <p:cNvSpPr/>
          <p:nvPr/>
        </p:nvSpPr>
        <p:spPr>
          <a:xfrm>
            <a:off x="4681728" y="230428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CB9716D-7C9A-7091-E798-6D496583BF55}"/>
              </a:ext>
            </a:extLst>
          </p:cNvPr>
          <p:cNvSpPr/>
          <p:nvPr/>
        </p:nvSpPr>
        <p:spPr>
          <a:xfrm>
            <a:off x="6629400" y="1600200"/>
            <a:ext cx="1920240" cy="804672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52EF678-5AD0-715D-A03C-8CA647E75646}"/>
              </a:ext>
            </a:extLst>
          </p:cNvPr>
          <p:cNvSpPr/>
          <p:nvPr/>
        </p:nvSpPr>
        <p:spPr>
          <a:xfrm>
            <a:off x="6702552" y="169164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code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E8B1A35-3649-C3A7-68A4-DBAA786D6760}"/>
              </a:ext>
            </a:extLst>
          </p:cNvPr>
          <p:cNvSpPr/>
          <p:nvPr/>
        </p:nvSpPr>
        <p:spPr>
          <a:xfrm>
            <a:off x="6702552" y="198424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transforms, DDL,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tests, job config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824A7A9-06F2-5CFF-707A-978536BD3044}"/>
              </a:ext>
            </a:extLst>
          </p:cNvPr>
          <p:cNvSpPr/>
          <p:nvPr/>
        </p:nvSpPr>
        <p:spPr>
          <a:xfrm>
            <a:off x="384048" y="2798064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FRD is authored and approved by your team. Agent 1's workbook is Agent 2's input — and nothing moves downstream until a named person approves it.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D42C29A-70F3-FA15-C6E5-56F10675D431}"/>
              </a:ext>
            </a:extLst>
          </p:cNvPr>
          <p:cNvSpPr/>
          <p:nvPr/>
        </p:nvSpPr>
        <p:spPr>
          <a:xfrm>
            <a:off x="384048" y="303580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FRDs and STTM workbooks are read from, and written back to, the AmeriHealth SharePoint document library through the Microsoft Graph API.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C7A1336-F5A0-AB2B-4C2D-00847E9E32F9}"/>
              </a:ext>
            </a:extLst>
          </p:cNvPr>
          <p:cNvSpPr/>
          <p:nvPr/>
        </p:nvSpPr>
        <p:spPr>
          <a:xfrm>
            <a:off x="384048" y="3401568"/>
            <a:ext cx="368808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B9832BA-195E-C50F-4A79-38E8BB06C41B}"/>
              </a:ext>
            </a:extLst>
          </p:cNvPr>
          <p:cNvSpPr/>
          <p:nvPr/>
        </p:nvSpPr>
        <p:spPr>
          <a:xfrm>
            <a:off x="548640" y="35478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Image 0" descr="/home/claude/work/assets/image18.png">
            <a:extLst>
              <a:ext uri="{FF2B5EF4-FFF2-40B4-BE49-F238E27FC236}">
                <a16:creationId xmlns:a16="http://schemas.microsoft.com/office/drawing/2014/main" id="{AF37C48A-E7E0-C20D-FBE9-EFF26251F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" y="3628339"/>
            <a:ext cx="204826" cy="204826"/>
          </a:xfrm>
          <a:prstGeom prst="rect">
            <a:avLst/>
          </a:prstGeom>
        </p:spPr>
      </p:pic>
      <p:sp>
        <p:nvSpPr>
          <p:cNvPr id="28" name="Text 25">
            <a:extLst>
              <a:ext uri="{FF2B5EF4-FFF2-40B4-BE49-F238E27FC236}">
                <a16:creationId xmlns:a16="http://schemas.microsoft.com/office/drawing/2014/main" id="{5CCFBA2E-4CF3-6FBA-9BEF-1AB7DF683572}"/>
              </a:ext>
            </a:extLst>
          </p:cNvPr>
          <p:cNvSpPr/>
          <p:nvPr/>
        </p:nvSpPr>
        <p:spPr>
          <a:xfrm>
            <a:off x="1005840" y="3547872"/>
            <a:ext cx="290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0067B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AI only ever drafts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94767318-C664-EC8E-9227-AEF1B0AC8165}"/>
              </a:ext>
            </a:extLst>
          </p:cNvPr>
          <p:cNvSpPr/>
          <p:nvPr/>
        </p:nvSpPr>
        <p:spPr>
          <a:xfrm>
            <a:off x="548640" y="3986784"/>
            <a:ext cx="3358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grounding, gating and rendering are all ordinary code. The model is never the arbiter of whether its own output is right.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6C0F1DA7-E168-B1CF-C9D3-E2AA95277ADF}"/>
              </a:ext>
            </a:extLst>
          </p:cNvPr>
          <p:cNvSpPr/>
          <p:nvPr/>
        </p:nvSpPr>
        <p:spPr>
          <a:xfrm>
            <a:off x="4255008" y="3401568"/>
            <a:ext cx="368808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CAC4BF30-8D66-5251-18AE-71B9A8939CF8}"/>
              </a:ext>
            </a:extLst>
          </p:cNvPr>
          <p:cNvSpPr/>
          <p:nvPr/>
        </p:nvSpPr>
        <p:spPr>
          <a:xfrm>
            <a:off x="4419600" y="35478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1" descr="/home/claude/work/assets/image16.png">
            <a:extLst>
              <a:ext uri="{FF2B5EF4-FFF2-40B4-BE49-F238E27FC236}">
                <a16:creationId xmlns:a16="http://schemas.microsoft.com/office/drawing/2014/main" id="{71AB1071-326C-D10A-5CC2-51F6D1702F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0067" y="3628339"/>
            <a:ext cx="204826" cy="204826"/>
          </a:xfrm>
          <a:prstGeom prst="rect">
            <a:avLst/>
          </a:prstGeom>
        </p:spPr>
      </p:pic>
      <p:sp>
        <p:nvSpPr>
          <p:cNvPr id="33" name="Text 29">
            <a:extLst>
              <a:ext uri="{FF2B5EF4-FFF2-40B4-BE49-F238E27FC236}">
                <a16:creationId xmlns:a16="http://schemas.microsoft.com/office/drawing/2014/main" id="{B6F97C71-0273-5A75-06AF-E5014E8659DB}"/>
              </a:ext>
            </a:extLst>
          </p:cNvPr>
          <p:cNvSpPr/>
          <p:nvPr/>
        </p:nvSpPr>
        <p:spPr>
          <a:xfrm>
            <a:off x="4876800" y="3547872"/>
            <a:ext cx="290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0067B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</a:t>
            </a:r>
            <a:r>
              <a:rPr lang="en-US" sz="1150" b="1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0067B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cites its source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19678ACF-22FB-D7AA-F70A-134BF70DE691}"/>
              </a:ext>
            </a:extLst>
          </p:cNvPr>
          <p:cNvSpPr/>
          <p:nvPr/>
        </p:nvSpPr>
        <p:spPr>
          <a:xfrm>
            <a:off x="4419600" y="3986784"/>
            <a:ext cx="3358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value that cannot be found word-for-word in the source document fails the run — it is never quietly invented or approximated.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8EC0BAB9-D4D4-3C52-05DC-152D78D70303}"/>
              </a:ext>
            </a:extLst>
          </p:cNvPr>
          <p:cNvSpPr/>
          <p:nvPr/>
        </p:nvSpPr>
        <p:spPr>
          <a:xfrm>
            <a:off x="8125968" y="3401568"/>
            <a:ext cx="368808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FD575570-8934-2EF2-58D1-9573D3F42E07}"/>
              </a:ext>
            </a:extLst>
          </p:cNvPr>
          <p:cNvSpPr/>
          <p:nvPr/>
        </p:nvSpPr>
        <p:spPr>
          <a:xfrm>
            <a:off x="8290560" y="35478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7" name="Image 2" descr="/home/claude/work/assets/image31.png">
            <a:extLst>
              <a:ext uri="{FF2B5EF4-FFF2-40B4-BE49-F238E27FC236}">
                <a16:creationId xmlns:a16="http://schemas.microsoft.com/office/drawing/2014/main" id="{B569E641-A369-858E-D224-40E7EE5D62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1027" y="3628339"/>
            <a:ext cx="204826" cy="204826"/>
          </a:xfrm>
          <a:prstGeom prst="rect">
            <a:avLst/>
          </a:prstGeom>
        </p:spPr>
      </p:pic>
      <p:sp>
        <p:nvSpPr>
          <p:cNvPr id="38" name="Text 33">
            <a:extLst>
              <a:ext uri="{FF2B5EF4-FFF2-40B4-BE49-F238E27FC236}">
                <a16:creationId xmlns:a16="http://schemas.microsoft.com/office/drawing/2014/main" id="{047C1F8E-8422-6EE9-7782-B2E757B776F7}"/>
              </a:ext>
            </a:extLst>
          </p:cNvPr>
          <p:cNvSpPr/>
          <p:nvPr/>
        </p:nvSpPr>
        <p:spPr>
          <a:xfrm>
            <a:off x="8747760" y="3547872"/>
            <a:ext cx="290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0067B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named person signs off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84127432-7614-1226-13C7-7F48DEAD0A45}"/>
              </a:ext>
            </a:extLst>
          </p:cNvPr>
          <p:cNvSpPr/>
          <p:nvPr/>
        </p:nvSpPr>
        <p:spPr>
          <a:xfrm>
            <a:off x="8290560" y="3986784"/>
            <a:ext cx="3358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stops at a review gate before its output moves on. Decisions are recorded and survive re-runs of the same document.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5">
            <a:extLst>
              <a:ext uri="{FF2B5EF4-FFF2-40B4-BE49-F238E27FC236}">
                <a16:creationId xmlns:a16="http://schemas.microsoft.com/office/drawing/2014/main" id="{08D142D7-565E-9E73-1F2D-ED6F86ED4006}"/>
              </a:ext>
            </a:extLst>
          </p:cNvPr>
          <p:cNvSpPr/>
          <p:nvPr/>
        </p:nvSpPr>
        <p:spPr>
          <a:xfrm>
            <a:off x="384048" y="4773168"/>
            <a:ext cx="11430000" cy="1005840"/>
          </a:xfrm>
          <a:prstGeom prst="roundRect">
            <a:avLst>
              <a:gd name="adj" fmla="val 6364"/>
            </a:avLst>
          </a:prstGeom>
          <a:solidFill>
            <a:srgbClr val="EAF3FA"/>
          </a:solidFill>
          <a:ln w="12700">
            <a:solidFill>
              <a:srgbClr val="CBE2F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5A303437-102E-91ED-5902-843FE2F5D2C9}"/>
              </a:ext>
            </a:extLst>
          </p:cNvPr>
          <p:cNvSpPr/>
          <p:nvPr/>
        </p:nvSpPr>
        <p:spPr>
          <a:xfrm>
            <a:off x="566928" y="48646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67B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Where both agents run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7">
            <a:extLst>
              <a:ext uri="{FF2B5EF4-FFF2-40B4-BE49-F238E27FC236}">
                <a16:creationId xmlns:a16="http://schemas.microsoft.com/office/drawing/2014/main" id="{DC8A7405-4676-D7AF-2FC0-641A9A26FF49}"/>
              </a:ext>
            </a:extLst>
          </p:cNvPr>
          <p:cNvSpPr/>
          <p:nvPr/>
        </p:nvSpPr>
        <p:spPr>
          <a:xfrm>
            <a:off x="566928" y="5138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Lakeflow Declarative Pipelines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269AC731-B0D0-1225-60B9-C7F6FDE39EF6}"/>
              </a:ext>
            </a:extLst>
          </p:cNvPr>
          <p:cNvSpPr/>
          <p:nvPr/>
        </p:nvSpPr>
        <p:spPr>
          <a:xfrm>
            <a:off x="566928" y="5358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 per agent; each stage re-runnable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39">
            <a:extLst>
              <a:ext uri="{FF2B5EF4-FFF2-40B4-BE49-F238E27FC236}">
                <a16:creationId xmlns:a16="http://schemas.microsoft.com/office/drawing/2014/main" id="{38DA2E50-F97E-89C5-96F2-2F077C09CED8}"/>
              </a:ext>
            </a:extLst>
          </p:cNvPr>
          <p:cNvSpPr/>
          <p:nvPr/>
        </p:nvSpPr>
        <p:spPr>
          <a:xfrm>
            <a:off x="3401568" y="5138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0">
            <a:extLst>
              <a:ext uri="{FF2B5EF4-FFF2-40B4-BE49-F238E27FC236}">
                <a16:creationId xmlns:a16="http://schemas.microsoft.com/office/drawing/2014/main" id="{8E6D4569-B83B-014B-343B-23CF2664027B}"/>
              </a:ext>
            </a:extLst>
          </p:cNvPr>
          <p:cNvSpPr/>
          <p:nvPr/>
        </p:nvSpPr>
        <p:spPr>
          <a:xfrm>
            <a:off x="3401568" y="5358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Delta tables and Volumes own every artifact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1">
            <a:extLst>
              <a:ext uri="{FF2B5EF4-FFF2-40B4-BE49-F238E27FC236}">
                <a16:creationId xmlns:a16="http://schemas.microsoft.com/office/drawing/2014/main" id="{160396C5-C2DB-B852-A64B-0CD8F36C1CC1}"/>
              </a:ext>
            </a:extLst>
          </p:cNvPr>
          <p:cNvSpPr/>
          <p:nvPr/>
        </p:nvSpPr>
        <p:spPr>
          <a:xfrm>
            <a:off x="6236208" y="5138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/ AI Gateway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2">
            <a:extLst>
              <a:ext uri="{FF2B5EF4-FFF2-40B4-BE49-F238E27FC236}">
                <a16:creationId xmlns:a16="http://schemas.microsoft.com/office/drawing/2014/main" id="{70B735A8-A898-5E92-B0C3-AB1711905847}"/>
              </a:ext>
            </a:extLst>
          </p:cNvPr>
          <p:cNvSpPr/>
          <p:nvPr/>
        </p:nvSpPr>
        <p:spPr>
          <a:xfrm>
            <a:off x="6236208" y="5358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Claude-family endpoint each agent calls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3">
            <a:extLst>
              <a:ext uri="{FF2B5EF4-FFF2-40B4-BE49-F238E27FC236}">
                <a16:creationId xmlns:a16="http://schemas.microsoft.com/office/drawing/2014/main" id="{9EF21F46-855B-2CD5-AFCC-2234543290B4}"/>
              </a:ext>
            </a:extLst>
          </p:cNvPr>
          <p:cNvSpPr/>
          <p:nvPr/>
        </p:nvSpPr>
        <p:spPr>
          <a:xfrm>
            <a:off x="9070848" y="5138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Apps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4">
            <a:extLst>
              <a:ext uri="{FF2B5EF4-FFF2-40B4-BE49-F238E27FC236}">
                <a16:creationId xmlns:a16="http://schemas.microsoft.com/office/drawing/2014/main" id="{56D4909E-DB50-D9B2-6043-8F7598F48E6D}"/>
              </a:ext>
            </a:extLst>
          </p:cNvPr>
          <p:cNvSpPr/>
          <p:nvPr/>
        </p:nvSpPr>
        <p:spPr>
          <a:xfrm>
            <a:off x="9070848" y="5358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surface where a person decides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5">
            <a:extLst>
              <a:ext uri="{FF2B5EF4-FFF2-40B4-BE49-F238E27FC236}">
                <a16:creationId xmlns:a16="http://schemas.microsoft.com/office/drawing/2014/main" id="{6D437ED8-9687-06DB-19E0-C448FEB8331F}"/>
              </a:ext>
            </a:extLst>
          </p:cNvPr>
          <p:cNvSpPr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9AA5A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10">
            <a:extLst>
              <a:ext uri="{FF2B5EF4-FFF2-40B4-BE49-F238E27FC236}">
                <a16:creationId xmlns:a16="http://schemas.microsoft.com/office/drawing/2014/main" id="{EF2D829B-B65F-A17F-A506-1203A3D967F6}"/>
              </a:ext>
            </a:extLst>
          </p:cNvPr>
          <p:cNvSpPr/>
          <p:nvPr/>
        </p:nvSpPr>
        <p:spPr>
          <a:xfrm>
            <a:off x="1596929" y="2037726"/>
            <a:ext cx="1389888" cy="422471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6" name="Picture 55" descr="collibra-transparent-logo | Digital Leaders">
            <a:extLst>
              <a:ext uri="{FF2B5EF4-FFF2-40B4-BE49-F238E27FC236}">
                <a16:creationId xmlns:a16="http://schemas.microsoft.com/office/drawing/2014/main" id="{1A508154-D1FA-3DE7-303F-B291F0F727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8528" y="2063297"/>
            <a:ext cx="665223" cy="292452"/>
          </a:xfrm>
          <a:prstGeom prst="rect">
            <a:avLst/>
          </a:prstGeom>
        </p:spPr>
      </p:pic>
      <p:sp>
        <p:nvSpPr>
          <p:cNvPr id="57" name="Right Brace 56">
            <a:extLst>
              <a:ext uri="{FF2B5EF4-FFF2-40B4-BE49-F238E27FC236}">
                <a16:creationId xmlns:a16="http://schemas.microsoft.com/office/drawing/2014/main" id="{01DD8EFA-9C50-5B77-5B31-C40EE3369A34}"/>
              </a:ext>
            </a:extLst>
          </p:cNvPr>
          <p:cNvSpPr/>
          <p:nvPr/>
        </p:nvSpPr>
        <p:spPr>
          <a:xfrm>
            <a:off x="3186684" y="1539891"/>
            <a:ext cx="502920" cy="82659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21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F4094A-D5F3-1E5D-5AB5-0691F4B96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7FDD122-B10E-44BA-022A-381CD450697E}"/>
              </a:ext>
            </a:extLst>
          </p:cNvPr>
          <p:cNvSpPr/>
          <p:nvPr/>
        </p:nvSpPr>
        <p:spPr>
          <a:xfrm>
            <a:off x="329184" y="182880"/>
            <a:ext cx="76325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</a:t>
            </a: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Agent Architecture</a:t>
            </a:r>
            <a:endParaRPr lang="en-US" sz="2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AF8A673-3136-C258-0C4D-C01930C4A7A0}"/>
              </a:ext>
            </a:extLst>
          </p:cNvPr>
          <p:cNvSpPr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C2A98A7-5AF7-41E4-E98B-1A4D4F09924B}"/>
              </a:ext>
            </a:extLst>
          </p:cNvPr>
          <p:cNvSpPr/>
          <p:nvPr/>
        </p:nvSpPr>
        <p:spPr>
          <a:xfrm>
            <a:off x="0" y="704088"/>
            <a:ext cx="12192000" cy="502920"/>
          </a:xfrm>
          <a:prstGeom prst="rect">
            <a:avLst/>
          </a:prstGeom>
          <a:solidFill>
            <a:srgbClr val="0666B1"/>
          </a:solidFill>
          <a:ln>
            <a:solidFill>
              <a:srgbClr val="0666B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The approved STTM becomes deployable artefacts — a PySpark notebook, or DDL and SQL for the existing ingestion framework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5E7DF978-AE57-E052-CC5B-3E158DD70AEE}"/>
              </a:ext>
            </a:extLst>
          </p:cNvPr>
          <p:cNvSpPr/>
          <p:nvPr/>
        </p:nvSpPr>
        <p:spPr>
          <a:xfrm>
            <a:off x="6025344" y="1756384"/>
            <a:ext cx="0" cy="192024"/>
          </a:xfrm>
          <a:prstGeom prst="line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00F272B9-9222-7851-32FA-4EF4DDCD9114}"/>
              </a:ext>
            </a:extLst>
          </p:cNvPr>
          <p:cNvSpPr/>
          <p:nvPr/>
        </p:nvSpPr>
        <p:spPr>
          <a:xfrm>
            <a:off x="6025344" y="1756384"/>
            <a:ext cx="0" cy="192024"/>
          </a:xfrm>
          <a:prstGeom prst="line">
            <a:avLst/>
          </a:prstGeom>
          <a:noFill/>
          <a:ln w="25400">
            <a:solidFill>
              <a:srgbClr val="1D8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A3D202EB-4A65-B14C-2C77-25C72B8FD23F}"/>
              </a:ext>
            </a:extLst>
          </p:cNvPr>
          <p:cNvSpPr/>
          <p:nvPr/>
        </p:nvSpPr>
        <p:spPr>
          <a:xfrm>
            <a:off x="2962104" y="2231872"/>
            <a:ext cx="384048" cy="356616"/>
          </a:xfrm>
          <a:prstGeom prst="curvedConnector3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04BECCCD-66CC-D238-6F8A-69C3AB063F0F}"/>
              </a:ext>
            </a:extLst>
          </p:cNvPr>
          <p:cNvSpPr/>
          <p:nvPr/>
        </p:nvSpPr>
        <p:spPr>
          <a:xfrm>
            <a:off x="2962104" y="2231872"/>
            <a:ext cx="384048" cy="356616"/>
          </a:xfrm>
          <a:prstGeom prst="curvedConnector3">
            <a:avLst/>
          </a:prstGeom>
          <a:noFill/>
          <a:ln w="22225">
            <a:solidFill>
              <a:srgbClr val="9AA1C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A760EA7B-0879-AF91-56BA-92F7AF8914A0}"/>
              </a:ext>
            </a:extLst>
          </p:cNvPr>
          <p:cNvSpPr/>
          <p:nvPr/>
        </p:nvSpPr>
        <p:spPr>
          <a:xfrm flipV="1">
            <a:off x="2962104" y="2954248"/>
            <a:ext cx="384048" cy="146304"/>
          </a:xfrm>
          <a:prstGeom prst="curvedConnector3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70F4A9FA-A812-9809-582F-53FDE291CAC8}"/>
              </a:ext>
            </a:extLst>
          </p:cNvPr>
          <p:cNvSpPr/>
          <p:nvPr/>
        </p:nvSpPr>
        <p:spPr>
          <a:xfrm flipV="1">
            <a:off x="2962104" y="2954248"/>
            <a:ext cx="384048" cy="146304"/>
          </a:xfrm>
          <a:prstGeom prst="curvedConnector3">
            <a:avLst/>
          </a:prstGeom>
          <a:noFill/>
          <a:ln w="22225">
            <a:solidFill>
              <a:srgbClr val="9AA1C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59C9ECFD-219D-411F-2A15-4CE53BE0726F}"/>
              </a:ext>
            </a:extLst>
          </p:cNvPr>
          <p:cNvSpPr/>
          <p:nvPr/>
        </p:nvSpPr>
        <p:spPr>
          <a:xfrm flipV="1">
            <a:off x="2962104" y="3320008"/>
            <a:ext cx="384048" cy="649224"/>
          </a:xfrm>
          <a:prstGeom prst="curvedConnector3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93A20D26-227B-E3B2-E850-050E89205150}"/>
              </a:ext>
            </a:extLst>
          </p:cNvPr>
          <p:cNvSpPr/>
          <p:nvPr/>
        </p:nvSpPr>
        <p:spPr>
          <a:xfrm flipV="1">
            <a:off x="2962104" y="3320008"/>
            <a:ext cx="384048" cy="649224"/>
          </a:xfrm>
          <a:prstGeom prst="curvedConnector3">
            <a:avLst/>
          </a:prstGeom>
          <a:noFill/>
          <a:ln w="22225">
            <a:solidFill>
              <a:srgbClr val="9AA1C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F009B18B-FCB3-C456-56DA-75748302A9CA}"/>
              </a:ext>
            </a:extLst>
          </p:cNvPr>
          <p:cNvSpPr/>
          <p:nvPr/>
        </p:nvSpPr>
        <p:spPr>
          <a:xfrm>
            <a:off x="2911812" y="2181580"/>
            <a:ext cx="100584" cy="100584"/>
          </a:xfrm>
          <a:prstGeom prst="ellipse">
            <a:avLst/>
          </a:prstGeom>
          <a:solidFill>
            <a:srgbClr val="9AA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92866D7B-4406-8F17-8594-0043AAFDC518}"/>
              </a:ext>
            </a:extLst>
          </p:cNvPr>
          <p:cNvSpPr/>
          <p:nvPr/>
        </p:nvSpPr>
        <p:spPr>
          <a:xfrm>
            <a:off x="2911812" y="3050260"/>
            <a:ext cx="100584" cy="100584"/>
          </a:xfrm>
          <a:prstGeom prst="ellipse">
            <a:avLst/>
          </a:prstGeom>
          <a:solidFill>
            <a:srgbClr val="9AA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069B705C-CB59-5629-E485-5091AFE05F6C}"/>
              </a:ext>
            </a:extLst>
          </p:cNvPr>
          <p:cNvSpPr/>
          <p:nvPr/>
        </p:nvSpPr>
        <p:spPr>
          <a:xfrm>
            <a:off x="2911812" y="3918940"/>
            <a:ext cx="100584" cy="100584"/>
          </a:xfrm>
          <a:prstGeom prst="ellipse">
            <a:avLst/>
          </a:prstGeom>
          <a:solidFill>
            <a:srgbClr val="9AA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FCAFDD86-1043-DBC5-EE66-94D8F9A8CBA0}"/>
              </a:ext>
            </a:extLst>
          </p:cNvPr>
          <p:cNvSpPr/>
          <p:nvPr/>
        </p:nvSpPr>
        <p:spPr>
          <a:xfrm flipV="1">
            <a:off x="4882344" y="2771368"/>
            <a:ext cx="320040" cy="155448"/>
          </a:xfrm>
          <a:prstGeom prst="curvedConnector3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B6DE6BBF-A307-63E1-EC34-60DDC250F527}"/>
              </a:ext>
            </a:extLst>
          </p:cNvPr>
          <p:cNvSpPr/>
          <p:nvPr/>
        </p:nvSpPr>
        <p:spPr>
          <a:xfrm flipV="1">
            <a:off x="4882344" y="2771368"/>
            <a:ext cx="320040" cy="155448"/>
          </a:xfrm>
          <a:prstGeom prst="curvedConnector3">
            <a:avLst/>
          </a:prstGeom>
          <a:noFill/>
          <a:ln w="25400">
            <a:solidFill>
              <a:srgbClr val="1D8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5C3E587D-F760-1233-1030-EC3F6149CEE0}"/>
              </a:ext>
            </a:extLst>
          </p:cNvPr>
          <p:cNvSpPr/>
          <p:nvPr/>
        </p:nvSpPr>
        <p:spPr>
          <a:xfrm>
            <a:off x="6848304" y="2794228"/>
            <a:ext cx="1691640" cy="0"/>
          </a:xfrm>
          <a:prstGeom prst="line">
            <a:avLst/>
          </a:prstGeom>
          <a:noFill/>
          <a:ln w="1016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DBC961FB-D682-8F16-135F-8C8D56083A5A}"/>
              </a:ext>
            </a:extLst>
          </p:cNvPr>
          <p:cNvSpPr/>
          <p:nvPr/>
        </p:nvSpPr>
        <p:spPr>
          <a:xfrm>
            <a:off x="6848304" y="2794228"/>
            <a:ext cx="1691640" cy="0"/>
          </a:xfrm>
          <a:prstGeom prst="line">
            <a:avLst/>
          </a:prstGeom>
          <a:noFill/>
          <a:ln w="28575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8C1E968A-CDA9-C8A5-13D0-D8D75E42E8C5}"/>
              </a:ext>
            </a:extLst>
          </p:cNvPr>
          <p:cNvSpPr/>
          <p:nvPr/>
        </p:nvSpPr>
        <p:spPr>
          <a:xfrm>
            <a:off x="7223208" y="2746222"/>
            <a:ext cx="96012" cy="96012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80161E04-4CC8-7007-4D3E-BD26C814CC83}"/>
              </a:ext>
            </a:extLst>
          </p:cNvPr>
          <p:cNvSpPr/>
          <p:nvPr/>
        </p:nvSpPr>
        <p:spPr>
          <a:xfrm>
            <a:off x="7646118" y="2746222"/>
            <a:ext cx="96012" cy="96012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EDA71FEB-FCD9-7E15-35F9-C602D18A3C7D}"/>
              </a:ext>
            </a:extLst>
          </p:cNvPr>
          <p:cNvSpPr/>
          <p:nvPr/>
        </p:nvSpPr>
        <p:spPr>
          <a:xfrm>
            <a:off x="8069028" y="2746222"/>
            <a:ext cx="96012" cy="96012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FE99B121-FAE1-F976-CC07-154EBAD50109}"/>
              </a:ext>
            </a:extLst>
          </p:cNvPr>
          <p:cNvSpPr/>
          <p:nvPr/>
        </p:nvSpPr>
        <p:spPr>
          <a:xfrm>
            <a:off x="6825444" y="2743936"/>
            <a:ext cx="100584" cy="100584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4C4BAE32-5E42-0FEA-6834-80FF4AE6E7BB}"/>
              </a:ext>
            </a:extLst>
          </p:cNvPr>
          <p:cNvSpPr/>
          <p:nvPr/>
        </p:nvSpPr>
        <p:spPr>
          <a:xfrm>
            <a:off x="6025344" y="3594328"/>
            <a:ext cx="0" cy="548640"/>
          </a:xfrm>
          <a:prstGeom prst="line">
            <a:avLst/>
          </a:prstGeom>
          <a:noFill/>
          <a:ln w="4445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10E008E3-6662-F457-FA84-7EE2E9672A76}"/>
              </a:ext>
            </a:extLst>
          </p:cNvPr>
          <p:cNvSpPr/>
          <p:nvPr/>
        </p:nvSpPr>
        <p:spPr>
          <a:xfrm>
            <a:off x="6025344" y="3594328"/>
            <a:ext cx="0" cy="548640"/>
          </a:xfrm>
          <a:prstGeom prst="line">
            <a:avLst/>
          </a:prstGeom>
          <a:noFill/>
          <a:ln w="22225">
            <a:solidFill>
              <a:srgbClr val="9AA1C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6859D1E8-1E92-4CE4-DA90-57400AD10169}"/>
              </a:ext>
            </a:extLst>
          </p:cNvPr>
          <p:cNvSpPr/>
          <p:nvPr/>
        </p:nvSpPr>
        <p:spPr>
          <a:xfrm>
            <a:off x="10002984" y="4005808"/>
            <a:ext cx="0" cy="1755648"/>
          </a:xfrm>
          <a:prstGeom prst="line">
            <a:avLst/>
          </a:prstGeom>
          <a:noFill/>
          <a:ln w="1016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24">
            <a:extLst>
              <a:ext uri="{FF2B5EF4-FFF2-40B4-BE49-F238E27FC236}">
                <a16:creationId xmlns:a16="http://schemas.microsoft.com/office/drawing/2014/main" id="{03EA4EE6-BE5F-0E89-EAB2-7BA685B41632}"/>
              </a:ext>
            </a:extLst>
          </p:cNvPr>
          <p:cNvSpPr/>
          <p:nvPr/>
        </p:nvSpPr>
        <p:spPr>
          <a:xfrm>
            <a:off x="10002984" y="4005808"/>
            <a:ext cx="0" cy="1755648"/>
          </a:xfrm>
          <a:prstGeom prst="line">
            <a:avLst/>
          </a:prstGeom>
          <a:noFill/>
          <a:ln w="28575">
            <a:solidFill>
              <a:srgbClr val="1D8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25">
            <a:extLst>
              <a:ext uri="{FF2B5EF4-FFF2-40B4-BE49-F238E27FC236}">
                <a16:creationId xmlns:a16="http://schemas.microsoft.com/office/drawing/2014/main" id="{26BC2501-BE00-73F9-83FC-997AB2A7799A}"/>
              </a:ext>
            </a:extLst>
          </p:cNvPr>
          <p:cNvSpPr/>
          <p:nvPr/>
        </p:nvSpPr>
        <p:spPr>
          <a:xfrm>
            <a:off x="9954978" y="4396714"/>
            <a:ext cx="96012" cy="96012"/>
          </a:xfrm>
          <a:prstGeom prst="ellipse">
            <a:avLst/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26">
            <a:extLst>
              <a:ext uri="{FF2B5EF4-FFF2-40B4-BE49-F238E27FC236}">
                <a16:creationId xmlns:a16="http://schemas.microsoft.com/office/drawing/2014/main" id="{A1D2E866-6A0C-E191-A676-E49A8D6F9107}"/>
              </a:ext>
            </a:extLst>
          </p:cNvPr>
          <p:cNvSpPr/>
          <p:nvPr/>
        </p:nvSpPr>
        <p:spPr>
          <a:xfrm>
            <a:off x="9954978" y="4835626"/>
            <a:ext cx="96012" cy="96012"/>
          </a:xfrm>
          <a:prstGeom prst="ellipse">
            <a:avLst/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27">
            <a:extLst>
              <a:ext uri="{FF2B5EF4-FFF2-40B4-BE49-F238E27FC236}">
                <a16:creationId xmlns:a16="http://schemas.microsoft.com/office/drawing/2014/main" id="{2F112AA3-76DF-CF78-CAD1-1ED63B9C2842}"/>
              </a:ext>
            </a:extLst>
          </p:cNvPr>
          <p:cNvSpPr/>
          <p:nvPr/>
        </p:nvSpPr>
        <p:spPr>
          <a:xfrm>
            <a:off x="9954978" y="5274538"/>
            <a:ext cx="96012" cy="96012"/>
          </a:xfrm>
          <a:prstGeom prst="ellipse">
            <a:avLst/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28">
            <a:extLst>
              <a:ext uri="{FF2B5EF4-FFF2-40B4-BE49-F238E27FC236}">
                <a16:creationId xmlns:a16="http://schemas.microsoft.com/office/drawing/2014/main" id="{63E8756A-9862-9C5B-7874-6AAD0FF92FB9}"/>
              </a:ext>
            </a:extLst>
          </p:cNvPr>
          <p:cNvSpPr/>
          <p:nvPr/>
        </p:nvSpPr>
        <p:spPr>
          <a:xfrm flipV="1">
            <a:off x="9952692" y="4083532"/>
            <a:ext cx="50285" cy="59436"/>
          </a:xfrm>
          <a:prstGeom prst="ellipse">
            <a:avLst/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29">
            <a:extLst>
              <a:ext uri="{FF2B5EF4-FFF2-40B4-BE49-F238E27FC236}">
                <a16:creationId xmlns:a16="http://schemas.microsoft.com/office/drawing/2014/main" id="{53C4F8D8-B4C6-74B5-F0CC-C056EA654291}"/>
              </a:ext>
            </a:extLst>
          </p:cNvPr>
          <p:cNvSpPr/>
          <p:nvPr/>
        </p:nvSpPr>
        <p:spPr>
          <a:xfrm flipV="1">
            <a:off x="401784" y="4764760"/>
            <a:ext cx="411480" cy="1371600"/>
          </a:xfrm>
          <a:prstGeom prst="curvedConnector3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30">
            <a:extLst>
              <a:ext uri="{FF2B5EF4-FFF2-40B4-BE49-F238E27FC236}">
                <a16:creationId xmlns:a16="http://schemas.microsoft.com/office/drawing/2014/main" id="{FE53F064-14A6-637E-CD60-257E463FF9BF}"/>
              </a:ext>
            </a:extLst>
          </p:cNvPr>
          <p:cNvSpPr/>
          <p:nvPr/>
        </p:nvSpPr>
        <p:spPr>
          <a:xfrm flipV="1">
            <a:off x="401784" y="4764760"/>
            <a:ext cx="411480" cy="1371600"/>
          </a:xfrm>
          <a:prstGeom prst="curvedConnector3">
            <a:avLst/>
          </a:prstGeom>
          <a:noFill/>
          <a:ln w="22225">
            <a:solidFill>
              <a:srgbClr val="14CBD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31">
            <a:extLst>
              <a:ext uri="{FF2B5EF4-FFF2-40B4-BE49-F238E27FC236}">
                <a16:creationId xmlns:a16="http://schemas.microsoft.com/office/drawing/2014/main" id="{1FA87397-6C86-773C-392E-D78AEA50563D}"/>
              </a:ext>
            </a:extLst>
          </p:cNvPr>
          <p:cNvSpPr/>
          <p:nvPr/>
        </p:nvSpPr>
        <p:spPr>
          <a:xfrm>
            <a:off x="401784" y="6136360"/>
            <a:ext cx="411480" cy="0"/>
          </a:xfrm>
          <a:prstGeom prst="line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32">
            <a:extLst>
              <a:ext uri="{FF2B5EF4-FFF2-40B4-BE49-F238E27FC236}">
                <a16:creationId xmlns:a16="http://schemas.microsoft.com/office/drawing/2014/main" id="{60710951-4BBC-C6D9-0B8B-A13C3B7B8FBF}"/>
              </a:ext>
            </a:extLst>
          </p:cNvPr>
          <p:cNvSpPr/>
          <p:nvPr/>
        </p:nvSpPr>
        <p:spPr>
          <a:xfrm>
            <a:off x="401784" y="6136360"/>
            <a:ext cx="411480" cy="0"/>
          </a:xfrm>
          <a:prstGeom prst="line">
            <a:avLst/>
          </a:prstGeom>
          <a:noFill/>
          <a:ln w="22225">
            <a:solidFill>
              <a:srgbClr val="14CBD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33">
            <a:extLst>
              <a:ext uri="{FF2B5EF4-FFF2-40B4-BE49-F238E27FC236}">
                <a16:creationId xmlns:a16="http://schemas.microsoft.com/office/drawing/2014/main" id="{BF74BAFE-2BF9-2608-5EF5-E7A8296AD9C3}"/>
              </a:ext>
            </a:extLst>
          </p:cNvPr>
          <p:cNvSpPr/>
          <p:nvPr/>
        </p:nvSpPr>
        <p:spPr>
          <a:xfrm>
            <a:off x="762972" y="6086068"/>
            <a:ext cx="100584" cy="100584"/>
          </a:xfrm>
          <a:prstGeom prst="ellipse">
            <a:avLst/>
          </a:prstGeom>
          <a:solidFill>
            <a:srgbClr val="14CB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34">
            <a:extLst>
              <a:ext uri="{FF2B5EF4-FFF2-40B4-BE49-F238E27FC236}">
                <a16:creationId xmlns:a16="http://schemas.microsoft.com/office/drawing/2014/main" id="{2C2155F0-A914-7EEB-3D41-E172AB90F76D}"/>
              </a:ext>
            </a:extLst>
          </p:cNvPr>
          <p:cNvSpPr/>
          <p:nvPr/>
        </p:nvSpPr>
        <p:spPr>
          <a:xfrm>
            <a:off x="4470864" y="1244320"/>
            <a:ext cx="3108960" cy="512064"/>
          </a:xfrm>
          <a:prstGeom prst="roundRect">
            <a:avLst>
              <a:gd name="adj" fmla="val 16071"/>
            </a:avLst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3" name="Image 0" descr="/home/claude/sttm/logos/ic_user.png">
            <a:extLst>
              <a:ext uri="{FF2B5EF4-FFF2-40B4-BE49-F238E27FC236}">
                <a16:creationId xmlns:a16="http://schemas.microsoft.com/office/drawing/2014/main" id="{50750A2B-1077-4D67-934E-D83F30813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176" y="1381480"/>
            <a:ext cx="237744" cy="237744"/>
          </a:xfrm>
          <a:prstGeom prst="rect">
            <a:avLst/>
          </a:prstGeom>
        </p:spPr>
      </p:pic>
      <p:sp>
        <p:nvSpPr>
          <p:cNvPr id="75" name="Text 35">
            <a:extLst>
              <a:ext uri="{FF2B5EF4-FFF2-40B4-BE49-F238E27FC236}">
                <a16:creationId xmlns:a16="http://schemas.microsoft.com/office/drawing/2014/main" id="{01664B73-B1C1-5967-9269-4851C3E28CC7}"/>
              </a:ext>
            </a:extLst>
          </p:cNvPr>
          <p:cNvSpPr/>
          <p:nvPr/>
        </p:nvSpPr>
        <p:spPr>
          <a:xfrm>
            <a:off x="5019504" y="12626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starts a run</a:t>
            </a:r>
            <a:endParaRPr lang="en-US" sz="1150"/>
          </a:p>
        </p:txBody>
      </p:sp>
      <p:sp>
        <p:nvSpPr>
          <p:cNvPr id="77" name="Text 36">
            <a:extLst>
              <a:ext uri="{FF2B5EF4-FFF2-40B4-BE49-F238E27FC236}">
                <a16:creationId xmlns:a16="http://schemas.microsoft.com/office/drawing/2014/main" id="{A775FB13-48F5-4C39-9A25-73FDA3D97D92}"/>
              </a:ext>
            </a:extLst>
          </p:cNvPr>
          <p:cNvSpPr/>
          <p:nvPr/>
        </p:nvSpPr>
        <p:spPr>
          <a:xfrm>
            <a:off x="5019504" y="150035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D4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 · one approved STTM per run</a:t>
            </a:r>
            <a:endParaRPr lang="en-US" sz="850"/>
          </a:p>
        </p:txBody>
      </p:sp>
      <p:sp>
        <p:nvSpPr>
          <p:cNvPr id="79" name="Text 37">
            <a:extLst>
              <a:ext uri="{FF2B5EF4-FFF2-40B4-BE49-F238E27FC236}">
                <a16:creationId xmlns:a16="http://schemas.microsoft.com/office/drawing/2014/main" id="{FAAF1D73-6C3B-5E99-276E-005A1E982015}"/>
              </a:ext>
            </a:extLst>
          </p:cNvPr>
          <p:cNvSpPr/>
          <p:nvPr/>
        </p:nvSpPr>
        <p:spPr>
          <a:xfrm>
            <a:off x="813264" y="15186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>
                <a:solidFill>
                  <a:srgbClr val="3C2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INPUTS</a:t>
            </a:r>
            <a:endParaRPr lang="en-US" sz="950"/>
          </a:p>
        </p:txBody>
      </p:sp>
      <p:sp>
        <p:nvSpPr>
          <p:cNvPr id="81" name="Shape 38">
            <a:extLst>
              <a:ext uri="{FF2B5EF4-FFF2-40B4-BE49-F238E27FC236}">
                <a16:creationId xmlns:a16="http://schemas.microsoft.com/office/drawing/2014/main" id="{25A9F076-4341-A3C8-8EE4-F45A5D359314}"/>
              </a:ext>
            </a:extLst>
          </p:cNvPr>
          <p:cNvSpPr/>
          <p:nvPr/>
        </p:nvSpPr>
        <p:spPr>
          <a:xfrm>
            <a:off x="813264" y="1856968"/>
            <a:ext cx="2148840" cy="749808"/>
          </a:xfrm>
          <a:prstGeom prst="roundRect">
            <a:avLst>
              <a:gd name="adj" fmla="val 9756"/>
            </a:avLst>
          </a:prstGeom>
          <a:solidFill>
            <a:srgbClr val="F5F6FB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3" name="Image 1" descr="/home/claude/sttm/logos/excel.png">
            <a:extLst>
              <a:ext uri="{FF2B5EF4-FFF2-40B4-BE49-F238E27FC236}">
                <a16:creationId xmlns:a16="http://schemas.microsoft.com/office/drawing/2014/main" id="{D38D643E-83A2-CE34-F866-5FE5501272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000" y="2048992"/>
            <a:ext cx="347472" cy="347472"/>
          </a:xfrm>
          <a:prstGeom prst="rect">
            <a:avLst/>
          </a:prstGeom>
        </p:spPr>
      </p:pic>
      <p:sp>
        <p:nvSpPr>
          <p:cNvPr id="85" name="Text 39">
            <a:extLst>
              <a:ext uri="{FF2B5EF4-FFF2-40B4-BE49-F238E27FC236}">
                <a16:creationId xmlns:a16="http://schemas.microsoft.com/office/drawing/2014/main" id="{0D496C1E-8FA4-214C-A484-314F44DC5FAD}"/>
              </a:ext>
            </a:extLst>
          </p:cNvPr>
          <p:cNvSpPr/>
          <p:nvPr/>
        </p:nvSpPr>
        <p:spPr>
          <a:xfrm>
            <a:off x="1462488" y="1966696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STTM, FRD</a:t>
            </a:r>
            <a:endParaRPr lang="en-US" sz="1050"/>
          </a:p>
        </p:txBody>
      </p:sp>
      <p:sp>
        <p:nvSpPr>
          <p:cNvPr id="87" name="Text 40">
            <a:extLst>
              <a:ext uri="{FF2B5EF4-FFF2-40B4-BE49-F238E27FC236}">
                <a16:creationId xmlns:a16="http://schemas.microsoft.com/office/drawing/2014/main" id="{B5812166-61E8-AB0E-A87A-332FE5E572A2}"/>
              </a:ext>
            </a:extLst>
          </p:cNvPr>
          <p:cNvSpPr/>
          <p:nvPr/>
        </p:nvSpPr>
        <p:spPr>
          <a:xfrm>
            <a:off x="1462488" y="220444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Signed-off mapping from the STTM agent</a:t>
            </a:r>
            <a:endParaRPr lang="en-US" sz="760"/>
          </a:p>
        </p:txBody>
      </p:sp>
      <p:sp>
        <p:nvSpPr>
          <p:cNvPr id="89" name="Shape 41">
            <a:extLst>
              <a:ext uri="{FF2B5EF4-FFF2-40B4-BE49-F238E27FC236}">
                <a16:creationId xmlns:a16="http://schemas.microsoft.com/office/drawing/2014/main" id="{425ABA9F-EA1E-F842-2DB7-1D7D0366C6F2}"/>
              </a:ext>
            </a:extLst>
          </p:cNvPr>
          <p:cNvSpPr/>
          <p:nvPr/>
        </p:nvSpPr>
        <p:spPr>
          <a:xfrm>
            <a:off x="813264" y="2725648"/>
            <a:ext cx="2148840" cy="749808"/>
          </a:xfrm>
          <a:prstGeom prst="roundRect">
            <a:avLst>
              <a:gd name="adj" fmla="val 9756"/>
            </a:avLst>
          </a:prstGeom>
          <a:solidFill>
            <a:srgbClr val="F5F6FB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42">
            <a:extLst>
              <a:ext uri="{FF2B5EF4-FFF2-40B4-BE49-F238E27FC236}">
                <a16:creationId xmlns:a16="http://schemas.microsoft.com/office/drawing/2014/main" id="{40F7BDC7-69F2-49B7-E87D-2437147E55CD}"/>
              </a:ext>
            </a:extLst>
          </p:cNvPr>
          <p:cNvSpPr/>
          <p:nvPr/>
        </p:nvSpPr>
        <p:spPr>
          <a:xfrm>
            <a:off x="987000" y="2917672"/>
            <a:ext cx="347472" cy="347472"/>
          </a:xfrm>
          <a:prstGeom prst="ellipse">
            <a:avLst/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3" name="Image 2" descr="/home/claude/sttm/logos/ic_model.png">
            <a:extLst>
              <a:ext uri="{FF2B5EF4-FFF2-40B4-BE49-F238E27FC236}">
                <a16:creationId xmlns:a16="http://schemas.microsoft.com/office/drawing/2014/main" id="{E536131F-25ED-137E-A621-3162190FC3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012" y="3013684"/>
            <a:ext cx="155448" cy="155448"/>
          </a:xfrm>
          <a:prstGeom prst="rect">
            <a:avLst/>
          </a:prstGeom>
        </p:spPr>
      </p:pic>
      <p:sp>
        <p:nvSpPr>
          <p:cNvPr id="95" name="Text 43">
            <a:extLst>
              <a:ext uri="{FF2B5EF4-FFF2-40B4-BE49-F238E27FC236}">
                <a16:creationId xmlns:a16="http://schemas.microsoft.com/office/drawing/2014/main" id="{D830ECCD-7B1F-4FA2-E43A-D6BD55BC3540}"/>
              </a:ext>
            </a:extLst>
          </p:cNvPr>
          <p:cNvSpPr/>
          <p:nvPr/>
        </p:nvSpPr>
        <p:spPr>
          <a:xfrm>
            <a:off x="1462488" y="2835376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050"/>
          </a:p>
        </p:txBody>
      </p:sp>
      <p:sp>
        <p:nvSpPr>
          <p:cNvPr id="97" name="Text 44">
            <a:extLst>
              <a:ext uri="{FF2B5EF4-FFF2-40B4-BE49-F238E27FC236}">
                <a16:creationId xmlns:a16="http://schemas.microsoft.com/office/drawing/2014/main" id="{CEA99408-5BCF-2067-DA40-978EC712D407}"/>
              </a:ext>
            </a:extLst>
          </p:cNvPr>
          <p:cNvSpPr/>
          <p:nvPr/>
        </p:nvSpPr>
        <p:spPr>
          <a:xfrm>
            <a:off x="1462488" y="307312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schemas, DDL &amp; naming standards</a:t>
            </a:r>
            <a:endParaRPr lang="en-US" sz="760"/>
          </a:p>
        </p:txBody>
      </p:sp>
      <p:sp>
        <p:nvSpPr>
          <p:cNvPr id="99" name="Shape 45">
            <a:extLst>
              <a:ext uri="{FF2B5EF4-FFF2-40B4-BE49-F238E27FC236}">
                <a16:creationId xmlns:a16="http://schemas.microsoft.com/office/drawing/2014/main" id="{AF0CD04E-0EFD-89AC-46D0-FA4948A5457F}"/>
              </a:ext>
            </a:extLst>
          </p:cNvPr>
          <p:cNvSpPr/>
          <p:nvPr/>
        </p:nvSpPr>
        <p:spPr>
          <a:xfrm>
            <a:off x="813264" y="3594328"/>
            <a:ext cx="2148840" cy="749808"/>
          </a:xfrm>
          <a:prstGeom prst="roundRect">
            <a:avLst>
              <a:gd name="adj" fmla="val 9756"/>
            </a:avLst>
          </a:prstGeom>
          <a:solidFill>
            <a:srgbClr val="F5F6FB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46">
            <a:extLst>
              <a:ext uri="{FF2B5EF4-FFF2-40B4-BE49-F238E27FC236}">
                <a16:creationId xmlns:a16="http://schemas.microsoft.com/office/drawing/2014/main" id="{F9674F82-35EE-29CF-DBBE-7C98EA4FE7E4}"/>
              </a:ext>
            </a:extLst>
          </p:cNvPr>
          <p:cNvSpPr/>
          <p:nvPr/>
        </p:nvSpPr>
        <p:spPr>
          <a:xfrm>
            <a:off x="987000" y="3786352"/>
            <a:ext cx="347472" cy="347472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Text 47">
            <a:extLst>
              <a:ext uri="{FF2B5EF4-FFF2-40B4-BE49-F238E27FC236}">
                <a16:creationId xmlns:a16="http://schemas.microsoft.com/office/drawing/2014/main" id="{E933B19F-D7C4-2168-D554-2A69A02EBE3B}"/>
              </a:ext>
            </a:extLst>
          </p:cNvPr>
          <p:cNvSpPr/>
          <p:nvPr/>
        </p:nvSpPr>
        <p:spPr>
          <a:xfrm>
            <a:off x="1462488" y="3704056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Collibra</a:t>
            </a:r>
            <a:endParaRPr lang="en-US" sz="1050"/>
          </a:p>
        </p:txBody>
      </p:sp>
      <p:sp>
        <p:nvSpPr>
          <p:cNvPr id="107" name="Text 48">
            <a:extLst>
              <a:ext uri="{FF2B5EF4-FFF2-40B4-BE49-F238E27FC236}">
                <a16:creationId xmlns:a16="http://schemas.microsoft.com/office/drawing/2014/main" id="{6F3D02C1-5B24-A7A5-6642-1DEF1E0AEEB4}"/>
              </a:ext>
            </a:extLst>
          </p:cNvPr>
          <p:cNvSpPr/>
          <p:nvPr/>
        </p:nvSpPr>
        <p:spPr>
          <a:xfrm>
            <a:off x="1462488" y="394180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Glossary, classifications &amp; data policies</a:t>
            </a:r>
            <a:endParaRPr lang="en-US" sz="760"/>
          </a:p>
        </p:txBody>
      </p:sp>
      <p:sp>
        <p:nvSpPr>
          <p:cNvPr id="109" name="Shape 49">
            <a:extLst>
              <a:ext uri="{FF2B5EF4-FFF2-40B4-BE49-F238E27FC236}">
                <a16:creationId xmlns:a16="http://schemas.microsoft.com/office/drawing/2014/main" id="{BDE0CC38-BABF-0BED-A7F6-BCE0C05D63AF}"/>
              </a:ext>
            </a:extLst>
          </p:cNvPr>
          <p:cNvSpPr/>
          <p:nvPr/>
        </p:nvSpPr>
        <p:spPr>
          <a:xfrm>
            <a:off x="813264" y="4481296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4CBD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11" name="Image 4" descr="/home/claude/sttm/logos/ic_layers.png">
            <a:extLst>
              <a:ext uri="{FF2B5EF4-FFF2-40B4-BE49-F238E27FC236}">
                <a16:creationId xmlns:a16="http://schemas.microsoft.com/office/drawing/2014/main" id="{3EF103E1-89E9-9E6A-DFAC-46296D3919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712" y="4618456"/>
            <a:ext cx="292608" cy="292608"/>
          </a:xfrm>
          <a:prstGeom prst="rect">
            <a:avLst/>
          </a:prstGeom>
        </p:spPr>
      </p:pic>
      <p:sp>
        <p:nvSpPr>
          <p:cNvPr id="113" name="Shape 50">
            <a:extLst>
              <a:ext uri="{FF2B5EF4-FFF2-40B4-BE49-F238E27FC236}">
                <a16:creationId xmlns:a16="http://schemas.microsoft.com/office/drawing/2014/main" id="{F302EF5E-3658-CBED-04C5-73D9B620C7D1}"/>
              </a:ext>
            </a:extLst>
          </p:cNvPr>
          <p:cNvSpPr/>
          <p:nvPr/>
        </p:nvSpPr>
        <p:spPr>
          <a:xfrm>
            <a:off x="950424" y="4600168"/>
            <a:ext cx="329184" cy="329184"/>
          </a:xfrm>
          <a:prstGeom prst="ellipse">
            <a:avLst/>
          </a:prstGeom>
          <a:solidFill>
            <a:srgbClr val="14CB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5" name="Image 5" descr="/home/claude/sttm/logos/ic_layers.png">
            <a:extLst>
              <a:ext uri="{FF2B5EF4-FFF2-40B4-BE49-F238E27FC236}">
                <a16:creationId xmlns:a16="http://schemas.microsoft.com/office/drawing/2014/main" id="{FD98A9B0-4F09-F7CC-A1D7-5BFD07E54E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720" y="4682464"/>
            <a:ext cx="164592" cy="164592"/>
          </a:xfrm>
          <a:prstGeom prst="rect">
            <a:avLst/>
          </a:prstGeom>
        </p:spPr>
      </p:pic>
      <p:sp>
        <p:nvSpPr>
          <p:cNvPr id="117" name="Text 51">
            <a:extLst>
              <a:ext uri="{FF2B5EF4-FFF2-40B4-BE49-F238E27FC236}">
                <a16:creationId xmlns:a16="http://schemas.microsoft.com/office/drawing/2014/main" id="{D73FC2B3-6396-FFB2-2B0A-F442A767D06F}"/>
              </a:ext>
            </a:extLst>
          </p:cNvPr>
          <p:cNvSpPr/>
          <p:nvPr/>
        </p:nvSpPr>
        <p:spPr>
          <a:xfrm>
            <a:off x="1389336" y="45361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71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library</a:t>
            </a:r>
            <a:endParaRPr lang="en-US" sz="880" dirty="0"/>
          </a:p>
        </p:txBody>
      </p:sp>
      <p:sp>
        <p:nvSpPr>
          <p:cNvPr id="119" name="Text 52">
            <a:extLst>
              <a:ext uri="{FF2B5EF4-FFF2-40B4-BE49-F238E27FC236}">
                <a16:creationId xmlns:a16="http://schemas.microsoft.com/office/drawing/2014/main" id="{38D2D75A-C80A-5C5E-1AE5-A2ADD01A06A3}"/>
              </a:ext>
            </a:extLst>
          </p:cNvPr>
          <p:cNvSpPr/>
          <p:nvPr/>
        </p:nvSpPr>
        <p:spPr>
          <a:xfrm>
            <a:off x="1389336" y="47373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and coding standards, sample notebooks</a:t>
            </a:r>
            <a:endParaRPr lang="en-US" sz="720" dirty="0"/>
          </a:p>
        </p:txBody>
      </p:sp>
      <p:sp>
        <p:nvSpPr>
          <p:cNvPr id="121" name="Shape 53">
            <a:extLst>
              <a:ext uri="{FF2B5EF4-FFF2-40B4-BE49-F238E27FC236}">
                <a16:creationId xmlns:a16="http://schemas.microsoft.com/office/drawing/2014/main" id="{884DFE60-BDFD-1BFC-C428-831919EFEB04}"/>
              </a:ext>
            </a:extLst>
          </p:cNvPr>
          <p:cNvSpPr/>
          <p:nvPr/>
        </p:nvSpPr>
        <p:spPr>
          <a:xfrm>
            <a:off x="3346152" y="2268448"/>
            <a:ext cx="1536192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9050">
            <a:solidFill>
              <a:srgbClr val="1D8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54">
            <a:extLst>
              <a:ext uri="{FF2B5EF4-FFF2-40B4-BE49-F238E27FC236}">
                <a16:creationId xmlns:a16="http://schemas.microsoft.com/office/drawing/2014/main" id="{9B8D62AD-A596-28F0-2B58-4DC086C05AFE}"/>
              </a:ext>
            </a:extLst>
          </p:cNvPr>
          <p:cNvSpPr/>
          <p:nvPr/>
        </p:nvSpPr>
        <p:spPr>
          <a:xfrm>
            <a:off x="3949656" y="2414752"/>
            <a:ext cx="329184" cy="329184"/>
          </a:xfrm>
          <a:prstGeom prst="ellipse">
            <a:avLst/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5" name="Image 6" descr="/home/claude/sttm/logos/ic_plug.png">
            <a:extLst>
              <a:ext uri="{FF2B5EF4-FFF2-40B4-BE49-F238E27FC236}">
                <a16:creationId xmlns:a16="http://schemas.microsoft.com/office/drawing/2014/main" id="{19B35F54-B70E-4E15-1A60-8BA770A613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0182" y="2505278"/>
            <a:ext cx="148133" cy="148133"/>
          </a:xfrm>
          <a:prstGeom prst="rect">
            <a:avLst/>
          </a:prstGeom>
        </p:spPr>
      </p:pic>
      <p:sp>
        <p:nvSpPr>
          <p:cNvPr id="127" name="Text 55">
            <a:extLst>
              <a:ext uri="{FF2B5EF4-FFF2-40B4-BE49-F238E27FC236}">
                <a16:creationId xmlns:a16="http://schemas.microsoft.com/office/drawing/2014/main" id="{1E7B5333-0CCB-86BD-07A9-B0582EDFE1C5}"/>
              </a:ext>
            </a:extLst>
          </p:cNvPr>
          <p:cNvSpPr/>
          <p:nvPr/>
        </p:nvSpPr>
        <p:spPr>
          <a:xfrm>
            <a:off x="3401016" y="281708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71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layer</a:t>
            </a:r>
            <a:endParaRPr lang="en-US" sz="900"/>
          </a:p>
        </p:txBody>
      </p:sp>
      <p:sp>
        <p:nvSpPr>
          <p:cNvPr id="129" name="Text 56">
            <a:extLst>
              <a:ext uri="{FF2B5EF4-FFF2-40B4-BE49-F238E27FC236}">
                <a16:creationId xmlns:a16="http://schemas.microsoft.com/office/drawing/2014/main" id="{6B6D0365-2F2E-A05B-50E8-6280DEC4E496}"/>
              </a:ext>
            </a:extLst>
          </p:cNvPr>
          <p:cNvSpPr/>
          <p:nvPr/>
        </p:nvSpPr>
        <p:spPr>
          <a:xfrm>
            <a:off x="3419304" y="3036544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services expose each system through one pattern</a:t>
            </a:r>
            <a:endParaRPr lang="en-US" sz="720"/>
          </a:p>
        </p:txBody>
      </p:sp>
      <p:sp>
        <p:nvSpPr>
          <p:cNvPr id="131" name="Shape 57">
            <a:extLst>
              <a:ext uri="{FF2B5EF4-FFF2-40B4-BE49-F238E27FC236}">
                <a16:creationId xmlns:a16="http://schemas.microsoft.com/office/drawing/2014/main" id="{C558D096-FFA6-1870-7D7F-5F8DAA49DEEC}"/>
              </a:ext>
            </a:extLst>
          </p:cNvPr>
          <p:cNvSpPr/>
          <p:nvPr/>
        </p:nvSpPr>
        <p:spPr>
          <a:xfrm>
            <a:off x="5019504" y="1765528"/>
            <a:ext cx="2011680" cy="2011680"/>
          </a:xfrm>
          <a:prstGeom prst="ellipse">
            <a:avLst/>
          </a:prstGeom>
          <a:solidFill>
            <a:srgbClr val="E6E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Shape 58">
            <a:extLst>
              <a:ext uri="{FF2B5EF4-FFF2-40B4-BE49-F238E27FC236}">
                <a16:creationId xmlns:a16="http://schemas.microsoft.com/office/drawing/2014/main" id="{6AA49027-8D00-5FF8-FCB4-DEFDA3E77E10}"/>
              </a:ext>
            </a:extLst>
          </p:cNvPr>
          <p:cNvSpPr/>
          <p:nvPr/>
        </p:nvSpPr>
        <p:spPr>
          <a:xfrm>
            <a:off x="5202384" y="1948408"/>
            <a:ext cx="1645920" cy="1645920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5" name="Image 7" descr="/home/claude/sttm/logos/ic_brain.png">
            <a:extLst>
              <a:ext uri="{FF2B5EF4-FFF2-40B4-BE49-F238E27FC236}">
                <a16:creationId xmlns:a16="http://schemas.microsoft.com/office/drawing/2014/main" id="{6E9861E7-6F15-2634-2BCB-EB9A2653C8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5888" y="2195296"/>
            <a:ext cx="438912" cy="438912"/>
          </a:xfrm>
          <a:prstGeom prst="rect">
            <a:avLst/>
          </a:prstGeom>
        </p:spPr>
      </p:pic>
      <p:sp>
        <p:nvSpPr>
          <p:cNvPr id="137" name="Text 59">
            <a:extLst>
              <a:ext uri="{FF2B5EF4-FFF2-40B4-BE49-F238E27FC236}">
                <a16:creationId xmlns:a16="http://schemas.microsoft.com/office/drawing/2014/main" id="{89A83643-B5C4-249B-03E4-F017D447EA21}"/>
              </a:ext>
            </a:extLst>
          </p:cNvPr>
          <p:cNvSpPr/>
          <p:nvPr/>
        </p:nvSpPr>
        <p:spPr>
          <a:xfrm>
            <a:off x="5275536" y="26890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 Agent</a:t>
            </a:r>
            <a:endParaRPr lang="en-US" sz="1300"/>
          </a:p>
        </p:txBody>
      </p:sp>
      <p:sp>
        <p:nvSpPr>
          <p:cNvPr id="139" name="Text 60">
            <a:extLst>
              <a:ext uri="{FF2B5EF4-FFF2-40B4-BE49-F238E27FC236}">
                <a16:creationId xmlns:a16="http://schemas.microsoft.com/office/drawing/2014/main" id="{EE3E49C9-1DFE-56CB-F0D0-A444F8C1187A}"/>
              </a:ext>
            </a:extLst>
          </p:cNvPr>
          <p:cNvSpPr/>
          <p:nvPr/>
        </p:nvSpPr>
        <p:spPr>
          <a:xfrm>
            <a:off x="5229816" y="2963392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>
                <a:solidFill>
                  <a:srgbClr val="D6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serverless job</a:t>
            </a:r>
            <a:endParaRPr lang="en-US" sz="820"/>
          </a:p>
          <a:p>
            <a:pPr marL="0" indent="0" algn="ctr">
              <a:buNone/>
            </a:pPr>
            <a:r>
              <a:rPr lang="en-US" sz="820">
                <a:solidFill>
                  <a:srgbClr val="D6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 · one model call</a:t>
            </a:r>
            <a:endParaRPr lang="en-US" sz="820"/>
          </a:p>
        </p:txBody>
      </p:sp>
      <p:sp>
        <p:nvSpPr>
          <p:cNvPr id="141" name="Shape 61">
            <a:extLst>
              <a:ext uri="{FF2B5EF4-FFF2-40B4-BE49-F238E27FC236}">
                <a16:creationId xmlns:a16="http://schemas.microsoft.com/office/drawing/2014/main" id="{AE4F23A0-5917-86F0-D71D-6CE4424EAAEA}"/>
              </a:ext>
            </a:extLst>
          </p:cNvPr>
          <p:cNvSpPr/>
          <p:nvPr/>
        </p:nvSpPr>
        <p:spPr>
          <a:xfrm>
            <a:off x="4393140" y="3685768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ED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Text 62">
            <a:extLst>
              <a:ext uri="{FF2B5EF4-FFF2-40B4-BE49-F238E27FC236}">
                <a16:creationId xmlns:a16="http://schemas.microsoft.com/office/drawing/2014/main" id="{27525FFC-5F9A-F9A2-AAC7-7DFDE4C0582C}"/>
              </a:ext>
            </a:extLst>
          </p:cNvPr>
          <p:cNvSpPr/>
          <p:nvPr/>
        </p:nvSpPr>
        <p:spPr>
          <a:xfrm>
            <a:off x="4393140" y="3685768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>
                <a:solidFill>
                  <a:srgbClr val="071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760"/>
          </a:p>
        </p:txBody>
      </p:sp>
      <p:sp>
        <p:nvSpPr>
          <p:cNvPr id="145" name="Shape 63">
            <a:extLst>
              <a:ext uri="{FF2B5EF4-FFF2-40B4-BE49-F238E27FC236}">
                <a16:creationId xmlns:a16="http://schemas.microsoft.com/office/drawing/2014/main" id="{E98FB9A0-B670-B3EB-8CE6-752AB22ADE63}"/>
              </a:ext>
            </a:extLst>
          </p:cNvPr>
          <p:cNvSpPr/>
          <p:nvPr/>
        </p:nvSpPr>
        <p:spPr>
          <a:xfrm>
            <a:off x="5225244" y="3685768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ED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" name="Text 64">
            <a:extLst>
              <a:ext uri="{FF2B5EF4-FFF2-40B4-BE49-F238E27FC236}">
                <a16:creationId xmlns:a16="http://schemas.microsoft.com/office/drawing/2014/main" id="{2A6E6762-00B9-B34B-691C-EC47B6459869}"/>
              </a:ext>
            </a:extLst>
          </p:cNvPr>
          <p:cNvSpPr/>
          <p:nvPr/>
        </p:nvSpPr>
        <p:spPr>
          <a:xfrm>
            <a:off x="5225244" y="3685768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>
                <a:solidFill>
                  <a:srgbClr val="071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760"/>
          </a:p>
        </p:txBody>
      </p:sp>
      <p:sp>
        <p:nvSpPr>
          <p:cNvPr id="149" name="Shape 65">
            <a:extLst>
              <a:ext uri="{FF2B5EF4-FFF2-40B4-BE49-F238E27FC236}">
                <a16:creationId xmlns:a16="http://schemas.microsoft.com/office/drawing/2014/main" id="{368203FB-EB90-F057-105B-2F0B33BAAE5B}"/>
              </a:ext>
            </a:extLst>
          </p:cNvPr>
          <p:cNvSpPr/>
          <p:nvPr/>
        </p:nvSpPr>
        <p:spPr>
          <a:xfrm>
            <a:off x="6057348" y="3685768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Text 66">
            <a:extLst>
              <a:ext uri="{FF2B5EF4-FFF2-40B4-BE49-F238E27FC236}">
                <a16:creationId xmlns:a16="http://schemas.microsoft.com/office/drawing/2014/main" id="{04707C93-98F4-7783-7DE3-64238F72BA06}"/>
              </a:ext>
            </a:extLst>
          </p:cNvPr>
          <p:cNvSpPr/>
          <p:nvPr/>
        </p:nvSpPr>
        <p:spPr>
          <a:xfrm>
            <a:off x="6057348" y="3685768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>
                <a:solidFill>
                  <a:srgbClr val="14C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· Gate</a:t>
            </a:r>
            <a:endParaRPr lang="en-US" sz="760"/>
          </a:p>
        </p:txBody>
      </p:sp>
      <p:sp>
        <p:nvSpPr>
          <p:cNvPr id="153" name="Shape 67">
            <a:extLst>
              <a:ext uri="{FF2B5EF4-FFF2-40B4-BE49-F238E27FC236}">
                <a16:creationId xmlns:a16="http://schemas.microsoft.com/office/drawing/2014/main" id="{6AC29F6A-2D7A-5E3A-0712-21A6F29F12F9}"/>
              </a:ext>
            </a:extLst>
          </p:cNvPr>
          <p:cNvSpPr/>
          <p:nvPr/>
        </p:nvSpPr>
        <p:spPr>
          <a:xfrm>
            <a:off x="6889452" y="3685768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ED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5" name="Text 68">
            <a:extLst>
              <a:ext uri="{FF2B5EF4-FFF2-40B4-BE49-F238E27FC236}">
                <a16:creationId xmlns:a16="http://schemas.microsoft.com/office/drawing/2014/main" id="{43EC4024-20CF-3516-F546-4BD91A140CB5}"/>
              </a:ext>
            </a:extLst>
          </p:cNvPr>
          <p:cNvSpPr/>
          <p:nvPr/>
        </p:nvSpPr>
        <p:spPr>
          <a:xfrm>
            <a:off x="6889452" y="3685768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>
                <a:solidFill>
                  <a:srgbClr val="071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760"/>
          </a:p>
        </p:txBody>
      </p:sp>
      <p:sp>
        <p:nvSpPr>
          <p:cNvPr id="157" name="Text 69">
            <a:extLst>
              <a:ext uri="{FF2B5EF4-FFF2-40B4-BE49-F238E27FC236}">
                <a16:creationId xmlns:a16="http://schemas.microsoft.com/office/drawing/2014/main" id="{DD6394A2-C95C-4EE6-0CCE-ADF1F05A1926}"/>
              </a:ext>
            </a:extLst>
          </p:cNvPr>
          <p:cNvSpPr/>
          <p:nvPr/>
        </p:nvSpPr>
        <p:spPr>
          <a:xfrm>
            <a:off x="8539944" y="13723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>
                <a:solidFill>
                  <a:srgbClr val="3C2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 ·  DRAFT</a:t>
            </a:r>
            <a:endParaRPr lang="en-US" sz="950"/>
          </a:p>
        </p:txBody>
      </p:sp>
      <p:sp>
        <p:nvSpPr>
          <p:cNvPr id="159" name="Shape 70">
            <a:extLst>
              <a:ext uri="{FF2B5EF4-FFF2-40B4-BE49-F238E27FC236}">
                <a16:creationId xmlns:a16="http://schemas.microsoft.com/office/drawing/2014/main" id="{C643DC46-38F7-9075-E9F9-93ED1AA05E09}"/>
              </a:ext>
            </a:extLst>
          </p:cNvPr>
          <p:cNvSpPr/>
          <p:nvPr/>
        </p:nvSpPr>
        <p:spPr>
          <a:xfrm>
            <a:off x="8539944" y="1674088"/>
            <a:ext cx="2926080" cy="2862072"/>
          </a:xfrm>
          <a:prstGeom prst="roundRect">
            <a:avLst>
              <a:gd name="adj" fmla="val 3529"/>
            </a:avLst>
          </a:prstGeom>
          <a:solidFill>
            <a:srgbClr val="F5F6FB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71">
            <a:extLst>
              <a:ext uri="{FF2B5EF4-FFF2-40B4-BE49-F238E27FC236}">
                <a16:creationId xmlns:a16="http://schemas.microsoft.com/office/drawing/2014/main" id="{948C1B5E-59CB-52B6-A3B3-96A544249E4C}"/>
              </a:ext>
            </a:extLst>
          </p:cNvPr>
          <p:cNvSpPr/>
          <p:nvPr/>
        </p:nvSpPr>
        <p:spPr>
          <a:xfrm>
            <a:off x="8677104" y="173809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 ·  NOTEBOOK</a:t>
            </a:r>
            <a:endParaRPr lang="en-US" sz="700"/>
          </a:p>
        </p:txBody>
      </p:sp>
      <p:sp>
        <p:nvSpPr>
          <p:cNvPr id="163" name="Shape 72">
            <a:extLst>
              <a:ext uri="{FF2B5EF4-FFF2-40B4-BE49-F238E27FC236}">
                <a16:creationId xmlns:a16="http://schemas.microsoft.com/office/drawing/2014/main" id="{4061297F-00D1-D849-F9B0-31D37798DF3C}"/>
              </a:ext>
            </a:extLst>
          </p:cNvPr>
          <p:cNvSpPr/>
          <p:nvPr/>
        </p:nvSpPr>
        <p:spPr>
          <a:xfrm>
            <a:off x="8649672" y="1920976"/>
            <a:ext cx="2706624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5" name="Image 8" descr="/home/claude/sttm/logos/databricks.png">
            <a:extLst>
              <a:ext uri="{FF2B5EF4-FFF2-40B4-BE49-F238E27FC236}">
                <a16:creationId xmlns:a16="http://schemas.microsoft.com/office/drawing/2014/main" id="{7D23F8EA-FD40-2425-0858-E77799FF86E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7688" y="2094712"/>
            <a:ext cx="310896" cy="173736"/>
          </a:xfrm>
          <a:prstGeom prst="rect">
            <a:avLst/>
          </a:prstGeom>
        </p:spPr>
      </p:pic>
      <p:sp>
        <p:nvSpPr>
          <p:cNvPr id="167" name="Text 73">
            <a:extLst>
              <a:ext uri="{FF2B5EF4-FFF2-40B4-BE49-F238E27FC236}">
                <a16:creationId xmlns:a16="http://schemas.microsoft.com/office/drawing/2014/main" id="{65E92B55-C558-532D-2053-8ED1DE5855F6}"/>
              </a:ext>
            </a:extLst>
          </p:cNvPr>
          <p:cNvSpPr/>
          <p:nvPr/>
        </p:nvSpPr>
        <p:spPr>
          <a:xfrm>
            <a:off x="9198312" y="1966696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notebook</a:t>
            </a:r>
            <a:endParaRPr lang="en-US" sz="900" dirty="0"/>
          </a:p>
        </p:txBody>
      </p:sp>
      <p:sp>
        <p:nvSpPr>
          <p:cNvPr id="169" name="Text 74">
            <a:extLst>
              <a:ext uri="{FF2B5EF4-FFF2-40B4-BE49-F238E27FC236}">
                <a16:creationId xmlns:a16="http://schemas.microsoft.com/office/drawing/2014/main" id="{B1ED5D87-4930-F91B-4F50-71B187429630}"/>
              </a:ext>
            </a:extLst>
          </p:cNvPr>
          <p:cNvSpPr/>
          <p:nvPr/>
        </p:nvSpPr>
        <p:spPr>
          <a:xfrm>
            <a:off x="9198312" y="215872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natively on Databricks</a:t>
            </a:r>
            <a:endParaRPr lang="en-US" sz="720"/>
          </a:p>
        </p:txBody>
      </p:sp>
      <p:sp>
        <p:nvSpPr>
          <p:cNvPr id="171" name="Shape 75">
            <a:extLst>
              <a:ext uri="{FF2B5EF4-FFF2-40B4-BE49-F238E27FC236}">
                <a16:creationId xmlns:a16="http://schemas.microsoft.com/office/drawing/2014/main" id="{5DD5E6BC-47DA-4288-824F-587E22B9E7A0}"/>
              </a:ext>
            </a:extLst>
          </p:cNvPr>
          <p:cNvSpPr/>
          <p:nvPr/>
        </p:nvSpPr>
        <p:spPr>
          <a:xfrm>
            <a:off x="8741112" y="2588488"/>
            <a:ext cx="960120" cy="0"/>
          </a:xfrm>
          <a:prstGeom prst="line">
            <a:avLst/>
          </a:prstGeom>
          <a:noFill/>
          <a:ln w="12700">
            <a:solidFill>
              <a:srgbClr val="CCD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Text 76">
            <a:extLst>
              <a:ext uri="{FF2B5EF4-FFF2-40B4-BE49-F238E27FC236}">
                <a16:creationId xmlns:a16="http://schemas.microsoft.com/office/drawing/2014/main" id="{5E5676FB-F8A8-9BCB-0A8B-7F5C6FBAB64F}"/>
              </a:ext>
            </a:extLst>
          </p:cNvPr>
          <p:cNvSpPr/>
          <p:nvPr/>
        </p:nvSpPr>
        <p:spPr>
          <a:xfrm>
            <a:off x="9746952" y="248790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800"/>
          </a:p>
        </p:txBody>
      </p:sp>
      <p:sp>
        <p:nvSpPr>
          <p:cNvPr id="175" name="Shape 77">
            <a:extLst>
              <a:ext uri="{FF2B5EF4-FFF2-40B4-BE49-F238E27FC236}">
                <a16:creationId xmlns:a16="http://schemas.microsoft.com/office/drawing/2014/main" id="{0FD46C71-17FF-990D-DD17-6E1AE2DCBDE7}"/>
              </a:ext>
            </a:extLst>
          </p:cNvPr>
          <p:cNvSpPr/>
          <p:nvPr/>
        </p:nvSpPr>
        <p:spPr>
          <a:xfrm>
            <a:off x="10204152" y="2588488"/>
            <a:ext cx="960120" cy="0"/>
          </a:xfrm>
          <a:prstGeom prst="line">
            <a:avLst/>
          </a:prstGeom>
          <a:noFill/>
          <a:ln w="12700">
            <a:solidFill>
              <a:srgbClr val="CCD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Text 78">
            <a:extLst>
              <a:ext uri="{FF2B5EF4-FFF2-40B4-BE49-F238E27FC236}">
                <a16:creationId xmlns:a16="http://schemas.microsoft.com/office/drawing/2014/main" id="{2EBDD8F6-A94E-F52C-77F8-F8EF227FA550}"/>
              </a:ext>
            </a:extLst>
          </p:cNvPr>
          <p:cNvSpPr/>
          <p:nvPr/>
        </p:nvSpPr>
        <p:spPr>
          <a:xfrm>
            <a:off x="8677104" y="27256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 ·  INGESTION FRAMEWORK</a:t>
            </a:r>
            <a:endParaRPr lang="en-US" sz="700"/>
          </a:p>
        </p:txBody>
      </p:sp>
      <p:sp>
        <p:nvSpPr>
          <p:cNvPr id="179" name="Shape 79">
            <a:extLst>
              <a:ext uri="{FF2B5EF4-FFF2-40B4-BE49-F238E27FC236}">
                <a16:creationId xmlns:a16="http://schemas.microsoft.com/office/drawing/2014/main" id="{26B18994-3339-72E9-C0B3-1CF4C2F1AA37}"/>
              </a:ext>
            </a:extLst>
          </p:cNvPr>
          <p:cNvSpPr/>
          <p:nvPr/>
        </p:nvSpPr>
        <p:spPr>
          <a:xfrm>
            <a:off x="8649672" y="2908528"/>
            <a:ext cx="270662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1" name="Image 9" descr="/home/claude/sttm/logos/excel.png">
            <a:extLst>
              <a:ext uri="{FF2B5EF4-FFF2-40B4-BE49-F238E27FC236}">
                <a16:creationId xmlns:a16="http://schemas.microsoft.com/office/drawing/2014/main" id="{13E18F07-2859-DEB2-4E35-3A943CE6F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7688" y="3027400"/>
            <a:ext cx="237744" cy="237744"/>
          </a:xfrm>
          <a:prstGeom prst="rect">
            <a:avLst/>
          </a:prstGeom>
        </p:spPr>
      </p:pic>
      <p:sp>
        <p:nvSpPr>
          <p:cNvPr id="183" name="Text 80">
            <a:extLst>
              <a:ext uri="{FF2B5EF4-FFF2-40B4-BE49-F238E27FC236}">
                <a16:creationId xmlns:a16="http://schemas.microsoft.com/office/drawing/2014/main" id="{3DBA019E-DEBF-B858-5A04-2223B54BD599}"/>
              </a:ext>
            </a:extLst>
          </p:cNvPr>
          <p:cNvSpPr/>
          <p:nvPr/>
        </p:nvSpPr>
        <p:spPr>
          <a:xfrm>
            <a:off x="9106872" y="2945104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scripts</a:t>
            </a:r>
            <a:endParaRPr lang="en-US" sz="900" dirty="0"/>
          </a:p>
        </p:txBody>
      </p:sp>
      <p:sp>
        <p:nvSpPr>
          <p:cNvPr id="185" name="Text 81">
            <a:extLst>
              <a:ext uri="{FF2B5EF4-FFF2-40B4-BE49-F238E27FC236}">
                <a16:creationId xmlns:a16="http://schemas.microsoft.com/office/drawing/2014/main" id="{41E3518D-ABB2-67C1-8CC9-6F01880130BD}"/>
              </a:ext>
            </a:extLst>
          </p:cNvPr>
          <p:cNvSpPr/>
          <p:nvPr/>
        </p:nvSpPr>
        <p:spPr>
          <a:xfrm>
            <a:off x="9106872" y="3137128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.xlsx · target table definitions</a:t>
            </a:r>
            <a:endParaRPr lang="en-US" sz="720"/>
          </a:p>
        </p:txBody>
      </p:sp>
      <p:sp>
        <p:nvSpPr>
          <p:cNvPr id="187" name="Shape 82">
            <a:extLst>
              <a:ext uri="{FF2B5EF4-FFF2-40B4-BE49-F238E27FC236}">
                <a16:creationId xmlns:a16="http://schemas.microsoft.com/office/drawing/2014/main" id="{A0F79A85-0968-ABA7-8393-1660CF6D6AE5}"/>
              </a:ext>
            </a:extLst>
          </p:cNvPr>
          <p:cNvSpPr/>
          <p:nvPr/>
        </p:nvSpPr>
        <p:spPr>
          <a:xfrm>
            <a:off x="8649672" y="3438880"/>
            <a:ext cx="270662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9" name="Image 10" descr="/home/claude/sttm/logos/excel.png">
            <a:extLst>
              <a:ext uri="{FF2B5EF4-FFF2-40B4-BE49-F238E27FC236}">
                <a16:creationId xmlns:a16="http://schemas.microsoft.com/office/drawing/2014/main" id="{6D9AEBE2-46F2-EA1F-DB67-7373B43480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7688" y="3557752"/>
            <a:ext cx="237744" cy="237744"/>
          </a:xfrm>
          <a:prstGeom prst="rect">
            <a:avLst/>
          </a:prstGeom>
        </p:spPr>
      </p:pic>
      <p:sp>
        <p:nvSpPr>
          <p:cNvPr id="191" name="Text 83">
            <a:extLst>
              <a:ext uri="{FF2B5EF4-FFF2-40B4-BE49-F238E27FC236}">
                <a16:creationId xmlns:a16="http://schemas.microsoft.com/office/drawing/2014/main" id="{6A61E820-0C91-881A-3B5B-6FA20F04397D}"/>
              </a:ext>
            </a:extLst>
          </p:cNvPr>
          <p:cNvSpPr/>
          <p:nvPr/>
        </p:nvSpPr>
        <p:spPr>
          <a:xfrm>
            <a:off x="9106872" y="347545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insert statements</a:t>
            </a:r>
            <a:endParaRPr lang="en-US" sz="900" dirty="0"/>
          </a:p>
        </p:txBody>
      </p:sp>
      <p:sp>
        <p:nvSpPr>
          <p:cNvPr id="193" name="Text 84">
            <a:extLst>
              <a:ext uri="{FF2B5EF4-FFF2-40B4-BE49-F238E27FC236}">
                <a16:creationId xmlns:a16="http://schemas.microsoft.com/office/drawing/2014/main" id="{91C7AF82-066B-DF39-5625-9B7254685EB4}"/>
              </a:ext>
            </a:extLst>
          </p:cNvPr>
          <p:cNvSpPr/>
          <p:nvPr/>
        </p:nvSpPr>
        <p:spPr>
          <a:xfrm>
            <a:off x="9106872" y="366748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.xlsx · config rows for the framework DB</a:t>
            </a:r>
            <a:endParaRPr lang="en-US" sz="720"/>
          </a:p>
        </p:txBody>
      </p:sp>
      <p:sp>
        <p:nvSpPr>
          <p:cNvPr id="195" name="Shape 85">
            <a:extLst>
              <a:ext uri="{FF2B5EF4-FFF2-40B4-BE49-F238E27FC236}">
                <a16:creationId xmlns:a16="http://schemas.microsoft.com/office/drawing/2014/main" id="{CE727EB8-C52B-8A68-DCDB-97C98885CABF}"/>
              </a:ext>
            </a:extLst>
          </p:cNvPr>
          <p:cNvSpPr/>
          <p:nvPr/>
        </p:nvSpPr>
        <p:spPr>
          <a:xfrm>
            <a:off x="3510744" y="4142968"/>
            <a:ext cx="5029200" cy="1481328"/>
          </a:xfrm>
          <a:prstGeom prst="roundRect">
            <a:avLst>
              <a:gd name="adj" fmla="val 4938"/>
            </a:avLst>
          </a:prstGeom>
          <a:solidFill>
            <a:srgbClr val="F5F6FB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Text 86">
            <a:extLst>
              <a:ext uri="{FF2B5EF4-FFF2-40B4-BE49-F238E27FC236}">
                <a16:creationId xmlns:a16="http://schemas.microsoft.com/office/drawing/2014/main" id="{B102DFD1-DA32-D44D-D597-7675FF06FFBC}"/>
              </a:ext>
            </a:extLst>
          </p:cNvPr>
          <p:cNvSpPr/>
          <p:nvPr/>
        </p:nvSpPr>
        <p:spPr>
          <a:xfrm>
            <a:off x="3510744" y="417954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kern="0" spc="110">
                <a:solidFill>
                  <a:srgbClr val="3C2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ACCESS  ·  GOVERNED RUNTIME</a:t>
            </a:r>
            <a:endParaRPr lang="en-US" sz="780"/>
          </a:p>
        </p:txBody>
      </p:sp>
      <p:sp>
        <p:nvSpPr>
          <p:cNvPr id="199" name="Shape 87">
            <a:extLst>
              <a:ext uri="{FF2B5EF4-FFF2-40B4-BE49-F238E27FC236}">
                <a16:creationId xmlns:a16="http://schemas.microsoft.com/office/drawing/2014/main" id="{F8012001-F141-F200-771D-5C5A83972A0A}"/>
              </a:ext>
            </a:extLst>
          </p:cNvPr>
          <p:cNvSpPr/>
          <p:nvPr/>
        </p:nvSpPr>
        <p:spPr>
          <a:xfrm>
            <a:off x="3693624" y="4426432"/>
            <a:ext cx="4663440" cy="493776"/>
          </a:xfrm>
          <a:prstGeom prst="roundRect">
            <a:avLst>
              <a:gd name="adj" fmla="val 12963"/>
            </a:avLst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" name="Shape 88">
            <a:extLst>
              <a:ext uri="{FF2B5EF4-FFF2-40B4-BE49-F238E27FC236}">
                <a16:creationId xmlns:a16="http://schemas.microsoft.com/office/drawing/2014/main" id="{9678F2A0-5C8A-68A4-ABEF-E493C20E9090}"/>
              </a:ext>
            </a:extLst>
          </p:cNvPr>
          <p:cNvSpPr/>
          <p:nvPr/>
        </p:nvSpPr>
        <p:spPr>
          <a:xfrm>
            <a:off x="3821640" y="4545304"/>
            <a:ext cx="256032" cy="256032"/>
          </a:xfrm>
          <a:prstGeom prst="ellipse">
            <a:avLst/>
          </a:prstGeom>
          <a:solidFill>
            <a:srgbClr val="14CB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3" name="Image 11" descr="/home/claude/sttm/logos/ic_bolt.png">
            <a:extLst>
              <a:ext uri="{FF2B5EF4-FFF2-40B4-BE49-F238E27FC236}">
                <a16:creationId xmlns:a16="http://schemas.microsoft.com/office/drawing/2014/main" id="{FE1E5B7A-8C25-14D8-9104-1514F6404B2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2049" y="4615713"/>
            <a:ext cx="115214" cy="115214"/>
          </a:xfrm>
          <a:prstGeom prst="rect">
            <a:avLst/>
          </a:prstGeom>
        </p:spPr>
      </p:pic>
      <p:sp>
        <p:nvSpPr>
          <p:cNvPr id="205" name="Text 89">
            <a:extLst>
              <a:ext uri="{FF2B5EF4-FFF2-40B4-BE49-F238E27FC236}">
                <a16:creationId xmlns:a16="http://schemas.microsoft.com/office/drawing/2014/main" id="{A4F1447B-F6E5-8E54-067B-283850E010B3}"/>
              </a:ext>
            </a:extLst>
          </p:cNvPr>
          <p:cNvSpPr/>
          <p:nvPr/>
        </p:nvSpPr>
        <p:spPr>
          <a:xfrm>
            <a:off x="4150824" y="4463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AI Gateway</a:t>
            </a:r>
            <a:endParaRPr lang="en-US" sz="950"/>
          </a:p>
        </p:txBody>
      </p:sp>
      <p:sp>
        <p:nvSpPr>
          <p:cNvPr id="207" name="Text 90">
            <a:extLst>
              <a:ext uri="{FF2B5EF4-FFF2-40B4-BE49-F238E27FC236}">
                <a16:creationId xmlns:a16="http://schemas.microsoft.com/office/drawing/2014/main" id="{0D52F245-9CB4-2810-BAA5-7E52337EE464}"/>
              </a:ext>
            </a:extLst>
          </p:cNvPr>
          <p:cNvSpPr/>
          <p:nvPr/>
        </p:nvSpPr>
        <p:spPr>
          <a:xfrm>
            <a:off x="4150824" y="466417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· guardrails · rate limits · cost &amp; audit on every call</a:t>
            </a:r>
            <a:endParaRPr lang="en-US" sz="760"/>
          </a:p>
        </p:txBody>
      </p:sp>
      <p:sp>
        <p:nvSpPr>
          <p:cNvPr id="209" name="Shape 91">
            <a:extLst>
              <a:ext uri="{FF2B5EF4-FFF2-40B4-BE49-F238E27FC236}">
                <a16:creationId xmlns:a16="http://schemas.microsoft.com/office/drawing/2014/main" id="{670DD5E5-F94B-9F58-656E-158F6E27FB58}"/>
              </a:ext>
            </a:extLst>
          </p:cNvPr>
          <p:cNvSpPr/>
          <p:nvPr/>
        </p:nvSpPr>
        <p:spPr>
          <a:xfrm>
            <a:off x="3693624" y="5066512"/>
            <a:ext cx="226771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92">
            <a:extLst>
              <a:ext uri="{FF2B5EF4-FFF2-40B4-BE49-F238E27FC236}">
                <a16:creationId xmlns:a16="http://schemas.microsoft.com/office/drawing/2014/main" id="{850F15D9-6A86-D7C5-4926-96924CB06D83}"/>
              </a:ext>
            </a:extLst>
          </p:cNvPr>
          <p:cNvSpPr/>
          <p:nvPr/>
        </p:nvSpPr>
        <p:spPr>
          <a:xfrm>
            <a:off x="3785064" y="5176240"/>
            <a:ext cx="256032" cy="256032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3" name="Image 12" descr="/home/claude/sttm/logos/ic_chip.png">
            <a:extLst>
              <a:ext uri="{FF2B5EF4-FFF2-40B4-BE49-F238E27FC236}">
                <a16:creationId xmlns:a16="http://schemas.microsoft.com/office/drawing/2014/main" id="{980DE272-3442-79EF-D72C-A25DAC216BB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55473" y="5246649"/>
            <a:ext cx="115214" cy="115214"/>
          </a:xfrm>
          <a:prstGeom prst="rect">
            <a:avLst/>
          </a:prstGeom>
        </p:spPr>
      </p:pic>
      <p:sp>
        <p:nvSpPr>
          <p:cNvPr id="215" name="Text 93">
            <a:extLst>
              <a:ext uri="{FF2B5EF4-FFF2-40B4-BE49-F238E27FC236}">
                <a16:creationId xmlns:a16="http://schemas.microsoft.com/office/drawing/2014/main" id="{3B74779B-4393-8703-02B6-5930187A5366}"/>
              </a:ext>
            </a:extLst>
          </p:cNvPr>
          <p:cNvSpPr/>
          <p:nvPr/>
        </p:nvSpPr>
        <p:spPr>
          <a:xfrm>
            <a:off x="4105104" y="511223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APIs</a:t>
            </a:r>
            <a:endParaRPr lang="en-US" sz="860"/>
          </a:p>
        </p:txBody>
      </p:sp>
      <p:sp>
        <p:nvSpPr>
          <p:cNvPr id="217" name="Text 94">
            <a:extLst>
              <a:ext uri="{FF2B5EF4-FFF2-40B4-BE49-F238E27FC236}">
                <a16:creationId xmlns:a16="http://schemas.microsoft.com/office/drawing/2014/main" id="{52CED8D8-6F81-EC6C-3042-11AC807EEA9F}"/>
              </a:ext>
            </a:extLst>
          </p:cNvPr>
          <p:cNvSpPr/>
          <p:nvPr/>
        </p:nvSpPr>
        <p:spPr>
          <a:xfrm>
            <a:off x="4105104" y="53042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model call — pay per token</a:t>
            </a:r>
            <a:endParaRPr lang="en-US" sz="720"/>
          </a:p>
        </p:txBody>
      </p:sp>
      <p:sp>
        <p:nvSpPr>
          <p:cNvPr id="219" name="Shape 95">
            <a:extLst>
              <a:ext uri="{FF2B5EF4-FFF2-40B4-BE49-F238E27FC236}">
                <a16:creationId xmlns:a16="http://schemas.microsoft.com/office/drawing/2014/main" id="{2748FC90-AF5C-9534-6746-033E64037522}"/>
              </a:ext>
            </a:extLst>
          </p:cNvPr>
          <p:cNvSpPr/>
          <p:nvPr/>
        </p:nvSpPr>
        <p:spPr>
          <a:xfrm>
            <a:off x="6089352" y="5066512"/>
            <a:ext cx="226771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1" name="Image 13" descr="/home/claude/sttm/logos/uc_mark.png">
            <a:extLst>
              <a:ext uri="{FF2B5EF4-FFF2-40B4-BE49-F238E27FC236}">
                <a16:creationId xmlns:a16="http://schemas.microsoft.com/office/drawing/2014/main" id="{BE39E9A8-5F77-C0AB-0524-404CAECB2C0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80792" y="5176240"/>
            <a:ext cx="256032" cy="256032"/>
          </a:xfrm>
          <a:prstGeom prst="rect">
            <a:avLst/>
          </a:prstGeom>
        </p:spPr>
      </p:pic>
      <p:sp>
        <p:nvSpPr>
          <p:cNvPr id="223" name="Text 96">
            <a:extLst>
              <a:ext uri="{FF2B5EF4-FFF2-40B4-BE49-F238E27FC236}">
                <a16:creationId xmlns:a16="http://schemas.microsoft.com/office/drawing/2014/main" id="{2BDCA5E3-3D5D-9351-C51A-956320FBA470}"/>
              </a:ext>
            </a:extLst>
          </p:cNvPr>
          <p:cNvSpPr/>
          <p:nvPr/>
        </p:nvSpPr>
        <p:spPr>
          <a:xfrm>
            <a:off x="6500832" y="511223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860"/>
          </a:p>
        </p:txBody>
      </p:sp>
      <p:sp>
        <p:nvSpPr>
          <p:cNvPr id="225" name="Text 97">
            <a:extLst>
              <a:ext uri="{FF2B5EF4-FFF2-40B4-BE49-F238E27FC236}">
                <a16:creationId xmlns:a16="http://schemas.microsoft.com/office/drawing/2014/main" id="{CF072D3F-DEE7-A61B-B430-5A729A5B99B9}"/>
              </a:ext>
            </a:extLst>
          </p:cNvPr>
          <p:cNvSpPr/>
          <p:nvPr/>
        </p:nvSpPr>
        <p:spPr>
          <a:xfrm>
            <a:off x="6500832" y="53042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 · lineage · run history</a:t>
            </a:r>
            <a:endParaRPr lang="en-US" sz="720"/>
          </a:p>
        </p:txBody>
      </p:sp>
      <p:sp>
        <p:nvSpPr>
          <p:cNvPr id="227" name="Shape 98">
            <a:extLst>
              <a:ext uri="{FF2B5EF4-FFF2-40B4-BE49-F238E27FC236}">
                <a16:creationId xmlns:a16="http://schemas.microsoft.com/office/drawing/2014/main" id="{14990FB4-C3C4-C1CB-BBBB-65BF3EC0871E}"/>
              </a:ext>
            </a:extLst>
          </p:cNvPr>
          <p:cNvSpPr/>
          <p:nvPr/>
        </p:nvSpPr>
        <p:spPr>
          <a:xfrm>
            <a:off x="813264" y="5761456"/>
            <a:ext cx="10652760" cy="822960"/>
          </a:xfrm>
          <a:prstGeom prst="roundRect">
            <a:avLst>
              <a:gd name="adj" fmla="val 8889"/>
            </a:avLst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9" name="Shape 99">
            <a:extLst>
              <a:ext uri="{FF2B5EF4-FFF2-40B4-BE49-F238E27FC236}">
                <a16:creationId xmlns:a16="http://schemas.microsoft.com/office/drawing/2014/main" id="{18FA0746-090C-C7F3-B575-620842FF1B38}"/>
              </a:ext>
            </a:extLst>
          </p:cNvPr>
          <p:cNvSpPr/>
          <p:nvPr/>
        </p:nvSpPr>
        <p:spPr>
          <a:xfrm>
            <a:off x="1060152" y="5962624"/>
            <a:ext cx="420624" cy="420624"/>
          </a:xfrm>
          <a:prstGeom prst="ellipse">
            <a:avLst/>
          </a:prstGeom>
          <a:solidFill>
            <a:srgbClr val="3D4894"/>
          </a:solidFill>
          <a:ln w="25400">
            <a:solidFill>
              <a:srgbClr val="071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1" name="Image 14" descr="/home/claude/sttm/logos/ic_user.png">
            <a:extLst>
              <a:ext uri="{FF2B5EF4-FFF2-40B4-BE49-F238E27FC236}">
                <a16:creationId xmlns:a16="http://schemas.microsoft.com/office/drawing/2014/main" id="{DEF7F199-0541-C62C-7760-5982FCC6F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308" y="6067780"/>
            <a:ext cx="210312" cy="210312"/>
          </a:xfrm>
          <a:prstGeom prst="rect">
            <a:avLst/>
          </a:prstGeom>
        </p:spPr>
      </p:pic>
      <p:sp>
        <p:nvSpPr>
          <p:cNvPr id="233" name="Shape 100">
            <a:extLst>
              <a:ext uri="{FF2B5EF4-FFF2-40B4-BE49-F238E27FC236}">
                <a16:creationId xmlns:a16="http://schemas.microsoft.com/office/drawing/2014/main" id="{EAF43774-532E-C451-E058-B13209EB892C}"/>
              </a:ext>
            </a:extLst>
          </p:cNvPr>
          <p:cNvSpPr/>
          <p:nvPr/>
        </p:nvSpPr>
        <p:spPr>
          <a:xfrm>
            <a:off x="1499064" y="5962624"/>
            <a:ext cx="420624" cy="420624"/>
          </a:xfrm>
          <a:prstGeom prst="ellipse">
            <a:avLst/>
          </a:prstGeom>
          <a:solidFill>
            <a:srgbClr val="14CBDE"/>
          </a:solidFill>
          <a:ln w="25400">
            <a:solidFill>
              <a:srgbClr val="071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5" name="Image 15" descr="/home/claude/sttm/logos/ic_usercheck.png">
            <a:extLst>
              <a:ext uri="{FF2B5EF4-FFF2-40B4-BE49-F238E27FC236}">
                <a16:creationId xmlns:a16="http://schemas.microsoft.com/office/drawing/2014/main" id="{A5D6D4C1-090B-CF6E-7965-F2BC9841576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04220" y="6067780"/>
            <a:ext cx="210312" cy="210312"/>
          </a:xfrm>
          <a:prstGeom prst="rect">
            <a:avLst/>
          </a:prstGeom>
        </p:spPr>
      </p:pic>
      <p:sp>
        <p:nvSpPr>
          <p:cNvPr id="237" name="Shape 101">
            <a:extLst>
              <a:ext uri="{FF2B5EF4-FFF2-40B4-BE49-F238E27FC236}">
                <a16:creationId xmlns:a16="http://schemas.microsoft.com/office/drawing/2014/main" id="{F03AF323-2283-7382-81C3-C913CD74F9B1}"/>
              </a:ext>
            </a:extLst>
          </p:cNvPr>
          <p:cNvSpPr/>
          <p:nvPr/>
        </p:nvSpPr>
        <p:spPr>
          <a:xfrm>
            <a:off x="1937976" y="5962624"/>
            <a:ext cx="420624" cy="420624"/>
          </a:xfrm>
          <a:prstGeom prst="ellipse">
            <a:avLst/>
          </a:prstGeom>
          <a:solidFill>
            <a:srgbClr val="3D4894"/>
          </a:solidFill>
          <a:ln w="25400">
            <a:solidFill>
              <a:srgbClr val="071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9" name="Image 16" descr="/home/claude/sttm/logos/ic_user.png">
            <a:extLst>
              <a:ext uri="{FF2B5EF4-FFF2-40B4-BE49-F238E27FC236}">
                <a16:creationId xmlns:a16="http://schemas.microsoft.com/office/drawing/2014/main" id="{D5915331-9703-FE76-6323-D9153E299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132" y="6067780"/>
            <a:ext cx="210312" cy="210312"/>
          </a:xfrm>
          <a:prstGeom prst="rect">
            <a:avLst/>
          </a:prstGeom>
        </p:spPr>
      </p:pic>
      <p:sp>
        <p:nvSpPr>
          <p:cNvPr id="241" name="Text 102">
            <a:extLst>
              <a:ext uri="{FF2B5EF4-FFF2-40B4-BE49-F238E27FC236}">
                <a16:creationId xmlns:a16="http://schemas.microsoft.com/office/drawing/2014/main" id="{05FFD12C-2057-9F60-AF57-2A59B07E6ACD}"/>
              </a:ext>
            </a:extLst>
          </p:cNvPr>
          <p:cNvSpPr/>
          <p:nvPr/>
        </p:nvSpPr>
        <p:spPr>
          <a:xfrm>
            <a:off x="2642064" y="58711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review — the merge gate</a:t>
            </a:r>
            <a:endParaRPr lang="en-US" sz="1200"/>
          </a:p>
        </p:txBody>
      </p:sp>
      <p:sp>
        <p:nvSpPr>
          <p:cNvPr id="243" name="Text 103">
            <a:extLst>
              <a:ext uri="{FF2B5EF4-FFF2-40B4-BE49-F238E27FC236}">
                <a16:creationId xmlns:a16="http://schemas.microsoft.com/office/drawing/2014/main" id="{D754E832-168D-62D8-483C-5180B73CB141}"/>
              </a:ext>
            </a:extLst>
          </p:cNvPr>
          <p:cNvSpPr/>
          <p:nvPr/>
        </p:nvSpPr>
        <p:spPr>
          <a:xfrm>
            <a:off x="2642064" y="611807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read the generated code, run it against test data, and approve. Nothing merges unreviewed.</a:t>
            </a:r>
            <a:endParaRPr lang="en-US" sz="880"/>
          </a:p>
        </p:txBody>
      </p:sp>
      <p:sp>
        <p:nvSpPr>
          <p:cNvPr id="245" name="Shape 104">
            <a:extLst>
              <a:ext uri="{FF2B5EF4-FFF2-40B4-BE49-F238E27FC236}">
                <a16:creationId xmlns:a16="http://schemas.microsoft.com/office/drawing/2014/main" id="{3E620241-442B-71E3-ED4C-249A1CF26B9D}"/>
              </a:ext>
            </a:extLst>
          </p:cNvPr>
          <p:cNvSpPr/>
          <p:nvPr/>
        </p:nvSpPr>
        <p:spPr>
          <a:xfrm>
            <a:off x="6912312" y="5889472"/>
            <a:ext cx="0" cy="566928"/>
          </a:xfrm>
          <a:prstGeom prst="line">
            <a:avLst/>
          </a:prstGeom>
          <a:noFill/>
          <a:ln w="19050">
            <a:solidFill>
              <a:srgbClr val="3D4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Text 105">
            <a:extLst>
              <a:ext uri="{FF2B5EF4-FFF2-40B4-BE49-F238E27FC236}">
                <a16:creationId xmlns:a16="http://schemas.microsoft.com/office/drawing/2014/main" id="{F528A8DB-4B8F-A562-CAC4-7D14CD6E71AD}"/>
              </a:ext>
            </a:extLst>
          </p:cNvPr>
          <p:cNvSpPr/>
          <p:nvPr/>
        </p:nvSpPr>
        <p:spPr>
          <a:xfrm>
            <a:off x="7122624" y="57980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>
                <a:solidFill>
                  <a:srgbClr val="88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APPROVAL</a:t>
            </a:r>
            <a:endParaRPr lang="en-US" sz="700"/>
          </a:p>
        </p:txBody>
      </p:sp>
      <p:sp>
        <p:nvSpPr>
          <p:cNvPr id="249" name="Shape 106">
            <a:extLst>
              <a:ext uri="{FF2B5EF4-FFF2-40B4-BE49-F238E27FC236}">
                <a16:creationId xmlns:a16="http://schemas.microsoft.com/office/drawing/2014/main" id="{3497A30D-C7D5-370A-89AD-E5C44F854C5F}"/>
              </a:ext>
            </a:extLst>
          </p:cNvPr>
          <p:cNvSpPr/>
          <p:nvPr/>
        </p:nvSpPr>
        <p:spPr>
          <a:xfrm>
            <a:off x="7131768" y="5999200"/>
            <a:ext cx="219456" cy="219456"/>
          </a:xfrm>
          <a:prstGeom prst="ellipse">
            <a:avLst/>
          </a:prstGeom>
          <a:solidFill>
            <a:srgbClr val="3D48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1" name="Image 17" descr="/home/claude/sttm/logos/ic_git.png">
            <a:extLst>
              <a:ext uri="{FF2B5EF4-FFF2-40B4-BE49-F238E27FC236}">
                <a16:creationId xmlns:a16="http://schemas.microsoft.com/office/drawing/2014/main" id="{C1BA1336-EA82-994A-9E9D-69DF02628BF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82060" y="6049492"/>
            <a:ext cx="118872" cy="118872"/>
          </a:xfrm>
          <a:prstGeom prst="rect">
            <a:avLst/>
          </a:prstGeom>
        </p:spPr>
      </p:pic>
      <p:sp>
        <p:nvSpPr>
          <p:cNvPr id="253" name="Text 107">
            <a:extLst>
              <a:ext uri="{FF2B5EF4-FFF2-40B4-BE49-F238E27FC236}">
                <a16:creationId xmlns:a16="http://schemas.microsoft.com/office/drawing/2014/main" id="{AD833269-6883-B22A-E417-F2325346EA9F}"/>
              </a:ext>
            </a:extLst>
          </p:cNvPr>
          <p:cNvSpPr/>
          <p:nvPr/>
        </p:nvSpPr>
        <p:spPr>
          <a:xfrm>
            <a:off x="7424376" y="598091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>
                <a:solidFill>
                  <a:srgbClr val="14C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merged to the repo via pull request — usual SDLC controls</a:t>
            </a:r>
            <a:endParaRPr lang="en-US" sz="860"/>
          </a:p>
        </p:txBody>
      </p:sp>
      <p:sp>
        <p:nvSpPr>
          <p:cNvPr id="255" name="Shape 108">
            <a:extLst>
              <a:ext uri="{FF2B5EF4-FFF2-40B4-BE49-F238E27FC236}">
                <a16:creationId xmlns:a16="http://schemas.microsoft.com/office/drawing/2014/main" id="{2390AAA3-427E-35F8-7B76-CF1A95A4985D}"/>
              </a:ext>
            </a:extLst>
          </p:cNvPr>
          <p:cNvSpPr/>
          <p:nvPr/>
        </p:nvSpPr>
        <p:spPr>
          <a:xfrm>
            <a:off x="7076904" y="6246088"/>
            <a:ext cx="4279392" cy="274320"/>
          </a:xfrm>
          <a:prstGeom prst="roundRect">
            <a:avLst>
              <a:gd name="adj" fmla="val 16667"/>
            </a:avLst>
          </a:prstGeom>
          <a:solidFill>
            <a:srgbClr val="121B6E"/>
          </a:solidFill>
          <a:ln w="12700">
            <a:solidFill>
              <a:srgbClr val="5C68A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109">
            <a:extLst>
              <a:ext uri="{FF2B5EF4-FFF2-40B4-BE49-F238E27FC236}">
                <a16:creationId xmlns:a16="http://schemas.microsoft.com/office/drawing/2014/main" id="{421FCB5A-DE7B-41FB-BBE5-86535C5C1B88}"/>
              </a:ext>
            </a:extLst>
          </p:cNvPr>
          <p:cNvSpPr/>
          <p:nvPr/>
        </p:nvSpPr>
        <p:spPr>
          <a:xfrm>
            <a:off x="7168344" y="6291808"/>
            <a:ext cx="182880" cy="182880"/>
          </a:xfrm>
          <a:prstGeom prst="ellipse">
            <a:avLst/>
          </a:prstGeom>
          <a:solidFill>
            <a:srgbClr val="3D48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9" name="Image 18" descr="/home/claude/sttm/logos/ic_db.png">
            <a:extLst>
              <a:ext uri="{FF2B5EF4-FFF2-40B4-BE49-F238E27FC236}">
                <a16:creationId xmlns:a16="http://schemas.microsoft.com/office/drawing/2014/main" id="{31BEBC62-5950-DDBD-8516-1034C1B7D6F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09492" y="6332956"/>
            <a:ext cx="100584" cy="100584"/>
          </a:xfrm>
          <a:prstGeom prst="rect">
            <a:avLst/>
          </a:prstGeom>
        </p:spPr>
      </p:pic>
      <p:sp>
        <p:nvSpPr>
          <p:cNvPr id="261" name="Text 110">
            <a:extLst>
              <a:ext uri="{FF2B5EF4-FFF2-40B4-BE49-F238E27FC236}">
                <a16:creationId xmlns:a16="http://schemas.microsoft.com/office/drawing/2014/main" id="{C0FBBBDD-047B-1C99-EE46-C63C9FB6798C}"/>
              </a:ext>
            </a:extLst>
          </p:cNvPr>
          <p:cNvSpPr/>
          <p:nvPr/>
        </p:nvSpPr>
        <p:spPr>
          <a:xfrm>
            <a:off x="7424376" y="624608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&amp; SQL loaded into the existing ingestion framework database</a:t>
            </a:r>
            <a:endParaRPr lang="en-US" sz="820"/>
          </a:p>
        </p:txBody>
      </p:sp>
      <p:pic>
        <p:nvPicPr>
          <p:cNvPr id="262" name="Picture 261" descr="Collibra (@collibra) / Posts / X">
            <a:extLst>
              <a:ext uri="{FF2B5EF4-FFF2-40B4-BE49-F238E27FC236}">
                <a16:creationId xmlns:a16="http://schemas.microsoft.com/office/drawing/2014/main" id="{6A9DA0B9-FAF7-B12E-2B53-C72A772DF10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72805" y="3890169"/>
            <a:ext cx="165655" cy="165655"/>
          </a:xfrm>
          <a:prstGeom prst="rect">
            <a:avLst/>
          </a:prstGeom>
        </p:spPr>
      </p:pic>
      <p:pic>
        <p:nvPicPr>
          <p:cNvPr id="5" name="Image 8" descr="/home/claude/sttm/logos/databricks.png">
            <a:extLst>
              <a:ext uri="{FF2B5EF4-FFF2-40B4-BE49-F238E27FC236}">
                <a16:creationId xmlns:a16="http://schemas.microsoft.com/office/drawing/2014/main" id="{22398C95-ABD0-3622-00E2-F31D6C03E8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11216" y="4149064"/>
            <a:ext cx="310896" cy="173736"/>
          </a:xfrm>
          <a:prstGeom prst="rect">
            <a:avLst/>
          </a:prstGeom>
        </p:spPr>
      </p:pic>
      <p:sp>
        <p:nvSpPr>
          <p:cNvPr id="9" name="Text 73">
            <a:extLst>
              <a:ext uri="{FF2B5EF4-FFF2-40B4-BE49-F238E27FC236}">
                <a16:creationId xmlns:a16="http://schemas.microsoft.com/office/drawing/2014/main" id="{FCE72C75-D71F-A75E-E2BF-F0043DDE1093}"/>
              </a:ext>
            </a:extLst>
          </p:cNvPr>
          <p:cNvSpPr/>
          <p:nvPr/>
        </p:nvSpPr>
        <p:spPr>
          <a:xfrm>
            <a:off x="9231840" y="402104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notebook</a:t>
            </a:r>
            <a:endParaRPr lang="en-US" sz="900" dirty="0"/>
          </a:p>
        </p:txBody>
      </p:sp>
      <p:sp>
        <p:nvSpPr>
          <p:cNvPr id="13" name="Text 74">
            <a:extLst>
              <a:ext uri="{FF2B5EF4-FFF2-40B4-BE49-F238E27FC236}">
                <a16:creationId xmlns:a16="http://schemas.microsoft.com/office/drawing/2014/main" id="{AB9515A5-C599-9178-A21A-21992088E7E4}"/>
              </a:ext>
            </a:extLst>
          </p:cNvPr>
          <p:cNvSpPr/>
          <p:nvPr/>
        </p:nvSpPr>
        <p:spPr>
          <a:xfrm>
            <a:off x="9231840" y="4213072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to reusable notebook</a:t>
            </a:r>
            <a:endParaRPr lang="en-US" sz="720" dirty="0"/>
          </a:p>
        </p:txBody>
      </p:sp>
    </p:spTree>
    <p:extLst>
      <p:ext uri="{BB962C8B-B14F-4D97-AF65-F5344CB8AC3E}">
        <p14:creationId xmlns:p14="http://schemas.microsoft.com/office/powerpoint/2010/main" val="1693582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>
            <a:extLst>
              <a:ext uri="{FF2B5EF4-FFF2-40B4-BE49-F238E27FC236}">
                <a16:creationId xmlns:a16="http://schemas.microsoft.com/office/drawing/2014/main" id="{537E774B-6CCE-7109-F964-E07F72FD83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64" name="Connector 2">
            <a:extLst>
              <a:ext uri="{FF2B5EF4-FFF2-40B4-BE49-F238E27FC236}">
                <a16:creationId xmlns:a16="http://schemas.microsoft.com/office/drawing/2014/main" id="{8671FECD-E73C-8031-D6E4-66616267DEAD}"/>
              </a:ext>
            </a:extLst>
          </p:cNvPr>
          <p:cNvCxnSpPr/>
          <p:nvPr/>
        </p:nvCxnSpPr>
        <p:spPr>
          <a:xfrm>
            <a:off x="210312" y="27432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3">
            <a:extLst>
              <a:ext uri="{FF2B5EF4-FFF2-40B4-BE49-F238E27FC236}">
                <a16:creationId xmlns:a16="http://schemas.microsoft.com/office/drawing/2014/main" id="{AC0F8548-4F6A-9FD6-7BCC-9E89A494A480}"/>
              </a:ext>
            </a:extLst>
          </p:cNvPr>
          <p:cNvCxnSpPr/>
          <p:nvPr/>
        </p:nvCxnSpPr>
        <p:spPr>
          <a:xfrm>
            <a:off x="274320" y="21031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4">
            <a:extLst>
              <a:ext uri="{FF2B5EF4-FFF2-40B4-BE49-F238E27FC236}">
                <a16:creationId xmlns:a16="http://schemas.microsoft.com/office/drawing/2014/main" id="{897AD491-2A08-9A51-492A-6318F4AEEC48}"/>
              </a:ext>
            </a:extLst>
          </p:cNvPr>
          <p:cNvCxnSpPr/>
          <p:nvPr/>
        </p:nvCxnSpPr>
        <p:spPr>
          <a:xfrm>
            <a:off x="11850624" y="27432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5">
            <a:extLst>
              <a:ext uri="{FF2B5EF4-FFF2-40B4-BE49-F238E27FC236}">
                <a16:creationId xmlns:a16="http://schemas.microsoft.com/office/drawing/2014/main" id="{3762061A-4F22-8F0B-8EDA-037B8A727AD8}"/>
              </a:ext>
            </a:extLst>
          </p:cNvPr>
          <p:cNvCxnSpPr/>
          <p:nvPr/>
        </p:nvCxnSpPr>
        <p:spPr>
          <a:xfrm>
            <a:off x="11914632" y="21031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">
            <a:extLst>
              <a:ext uri="{FF2B5EF4-FFF2-40B4-BE49-F238E27FC236}">
                <a16:creationId xmlns:a16="http://schemas.microsoft.com/office/drawing/2014/main" id="{ECB2B972-D99A-6D8F-E436-9EF9C4776509}"/>
              </a:ext>
            </a:extLst>
          </p:cNvPr>
          <p:cNvCxnSpPr/>
          <p:nvPr/>
        </p:nvCxnSpPr>
        <p:spPr>
          <a:xfrm>
            <a:off x="210312" y="658368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7">
            <a:extLst>
              <a:ext uri="{FF2B5EF4-FFF2-40B4-BE49-F238E27FC236}">
                <a16:creationId xmlns:a16="http://schemas.microsoft.com/office/drawing/2014/main" id="{D060E56D-9F51-761F-0D0E-C292EBAA5F01}"/>
              </a:ext>
            </a:extLst>
          </p:cNvPr>
          <p:cNvCxnSpPr/>
          <p:nvPr/>
        </p:nvCxnSpPr>
        <p:spPr>
          <a:xfrm>
            <a:off x="274320" y="651967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8">
            <a:extLst>
              <a:ext uri="{FF2B5EF4-FFF2-40B4-BE49-F238E27FC236}">
                <a16:creationId xmlns:a16="http://schemas.microsoft.com/office/drawing/2014/main" id="{0FEE9AD9-BB97-2F08-26EA-11621CFA39D2}"/>
              </a:ext>
            </a:extLst>
          </p:cNvPr>
          <p:cNvCxnSpPr/>
          <p:nvPr/>
        </p:nvCxnSpPr>
        <p:spPr>
          <a:xfrm>
            <a:off x="11850624" y="658368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9">
            <a:extLst>
              <a:ext uri="{FF2B5EF4-FFF2-40B4-BE49-F238E27FC236}">
                <a16:creationId xmlns:a16="http://schemas.microsoft.com/office/drawing/2014/main" id="{5C7BA8A4-7BD6-D81C-B36E-2BBB16C70930}"/>
              </a:ext>
            </a:extLst>
          </p:cNvPr>
          <p:cNvCxnSpPr/>
          <p:nvPr/>
        </p:nvCxnSpPr>
        <p:spPr>
          <a:xfrm>
            <a:off x="11914632" y="651967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10">
            <a:extLst>
              <a:ext uri="{FF2B5EF4-FFF2-40B4-BE49-F238E27FC236}">
                <a16:creationId xmlns:a16="http://schemas.microsoft.com/office/drawing/2014/main" id="{475A5539-CA1A-5BB3-90D4-E0CC1138596F}"/>
              </a:ext>
            </a:extLst>
          </p:cNvPr>
          <p:cNvSpPr txBox="1"/>
          <p:nvPr/>
        </p:nvSpPr>
        <p:spPr>
          <a:xfrm>
            <a:off x="548640" y="347472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F6B7C"/>
                </a:solidFill>
                <a:latin typeface="Calibri"/>
              </a:rPr>
              <a:t>HEXAWARE  ·  AMERIHEALTH CARITAS  ·  AGENT 02 / 03</a:t>
            </a:r>
          </a:p>
        </p:txBody>
      </p:sp>
      <p:sp>
        <p:nvSpPr>
          <p:cNvPr id="73" name="TextBox 11">
            <a:extLst>
              <a:ext uri="{FF2B5EF4-FFF2-40B4-BE49-F238E27FC236}">
                <a16:creationId xmlns:a16="http://schemas.microsoft.com/office/drawing/2014/main" id="{191BC205-F732-E45D-9DE4-36AC16880DA3}"/>
              </a:ext>
            </a:extLst>
          </p:cNvPr>
          <p:cNvSpPr txBox="1"/>
          <p:nvPr/>
        </p:nvSpPr>
        <p:spPr>
          <a:xfrm>
            <a:off x="548640" y="566928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00" b="1">
                <a:solidFill>
                  <a:srgbClr val="111418"/>
                </a:solidFill>
                <a:latin typeface="Calibri"/>
              </a:rPr>
              <a:t>CodeGen Agent</a:t>
            </a:r>
            <a:r>
              <a:rPr sz="1500" b="0">
                <a:solidFill>
                  <a:srgbClr val="5F6B7C"/>
                </a:solidFill>
                <a:latin typeface="Calibri"/>
              </a:rPr>
              <a:t>    data governance architecture</a:t>
            </a:r>
          </a:p>
        </p:txBody>
      </p:sp>
      <p:sp>
        <p:nvSpPr>
          <p:cNvPr id="74" name="TextBox 12">
            <a:extLst>
              <a:ext uri="{FF2B5EF4-FFF2-40B4-BE49-F238E27FC236}">
                <a16:creationId xmlns:a16="http://schemas.microsoft.com/office/drawing/2014/main" id="{FFEE60EF-0593-3E77-7149-22598C17379F}"/>
              </a:ext>
            </a:extLst>
          </p:cNvPr>
          <p:cNvSpPr txBox="1"/>
          <p:nvPr/>
        </p:nvSpPr>
        <p:spPr>
          <a:xfrm>
            <a:off x="548640" y="108813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F6B7C"/>
                </a:solidFill>
                <a:latin typeface="Calibri"/>
              </a:rPr>
              <a:t>THE CONTRACT'S JOURNEY  ↓</a:t>
            </a:r>
          </a:p>
        </p:txBody>
      </p:sp>
      <p:sp>
        <p:nvSpPr>
          <p:cNvPr id="75" name="Rounded Rectangle 13">
            <a:extLst>
              <a:ext uri="{FF2B5EF4-FFF2-40B4-BE49-F238E27FC236}">
                <a16:creationId xmlns:a16="http://schemas.microsoft.com/office/drawing/2014/main" id="{53950769-D414-0BFA-C29C-EEE6B49C50E7}"/>
              </a:ext>
            </a:extLst>
          </p:cNvPr>
          <p:cNvSpPr/>
          <p:nvPr/>
        </p:nvSpPr>
        <p:spPr>
          <a:xfrm>
            <a:off x="548640" y="1325880"/>
            <a:ext cx="8257031" cy="841248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00A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6" name="TextBox 14">
            <a:extLst>
              <a:ext uri="{FF2B5EF4-FFF2-40B4-BE49-F238E27FC236}">
                <a16:creationId xmlns:a16="http://schemas.microsoft.com/office/drawing/2014/main" id="{4A39BF79-8D64-E5AA-06B5-9F06BC273B7C}"/>
              </a:ext>
            </a:extLst>
          </p:cNvPr>
          <p:cNvSpPr txBox="1"/>
          <p:nvPr/>
        </p:nvSpPr>
        <p:spPr>
          <a:xfrm>
            <a:off x="685800" y="1417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01</a:t>
            </a:r>
            <a:r>
              <a:rPr sz="850" b="1">
                <a:solidFill>
                  <a:srgbClr val="007067"/>
                </a:solidFill>
                <a:latin typeface="Calibri"/>
              </a:rPr>
              <a:t>  ENTERS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A6D29E4A-C0C1-A0E0-BD22-6B375CD50B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655064"/>
            <a:ext cx="274320" cy="27432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26F0385E-51F4-E183-A757-BF00869083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1655064"/>
            <a:ext cx="274320" cy="274320"/>
          </a:xfrm>
          <a:prstGeom prst="rect">
            <a:avLst/>
          </a:prstGeom>
        </p:spPr>
      </p:pic>
      <p:sp>
        <p:nvSpPr>
          <p:cNvPr id="79" name="TextBox 17">
            <a:extLst>
              <a:ext uri="{FF2B5EF4-FFF2-40B4-BE49-F238E27FC236}">
                <a16:creationId xmlns:a16="http://schemas.microsoft.com/office/drawing/2014/main" id="{68C69B19-BE5D-5581-72CA-8CB267E4D92C}"/>
              </a:ext>
            </a:extLst>
          </p:cNvPr>
          <p:cNvSpPr txBox="1"/>
          <p:nvPr/>
        </p:nvSpPr>
        <p:spPr>
          <a:xfrm>
            <a:off x="1783080" y="1444752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007067"/>
                </a:solidFill>
                <a:latin typeface="Calibri"/>
              </a:rPr>
              <a:t>WHAT DATA?</a:t>
            </a:r>
          </a:p>
        </p:txBody>
      </p:sp>
      <p:sp>
        <p:nvSpPr>
          <p:cNvPr id="80" name="TextBox 18">
            <a:extLst>
              <a:ext uri="{FF2B5EF4-FFF2-40B4-BE49-F238E27FC236}">
                <a16:creationId xmlns:a16="http://schemas.microsoft.com/office/drawing/2014/main" id="{194A1108-910E-A3DB-8186-2A5547642C20}"/>
              </a:ext>
            </a:extLst>
          </p:cNvPr>
          <p:cNvSpPr txBox="1"/>
          <p:nvPr/>
        </p:nvSpPr>
        <p:spPr>
          <a:xfrm>
            <a:off x="1783080" y="1636776"/>
            <a:ext cx="1874519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100" b="1">
                <a:solidFill>
                  <a:srgbClr val="1C2127"/>
                </a:solidFill>
                <a:latin typeface="Calibri"/>
              </a:rPr>
              <a:t>Approved </a:t>
            </a:r>
            <a:r>
              <a:rPr lang="en-US" sz="1100" b="1">
                <a:solidFill>
                  <a:srgbClr val="1C2127"/>
                </a:solidFill>
                <a:latin typeface="Calibri"/>
              </a:rPr>
              <a:t>STTMs and FRDs</a:t>
            </a:r>
          </a:p>
        </p:txBody>
      </p:sp>
      <p:cxnSp>
        <p:nvCxnSpPr>
          <p:cNvPr id="81" name="Connector 19">
            <a:extLst>
              <a:ext uri="{FF2B5EF4-FFF2-40B4-BE49-F238E27FC236}">
                <a16:creationId xmlns:a16="http://schemas.microsoft.com/office/drawing/2014/main" id="{7CE7FB01-4E66-A62D-89B2-1B4E17799554}"/>
              </a:ext>
            </a:extLst>
          </p:cNvPr>
          <p:cNvCxnSpPr/>
          <p:nvPr/>
        </p:nvCxnSpPr>
        <p:spPr>
          <a:xfrm>
            <a:off x="3749039" y="1435607"/>
            <a:ext cx="0" cy="621793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20">
            <a:extLst>
              <a:ext uri="{FF2B5EF4-FFF2-40B4-BE49-F238E27FC236}">
                <a16:creationId xmlns:a16="http://schemas.microsoft.com/office/drawing/2014/main" id="{0A92E2FC-14C0-50BE-DE92-D027B07B2730}"/>
              </a:ext>
            </a:extLst>
          </p:cNvPr>
          <p:cNvSpPr txBox="1"/>
          <p:nvPr/>
        </p:nvSpPr>
        <p:spPr>
          <a:xfrm>
            <a:off x="3886200" y="1417320"/>
            <a:ext cx="34290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Generation reads only machine-readable contracts approved upstream — feed facts from the FRD, column mappings from the STTM. No raw client documents live in this repo; PHI fields arrive flagged and are masked to last-4 at every egress.</a:t>
            </a:r>
          </a:p>
        </p:txBody>
      </p:sp>
      <p:cxnSp>
        <p:nvCxnSpPr>
          <p:cNvPr id="83" name="Connector 21">
            <a:extLst>
              <a:ext uri="{FF2B5EF4-FFF2-40B4-BE49-F238E27FC236}">
                <a16:creationId xmlns:a16="http://schemas.microsoft.com/office/drawing/2014/main" id="{9B1A868F-0521-4EE8-572C-8E130134377E}"/>
              </a:ext>
            </a:extLst>
          </p:cNvPr>
          <p:cNvCxnSpPr/>
          <p:nvPr/>
        </p:nvCxnSpPr>
        <p:spPr>
          <a:xfrm>
            <a:off x="7424927" y="1435607"/>
            <a:ext cx="0" cy="621793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22">
            <a:extLst>
              <a:ext uri="{FF2B5EF4-FFF2-40B4-BE49-F238E27FC236}">
                <a16:creationId xmlns:a16="http://schemas.microsoft.com/office/drawing/2014/main" id="{75AE5923-E3CE-7A17-6772-4E6C7800A933}"/>
              </a:ext>
            </a:extLst>
          </p:cNvPr>
          <p:cNvSpPr txBox="1"/>
          <p:nvPr/>
        </p:nvSpPr>
        <p:spPr>
          <a:xfrm>
            <a:off x="7562088" y="1444752"/>
            <a:ext cx="11430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1">
                <a:solidFill>
                  <a:srgbClr val="007067"/>
                </a:solidFill>
                <a:latin typeface="Calibri"/>
              </a:rPr>
              <a:t>SharePoint read-only · frozen pydantic contracts</a:t>
            </a:r>
          </a:p>
        </p:txBody>
      </p:sp>
      <p:sp>
        <p:nvSpPr>
          <p:cNvPr id="85" name="Rounded Rectangle 23">
            <a:extLst>
              <a:ext uri="{FF2B5EF4-FFF2-40B4-BE49-F238E27FC236}">
                <a16:creationId xmlns:a16="http://schemas.microsoft.com/office/drawing/2014/main" id="{998149F9-8F1C-54F3-9276-6D922AF39355}"/>
              </a:ext>
            </a:extLst>
          </p:cNvPr>
          <p:cNvSpPr/>
          <p:nvPr/>
        </p:nvSpPr>
        <p:spPr>
          <a:xfrm>
            <a:off x="548640" y="2221991"/>
            <a:ext cx="8257031" cy="841248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D19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6" name="TextBox 24">
            <a:extLst>
              <a:ext uri="{FF2B5EF4-FFF2-40B4-BE49-F238E27FC236}">
                <a16:creationId xmlns:a16="http://schemas.microsoft.com/office/drawing/2014/main" id="{1F02DCC9-F8D1-8CF8-7136-A681160B8057}"/>
              </a:ext>
            </a:extLst>
          </p:cNvPr>
          <p:cNvSpPr txBox="1"/>
          <p:nvPr/>
        </p:nvSpPr>
        <p:spPr>
          <a:xfrm>
            <a:off x="685800" y="231343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866103"/>
                </a:solidFill>
                <a:latin typeface="Consolas"/>
              </a:rPr>
              <a:t>02</a:t>
            </a:r>
            <a:r>
              <a:rPr sz="850" b="1">
                <a:solidFill>
                  <a:srgbClr val="866103"/>
                </a:solidFill>
                <a:latin typeface="Calibri"/>
              </a:rPr>
              <a:t>  OPENED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D92476C9-9C83-4C73-BE79-FAFBE1560C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551175"/>
            <a:ext cx="274320" cy="274320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37094FC7-F208-7F3D-312E-1819B219D1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560" y="2551175"/>
            <a:ext cx="274320" cy="274320"/>
          </a:xfrm>
          <a:prstGeom prst="rect">
            <a:avLst/>
          </a:prstGeom>
        </p:spPr>
      </p:pic>
      <p:sp>
        <p:nvSpPr>
          <p:cNvPr id="89" name="TextBox 27">
            <a:extLst>
              <a:ext uri="{FF2B5EF4-FFF2-40B4-BE49-F238E27FC236}">
                <a16:creationId xmlns:a16="http://schemas.microsoft.com/office/drawing/2014/main" id="{92FE69C6-C25D-E688-F204-B76681FF0382}"/>
              </a:ext>
            </a:extLst>
          </p:cNvPr>
          <p:cNvSpPr txBox="1"/>
          <p:nvPr/>
        </p:nvSpPr>
        <p:spPr>
          <a:xfrm>
            <a:off x="1783080" y="2340863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866103"/>
                </a:solidFill>
                <a:latin typeface="Calibri"/>
              </a:rPr>
              <a:t>WHO?</a:t>
            </a:r>
          </a:p>
        </p:txBody>
      </p:sp>
      <p:sp>
        <p:nvSpPr>
          <p:cNvPr id="90" name="TextBox 28">
            <a:extLst>
              <a:ext uri="{FF2B5EF4-FFF2-40B4-BE49-F238E27FC236}">
                <a16:creationId xmlns:a16="http://schemas.microsoft.com/office/drawing/2014/main" id="{AA96E5CB-035B-7209-DF7E-06E6C201D4CB}"/>
              </a:ext>
            </a:extLst>
          </p:cNvPr>
          <p:cNvSpPr txBox="1"/>
          <p:nvPr/>
        </p:nvSpPr>
        <p:spPr>
          <a:xfrm>
            <a:off x="1783080" y="2532887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1C2127"/>
                </a:solidFill>
                <a:latin typeface="Calibri"/>
              </a:rPr>
              <a:t>Named identities only</a:t>
            </a:r>
          </a:p>
        </p:txBody>
      </p:sp>
      <p:cxnSp>
        <p:nvCxnSpPr>
          <p:cNvPr id="91" name="Connector 29">
            <a:extLst>
              <a:ext uri="{FF2B5EF4-FFF2-40B4-BE49-F238E27FC236}">
                <a16:creationId xmlns:a16="http://schemas.microsoft.com/office/drawing/2014/main" id="{18AAADB1-7BF9-4245-3D5B-2AC0B623A2FC}"/>
              </a:ext>
            </a:extLst>
          </p:cNvPr>
          <p:cNvCxnSpPr/>
          <p:nvPr/>
        </p:nvCxnSpPr>
        <p:spPr>
          <a:xfrm>
            <a:off x="3749039" y="2331720"/>
            <a:ext cx="0" cy="621791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30">
            <a:extLst>
              <a:ext uri="{FF2B5EF4-FFF2-40B4-BE49-F238E27FC236}">
                <a16:creationId xmlns:a16="http://schemas.microsoft.com/office/drawing/2014/main" id="{E46A2C03-EE4A-1B9E-5DA7-FC592D676DCB}"/>
              </a:ext>
            </a:extLst>
          </p:cNvPr>
          <p:cNvSpPr txBox="1"/>
          <p:nvPr/>
        </p:nvSpPr>
        <p:spPr>
          <a:xfrm>
            <a:off x="3886200" y="2313432"/>
            <a:ext cx="34290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SharePoint is reached as a registered Entra application with Sites.Selected on one site; writes are limited to a single output folder. Fetch and publish are explicit human steps — a re-generate is never a re-publish.</a:t>
            </a:r>
          </a:p>
        </p:txBody>
      </p:sp>
      <p:cxnSp>
        <p:nvCxnSpPr>
          <p:cNvPr id="93" name="Connector 31">
            <a:extLst>
              <a:ext uri="{FF2B5EF4-FFF2-40B4-BE49-F238E27FC236}">
                <a16:creationId xmlns:a16="http://schemas.microsoft.com/office/drawing/2014/main" id="{EF4C0C73-4952-AFE5-617E-3DCDA68AF12D}"/>
              </a:ext>
            </a:extLst>
          </p:cNvPr>
          <p:cNvCxnSpPr/>
          <p:nvPr/>
        </p:nvCxnSpPr>
        <p:spPr>
          <a:xfrm>
            <a:off x="7424927" y="2331720"/>
            <a:ext cx="0" cy="621791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32">
            <a:extLst>
              <a:ext uri="{FF2B5EF4-FFF2-40B4-BE49-F238E27FC236}">
                <a16:creationId xmlns:a16="http://schemas.microsoft.com/office/drawing/2014/main" id="{9391F40E-8771-71E6-AC9D-5FAB504864B4}"/>
              </a:ext>
            </a:extLst>
          </p:cNvPr>
          <p:cNvSpPr txBox="1"/>
          <p:nvPr/>
        </p:nvSpPr>
        <p:spPr>
          <a:xfrm>
            <a:off x="7562088" y="2340863"/>
            <a:ext cx="11430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1">
                <a:solidFill>
                  <a:srgbClr val="866103"/>
                </a:solidFill>
                <a:latin typeface="Calibri"/>
              </a:rPr>
              <a:t>Microsoft Entra ID app · Sites.Selected · one write folder</a:t>
            </a:r>
          </a:p>
        </p:txBody>
      </p:sp>
      <p:cxnSp>
        <p:nvCxnSpPr>
          <p:cNvPr id="95" name="Connector 33">
            <a:extLst>
              <a:ext uri="{FF2B5EF4-FFF2-40B4-BE49-F238E27FC236}">
                <a16:creationId xmlns:a16="http://schemas.microsoft.com/office/drawing/2014/main" id="{F12A3482-3195-4805-E3B5-2437BC52531B}"/>
              </a:ext>
            </a:extLst>
          </p:cNvPr>
          <p:cNvCxnSpPr/>
          <p:nvPr/>
        </p:nvCxnSpPr>
        <p:spPr>
          <a:xfrm>
            <a:off x="932688" y="2167127"/>
            <a:ext cx="0" cy="54864"/>
          </a:xfrm>
          <a:prstGeom prst="line">
            <a:avLst/>
          </a:prstGeom>
          <a:ln w="15875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34">
            <a:extLst>
              <a:ext uri="{FF2B5EF4-FFF2-40B4-BE49-F238E27FC236}">
                <a16:creationId xmlns:a16="http://schemas.microsoft.com/office/drawing/2014/main" id="{035ADE5B-688F-927A-0747-27628BBAFB0E}"/>
              </a:ext>
            </a:extLst>
          </p:cNvPr>
          <p:cNvSpPr/>
          <p:nvPr/>
        </p:nvSpPr>
        <p:spPr>
          <a:xfrm>
            <a:off x="548640" y="3118103"/>
            <a:ext cx="8257031" cy="841248"/>
          </a:xfrm>
          <a:prstGeom prst="roundRect">
            <a:avLst>
              <a:gd name="adj" fmla="val 8000"/>
            </a:avLst>
          </a:prstGeom>
          <a:solidFill>
            <a:srgbClr val="FBEEE8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7" name="TextBox 35">
            <a:extLst>
              <a:ext uri="{FF2B5EF4-FFF2-40B4-BE49-F238E27FC236}">
                <a16:creationId xmlns:a16="http://schemas.microsoft.com/office/drawing/2014/main" id="{E5A04B71-60CA-5AB1-F64D-8A0EE43F3559}"/>
              </a:ext>
            </a:extLst>
          </p:cNvPr>
          <p:cNvSpPr txBox="1"/>
          <p:nvPr/>
        </p:nvSpPr>
        <p:spPr>
          <a:xfrm>
            <a:off x="685800" y="3209544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A04D2C"/>
                </a:solidFill>
                <a:latin typeface="Consolas"/>
              </a:rPr>
              <a:t>03</a:t>
            </a:r>
            <a:r>
              <a:rPr sz="850" b="1">
                <a:solidFill>
                  <a:srgbClr val="A04D2C"/>
                </a:solidFill>
                <a:latin typeface="Calibri"/>
              </a:rPr>
              <a:t>  GENERATED</a:t>
            </a: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0B1B8D9B-41BE-E585-319A-248751855F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502151"/>
            <a:ext cx="777240" cy="173736"/>
          </a:xfrm>
          <a:prstGeom prst="rect">
            <a:avLst/>
          </a:prstGeom>
        </p:spPr>
      </p:pic>
      <p:sp>
        <p:nvSpPr>
          <p:cNvPr id="99" name="TextBox 37">
            <a:extLst>
              <a:ext uri="{FF2B5EF4-FFF2-40B4-BE49-F238E27FC236}">
                <a16:creationId xmlns:a16="http://schemas.microsoft.com/office/drawing/2014/main" id="{8494AE63-1634-F583-E46B-52AE09F168F1}"/>
              </a:ext>
            </a:extLst>
          </p:cNvPr>
          <p:cNvSpPr txBox="1"/>
          <p:nvPr/>
        </p:nvSpPr>
        <p:spPr>
          <a:xfrm>
            <a:off x="1783080" y="3236975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A04D2C"/>
                </a:solidFill>
                <a:latin typeface="Calibri"/>
              </a:rPr>
              <a:t>WHERE FROM?</a:t>
            </a:r>
          </a:p>
        </p:txBody>
      </p:sp>
      <p:sp>
        <p:nvSpPr>
          <p:cNvPr id="100" name="TextBox 38">
            <a:extLst>
              <a:ext uri="{FF2B5EF4-FFF2-40B4-BE49-F238E27FC236}">
                <a16:creationId xmlns:a16="http://schemas.microsoft.com/office/drawing/2014/main" id="{E87C20A7-F0A8-F350-1CA3-24E2EF384A9C}"/>
              </a:ext>
            </a:extLst>
          </p:cNvPr>
          <p:cNvSpPr txBox="1"/>
          <p:nvPr/>
        </p:nvSpPr>
        <p:spPr>
          <a:xfrm>
            <a:off x="1783080" y="3428999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A04D2C"/>
                </a:solidFill>
                <a:latin typeface="Calibri"/>
              </a:rPr>
              <a:t>Every file is traceable</a:t>
            </a:r>
          </a:p>
        </p:txBody>
      </p:sp>
      <p:cxnSp>
        <p:nvCxnSpPr>
          <p:cNvPr id="101" name="Connector 39">
            <a:extLst>
              <a:ext uri="{FF2B5EF4-FFF2-40B4-BE49-F238E27FC236}">
                <a16:creationId xmlns:a16="http://schemas.microsoft.com/office/drawing/2014/main" id="{FD66A5A7-4203-0F0F-A13D-AEA6918684B6}"/>
              </a:ext>
            </a:extLst>
          </p:cNvPr>
          <p:cNvCxnSpPr/>
          <p:nvPr/>
        </p:nvCxnSpPr>
        <p:spPr>
          <a:xfrm>
            <a:off x="3749039" y="3227832"/>
            <a:ext cx="0" cy="621792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40">
            <a:extLst>
              <a:ext uri="{FF2B5EF4-FFF2-40B4-BE49-F238E27FC236}">
                <a16:creationId xmlns:a16="http://schemas.microsoft.com/office/drawing/2014/main" id="{727AF0E0-006F-6CBA-C06C-BD4305B0E359}"/>
              </a:ext>
            </a:extLst>
          </p:cNvPr>
          <p:cNvSpPr txBox="1"/>
          <p:nvPr/>
        </p:nvSpPr>
        <p:spPr>
          <a:xfrm>
            <a:off x="3886200" y="3209544"/>
            <a:ext cx="34290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A04D2C"/>
                </a:solidFill>
                <a:latin typeface="Calibri"/>
              </a:rPr>
              <a:t>Deterministic templates render everything the contracts state — same contracts in, same bytes out. Only rule text code cannot map reaches the model; every citation must appear verbatim in the contract or the suggestion is marked ungrounded.</a:t>
            </a:r>
          </a:p>
        </p:txBody>
      </p:sp>
      <p:cxnSp>
        <p:nvCxnSpPr>
          <p:cNvPr id="103" name="Connector 41">
            <a:extLst>
              <a:ext uri="{FF2B5EF4-FFF2-40B4-BE49-F238E27FC236}">
                <a16:creationId xmlns:a16="http://schemas.microsoft.com/office/drawing/2014/main" id="{F6112F63-7799-20C7-80A8-316258DAC82F}"/>
              </a:ext>
            </a:extLst>
          </p:cNvPr>
          <p:cNvCxnSpPr/>
          <p:nvPr/>
        </p:nvCxnSpPr>
        <p:spPr>
          <a:xfrm>
            <a:off x="7424927" y="3227832"/>
            <a:ext cx="0" cy="621792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42">
            <a:extLst>
              <a:ext uri="{FF2B5EF4-FFF2-40B4-BE49-F238E27FC236}">
                <a16:creationId xmlns:a16="http://schemas.microsoft.com/office/drawing/2014/main" id="{26DE6E37-B446-76ED-E88A-CC9F5103CE99}"/>
              </a:ext>
            </a:extLst>
          </p:cNvPr>
          <p:cNvSpPr txBox="1"/>
          <p:nvPr/>
        </p:nvSpPr>
        <p:spPr>
          <a:xfrm>
            <a:off x="7562088" y="3236975"/>
            <a:ext cx="11430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1">
                <a:solidFill>
                  <a:srgbClr val="A04D2C"/>
                </a:solidFill>
                <a:latin typeface="Calibri"/>
              </a:rPr>
              <a:t>provenance banners · SHA-256 · verbatim grounding</a:t>
            </a:r>
          </a:p>
        </p:txBody>
      </p:sp>
      <p:cxnSp>
        <p:nvCxnSpPr>
          <p:cNvPr id="105" name="Connector 43">
            <a:extLst>
              <a:ext uri="{FF2B5EF4-FFF2-40B4-BE49-F238E27FC236}">
                <a16:creationId xmlns:a16="http://schemas.microsoft.com/office/drawing/2014/main" id="{DB7621B1-11A0-7F84-44C8-DB75D0AA3987}"/>
              </a:ext>
            </a:extLst>
          </p:cNvPr>
          <p:cNvCxnSpPr/>
          <p:nvPr/>
        </p:nvCxnSpPr>
        <p:spPr>
          <a:xfrm>
            <a:off x="932688" y="3063239"/>
            <a:ext cx="0" cy="54864"/>
          </a:xfrm>
          <a:prstGeom prst="line">
            <a:avLst/>
          </a:prstGeom>
          <a:ln w="15875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44">
            <a:extLst>
              <a:ext uri="{FF2B5EF4-FFF2-40B4-BE49-F238E27FC236}">
                <a16:creationId xmlns:a16="http://schemas.microsoft.com/office/drawing/2014/main" id="{CEE98653-CA5E-0F34-D7AD-F5666D63B564}"/>
              </a:ext>
            </a:extLst>
          </p:cNvPr>
          <p:cNvSpPr/>
          <p:nvPr/>
        </p:nvSpPr>
        <p:spPr>
          <a:xfrm>
            <a:off x="548640" y="4014215"/>
            <a:ext cx="8257031" cy="841248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D19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7" name="TextBox 45">
            <a:extLst>
              <a:ext uri="{FF2B5EF4-FFF2-40B4-BE49-F238E27FC236}">
                <a16:creationId xmlns:a16="http://schemas.microsoft.com/office/drawing/2014/main" id="{666F49B2-7BA7-44FF-ABD8-E48EB7CDB653}"/>
              </a:ext>
            </a:extLst>
          </p:cNvPr>
          <p:cNvSpPr txBox="1"/>
          <p:nvPr/>
        </p:nvSpPr>
        <p:spPr>
          <a:xfrm>
            <a:off x="685800" y="4105655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866103"/>
                </a:solidFill>
                <a:latin typeface="Consolas"/>
              </a:rPr>
              <a:t>04</a:t>
            </a:r>
            <a:r>
              <a:rPr sz="850" b="1">
                <a:solidFill>
                  <a:srgbClr val="866103"/>
                </a:solidFill>
                <a:latin typeface="Calibri"/>
              </a:rPr>
              <a:t>  DECIDED</a:t>
            </a:r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056CBEF6-10D3-6015-6B9D-C9CF3F67114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343400"/>
            <a:ext cx="274320" cy="274320"/>
          </a:xfrm>
          <a:prstGeom prst="rect">
            <a:avLst/>
          </a:prstGeom>
        </p:spPr>
      </p:pic>
      <p:sp>
        <p:nvSpPr>
          <p:cNvPr id="109" name="TextBox 47">
            <a:extLst>
              <a:ext uri="{FF2B5EF4-FFF2-40B4-BE49-F238E27FC236}">
                <a16:creationId xmlns:a16="http://schemas.microsoft.com/office/drawing/2014/main" id="{9C9AC7BD-024F-690B-202C-DE23E2BD522E}"/>
              </a:ext>
            </a:extLst>
          </p:cNvPr>
          <p:cNvSpPr txBox="1"/>
          <p:nvPr/>
        </p:nvSpPr>
        <p:spPr>
          <a:xfrm>
            <a:off x="1783080" y="4133087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866103"/>
                </a:solidFill>
                <a:latin typeface="Calibri"/>
              </a:rPr>
              <a:t>WHO DECIDES?</a:t>
            </a:r>
          </a:p>
        </p:txBody>
      </p:sp>
      <p:sp>
        <p:nvSpPr>
          <p:cNvPr id="110" name="TextBox 48">
            <a:extLst>
              <a:ext uri="{FF2B5EF4-FFF2-40B4-BE49-F238E27FC236}">
                <a16:creationId xmlns:a16="http://schemas.microsoft.com/office/drawing/2014/main" id="{D4256B37-E505-57CC-8197-C3531DDA5798}"/>
              </a:ext>
            </a:extLst>
          </p:cNvPr>
          <p:cNvSpPr txBox="1"/>
          <p:nvPr/>
        </p:nvSpPr>
        <p:spPr>
          <a:xfrm>
            <a:off x="1783080" y="4325112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1C2127"/>
                </a:solidFill>
                <a:latin typeface="Calibri"/>
              </a:rPr>
              <a:t>An engineer decides</a:t>
            </a:r>
          </a:p>
        </p:txBody>
      </p:sp>
      <p:cxnSp>
        <p:nvCxnSpPr>
          <p:cNvPr id="111" name="Connector 49">
            <a:extLst>
              <a:ext uri="{FF2B5EF4-FFF2-40B4-BE49-F238E27FC236}">
                <a16:creationId xmlns:a16="http://schemas.microsoft.com/office/drawing/2014/main" id="{A842F9D6-E9B6-59DA-4D0E-EE67F380D932}"/>
              </a:ext>
            </a:extLst>
          </p:cNvPr>
          <p:cNvCxnSpPr/>
          <p:nvPr/>
        </p:nvCxnSpPr>
        <p:spPr>
          <a:xfrm>
            <a:off x="3749039" y="4123944"/>
            <a:ext cx="0" cy="621792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50">
            <a:extLst>
              <a:ext uri="{FF2B5EF4-FFF2-40B4-BE49-F238E27FC236}">
                <a16:creationId xmlns:a16="http://schemas.microsoft.com/office/drawing/2014/main" id="{395124F5-466F-67F6-B76D-92CDE3E6673D}"/>
              </a:ext>
            </a:extLst>
          </p:cNvPr>
          <p:cNvSpPr txBox="1"/>
          <p:nvPr/>
        </p:nvSpPr>
        <p:spPr>
          <a:xfrm>
            <a:off x="3886200" y="4105655"/>
            <a:ext cx="34290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The AI only suggests. Code computes each feed's verdict — PASS, PASS_WITH_FLAGS or FAIL — and model candidates land in a review file, never in generated code. A named engineer confirms flags, implements approvals, raises the PR.</a:t>
            </a:r>
          </a:p>
        </p:txBody>
      </p:sp>
      <p:cxnSp>
        <p:nvCxnSpPr>
          <p:cNvPr id="113" name="Connector 51">
            <a:extLst>
              <a:ext uri="{FF2B5EF4-FFF2-40B4-BE49-F238E27FC236}">
                <a16:creationId xmlns:a16="http://schemas.microsoft.com/office/drawing/2014/main" id="{9CC13945-5A63-8833-F000-861E5660D12D}"/>
              </a:ext>
            </a:extLst>
          </p:cNvPr>
          <p:cNvCxnSpPr/>
          <p:nvPr/>
        </p:nvCxnSpPr>
        <p:spPr>
          <a:xfrm>
            <a:off x="7424927" y="4123944"/>
            <a:ext cx="0" cy="621792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52">
            <a:extLst>
              <a:ext uri="{FF2B5EF4-FFF2-40B4-BE49-F238E27FC236}">
                <a16:creationId xmlns:a16="http://schemas.microsoft.com/office/drawing/2014/main" id="{D3167CFC-6396-C9EB-4889-AC4B08C66EC0}"/>
              </a:ext>
            </a:extLst>
          </p:cNvPr>
          <p:cNvSpPr txBox="1"/>
          <p:nvPr/>
        </p:nvSpPr>
        <p:spPr>
          <a:xfrm>
            <a:off x="7562088" y="4133087"/>
            <a:ext cx="11430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1">
                <a:solidFill>
                  <a:srgbClr val="866103"/>
                </a:solidFill>
                <a:latin typeface="Calibri"/>
              </a:rPr>
              <a:t>gate verdict · candidates.json · human-in-the-loop</a:t>
            </a:r>
          </a:p>
        </p:txBody>
      </p:sp>
      <p:cxnSp>
        <p:nvCxnSpPr>
          <p:cNvPr id="115" name="Connector 53">
            <a:extLst>
              <a:ext uri="{FF2B5EF4-FFF2-40B4-BE49-F238E27FC236}">
                <a16:creationId xmlns:a16="http://schemas.microsoft.com/office/drawing/2014/main" id="{1DDFE806-A26F-0A2A-09DB-30D1A70FCE8F}"/>
              </a:ext>
            </a:extLst>
          </p:cNvPr>
          <p:cNvCxnSpPr/>
          <p:nvPr/>
        </p:nvCxnSpPr>
        <p:spPr>
          <a:xfrm>
            <a:off x="932688" y="3959352"/>
            <a:ext cx="0" cy="54863"/>
          </a:xfrm>
          <a:prstGeom prst="line">
            <a:avLst/>
          </a:prstGeom>
          <a:ln w="15875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ounded Rectangle 54">
            <a:extLst>
              <a:ext uri="{FF2B5EF4-FFF2-40B4-BE49-F238E27FC236}">
                <a16:creationId xmlns:a16="http://schemas.microsoft.com/office/drawing/2014/main" id="{D17CA778-A3C8-2795-4221-EFC3B54A5E1A}"/>
              </a:ext>
            </a:extLst>
          </p:cNvPr>
          <p:cNvSpPr/>
          <p:nvPr/>
        </p:nvSpPr>
        <p:spPr>
          <a:xfrm>
            <a:off x="548640" y="4965191"/>
            <a:ext cx="8257031" cy="603504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00A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ADEDE991-6F5E-EA05-2E0B-5D185AC5435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944" y="5111495"/>
            <a:ext cx="310896" cy="310896"/>
          </a:xfrm>
          <a:prstGeom prst="rect">
            <a:avLst/>
          </a:prstGeom>
        </p:spPr>
      </p:pic>
      <p:sp>
        <p:nvSpPr>
          <p:cNvPr id="118" name="TextBox 56">
            <a:extLst>
              <a:ext uri="{FF2B5EF4-FFF2-40B4-BE49-F238E27FC236}">
                <a16:creationId xmlns:a16="http://schemas.microsoft.com/office/drawing/2014/main" id="{FE1E3DBF-39FA-6DDF-364E-154BF2E5AA6B}"/>
              </a:ext>
            </a:extLst>
          </p:cNvPr>
          <p:cNvSpPr txBox="1"/>
          <p:nvPr/>
        </p:nvSpPr>
        <p:spPr>
          <a:xfrm>
            <a:off x="1115568" y="5056631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007067"/>
                </a:solidFill>
                <a:latin typeface="Calibri"/>
              </a:rPr>
              <a:t>WHAT HAPPENED?</a:t>
            </a:r>
          </a:p>
        </p:txBody>
      </p:sp>
      <p:sp>
        <p:nvSpPr>
          <p:cNvPr id="119" name="TextBox 57">
            <a:extLst>
              <a:ext uri="{FF2B5EF4-FFF2-40B4-BE49-F238E27FC236}">
                <a16:creationId xmlns:a16="http://schemas.microsoft.com/office/drawing/2014/main" id="{2F0540FA-034F-F632-2F17-4B93C6100A0B}"/>
              </a:ext>
            </a:extLst>
          </p:cNvPr>
          <p:cNvSpPr txBox="1"/>
          <p:nvPr/>
        </p:nvSpPr>
        <p:spPr>
          <a:xfrm>
            <a:off x="1115568" y="5239511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b="1">
                <a:solidFill>
                  <a:srgbClr val="1C2127"/>
                </a:solidFill>
                <a:latin typeface="Calibri"/>
              </a:rPr>
              <a:t>Nothing is off the record</a:t>
            </a:r>
          </a:p>
        </p:txBody>
      </p:sp>
      <p:sp>
        <p:nvSpPr>
          <p:cNvPr id="120" name="TextBox 58">
            <a:extLst>
              <a:ext uri="{FF2B5EF4-FFF2-40B4-BE49-F238E27FC236}">
                <a16:creationId xmlns:a16="http://schemas.microsoft.com/office/drawing/2014/main" id="{2EE5AC37-F78A-E527-B599-AB48DD3F5E5D}"/>
              </a:ext>
            </a:extLst>
          </p:cNvPr>
          <p:cNvSpPr txBox="1"/>
          <p:nvPr/>
        </p:nvSpPr>
        <p:spPr>
          <a:xfrm>
            <a:off x="3337560" y="5038343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Every generated file names the exact contracts and SHA-256 fingerprints that produced it; a per-feed report records every rule, its grounding, every model suggestion and the gate verdict.</a:t>
            </a:r>
          </a:p>
        </p:txBody>
      </p:sp>
      <p:sp>
        <p:nvSpPr>
          <p:cNvPr id="121" name="TextBox 59">
            <a:extLst>
              <a:ext uri="{FF2B5EF4-FFF2-40B4-BE49-F238E27FC236}">
                <a16:creationId xmlns:a16="http://schemas.microsoft.com/office/drawing/2014/main" id="{F84D000E-B46D-DD1C-FC83-FBD45990F0B4}"/>
              </a:ext>
            </a:extLst>
          </p:cNvPr>
          <p:cNvSpPr txBox="1"/>
          <p:nvPr/>
        </p:nvSpPr>
        <p:spPr>
          <a:xfrm>
            <a:off x="3337560" y="5367527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1">
                <a:solidFill>
                  <a:srgbClr val="007067"/>
                </a:solidFill>
                <a:latin typeface="Calibri"/>
              </a:rPr>
              <a:t>reports/&lt;feed&gt;.md · provenance banners · byte-stable renders</a:t>
            </a:r>
          </a:p>
        </p:txBody>
      </p:sp>
      <p:sp>
        <p:nvSpPr>
          <p:cNvPr id="122" name="TextBox 60">
            <a:extLst>
              <a:ext uri="{FF2B5EF4-FFF2-40B4-BE49-F238E27FC236}">
                <a16:creationId xmlns:a16="http://schemas.microsoft.com/office/drawing/2014/main" id="{FD80F468-F54F-34CA-0ADB-CF31B9B6BE36}"/>
              </a:ext>
            </a:extLst>
          </p:cNvPr>
          <p:cNvSpPr txBox="1"/>
          <p:nvPr/>
        </p:nvSpPr>
        <p:spPr>
          <a:xfrm>
            <a:off x="548640" y="5733287"/>
            <a:ext cx="35204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1C2127"/>
                </a:solidFill>
                <a:latin typeface="Calibri"/>
              </a:rPr>
              <a:t>Client data crosses the repo boundary in exactly two places</a:t>
            </a:r>
            <a:r>
              <a:rPr sz="850" b="0">
                <a:solidFill>
                  <a:srgbClr val="2F343C"/>
                </a:solidFill>
                <a:latin typeface="Calibri"/>
              </a:rPr>
              <a:t> — both deliberate, both under the stations above, both recorded.</a:t>
            </a:r>
          </a:p>
        </p:txBody>
      </p:sp>
      <p:sp>
        <p:nvSpPr>
          <p:cNvPr id="123" name="Rounded Rectangle 61">
            <a:extLst>
              <a:ext uri="{FF2B5EF4-FFF2-40B4-BE49-F238E27FC236}">
                <a16:creationId xmlns:a16="http://schemas.microsoft.com/office/drawing/2014/main" id="{5378075C-032D-ADB9-899F-57B7A59BC47D}"/>
              </a:ext>
            </a:extLst>
          </p:cNvPr>
          <p:cNvSpPr/>
          <p:nvPr/>
        </p:nvSpPr>
        <p:spPr>
          <a:xfrm>
            <a:off x="4251959" y="5678423"/>
            <a:ext cx="2212848" cy="713232"/>
          </a:xfrm>
          <a:prstGeom prst="roundRect">
            <a:avLst>
              <a:gd name="adj" fmla="val 8000"/>
            </a:avLst>
          </a:prstGeom>
          <a:solidFill>
            <a:srgbClr val="FBEEE8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4" name="TextBox 62">
            <a:extLst>
              <a:ext uri="{FF2B5EF4-FFF2-40B4-BE49-F238E27FC236}">
                <a16:creationId xmlns:a16="http://schemas.microsoft.com/office/drawing/2014/main" id="{066DF3E8-BC25-C309-A85A-647AD114AE76}"/>
              </a:ext>
            </a:extLst>
          </p:cNvPr>
          <p:cNvSpPr txBox="1"/>
          <p:nvPr/>
        </p:nvSpPr>
        <p:spPr>
          <a:xfrm>
            <a:off x="4361688" y="5742431"/>
            <a:ext cx="1993392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1">
                <a:solidFill>
                  <a:srgbClr val="A04D2C"/>
                </a:solidFill>
                <a:latin typeface="Calibri"/>
              </a:rPr>
              <a:t>1  unmapped rule text → Anthropic API</a:t>
            </a:r>
            <a:r>
              <a:rPr sz="750" b="0">
                <a:solidFill>
                  <a:srgbClr val="A04D2C"/>
                </a:solidFill>
                <a:latin typeface="Calibri"/>
              </a:rPr>
              <a:t> — mock by default: zero network without a key; the key lives only in the environment, never the repo.</a:t>
            </a:r>
          </a:p>
        </p:txBody>
      </p:sp>
      <p:sp>
        <p:nvSpPr>
          <p:cNvPr id="125" name="Rounded Rectangle 63">
            <a:extLst>
              <a:ext uri="{FF2B5EF4-FFF2-40B4-BE49-F238E27FC236}">
                <a16:creationId xmlns:a16="http://schemas.microsoft.com/office/drawing/2014/main" id="{8C03E2DC-4180-C7EF-9972-C2D8ADD29152}"/>
              </a:ext>
            </a:extLst>
          </p:cNvPr>
          <p:cNvSpPr/>
          <p:nvPr/>
        </p:nvSpPr>
        <p:spPr>
          <a:xfrm>
            <a:off x="6592824" y="5678423"/>
            <a:ext cx="2212848" cy="713232"/>
          </a:xfrm>
          <a:prstGeom prst="roundRect">
            <a:avLst>
              <a:gd name="adj" fmla="val 8000"/>
            </a:avLst>
          </a:prstGeom>
          <a:solidFill>
            <a:srgbClr val="FBF3DC"/>
          </a:solidFill>
          <a:ln w="12700">
            <a:solidFill>
              <a:srgbClr val="D19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6" name="TextBox 64">
            <a:extLst>
              <a:ext uri="{FF2B5EF4-FFF2-40B4-BE49-F238E27FC236}">
                <a16:creationId xmlns:a16="http://schemas.microsoft.com/office/drawing/2014/main" id="{F61C6501-54D6-33D4-2BB7-470B64F63D74}"/>
              </a:ext>
            </a:extLst>
          </p:cNvPr>
          <p:cNvSpPr txBox="1"/>
          <p:nvPr/>
        </p:nvSpPr>
        <p:spPr>
          <a:xfrm>
            <a:off x="6702552" y="5742431"/>
            <a:ext cx="1993392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1">
                <a:solidFill>
                  <a:srgbClr val="866103"/>
                </a:solidFill>
                <a:latin typeface="Calibri"/>
              </a:rPr>
              <a:t>2  artifacts → SharePoint</a:t>
            </a:r>
            <a:r>
              <a:rPr sz="750" b="0">
                <a:solidFill>
                  <a:srgbClr val="866103"/>
                </a:solidFill>
                <a:latin typeface="Calibri"/>
              </a:rPr>
              <a:t> — a separate, confirm-gated publish to one output folder; every file carries its provenance banner.</a:t>
            </a:r>
          </a:p>
        </p:txBody>
      </p:sp>
      <p:sp>
        <p:nvSpPr>
          <p:cNvPr id="127" name="Rounded Rectangle 65">
            <a:extLst>
              <a:ext uri="{FF2B5EF4-FFF2-40B4-BE49-F238E27FC236}">
                <a16:creationId xmlns:a16="http://schemas.microsoft.com/office/drawing/2014/main" id="{A0790D98-C7B2-02E9-6EB0-BA3BCF5761CD}"/>
              </a:ext>
            </a:extLst>
          </p:cNvPr>
          <p:cNvSpPr/>
          <p:nvPr/>
        </p:nvSpPr>
        <p:spPr>
          <a:xfrm>
            <a:off x="8988552" y="1325880"/>
            <a:ext cx="2651760" cy="5056632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796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8" name="TextBox 66">
            <a:extLst>
              <a:ext uri="{FF2B5EF4-FFF2-40B4-BE49-F238E27FC236}">
                <a16:creationId xmlns:a16="http://schemas.microsoft.com/office/drawing/2014/main" id="{420D8D61-4104-7693-0371-71CA55F065B8}"/>
              </a:ext>
            </a:extLst>
          </p:cNvPr>
          <p:cNvSpPr txBox="1"/>
          <p:nvPr/>
        </p:nvSpPr>
        <p:spPr>
          <a:xfrm>
            <a:off x="8988552" y="1088136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642A6"/>
                </a:solidFill>
                <a:latin typeface="Calibri"/>
              </a:rPr>
              <a:t>→  REGISTERED IN</a:t>
            </a:r>
          </a:p>
        </p:txBody>
      </p:sp>
      <p:pic>
        <p:nvPicPr>
          <p:cNvPr id="129" name="Picture 128">
            <a:extLst>
              <a:ext uri="{FF2B5EF4-FFF2-40B4-BE49-F238E27FC236}">
                <a16:creationId xmlns:a16="http://schemas.microsoft.com/office/drawing/2014/main" id="{0E690BB6-55D0-975C-0D50-893104CC3DA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62872" y="1600200"/>
            <a:ext cx="1920240" cy="457200"/>
          </a:xfrm>
          <a:prstGeom prst="rect">
            <a:avLst/>
          </a:prstGeom>
        </p:spPr>
      </p:pic>
      <p:sp>
        <p:nvSpPr>
          <p:cNvPr id="130" name="TextBox 68">
            <a:extLst>
              <a:ext uri="{FF2B5EF4-FFF2-40B4-BE49-F238E27FC236}">
                <a16:creationId xmlns:a16="http://schemas.microsoft.com/office/drawing/2014/main" id="{8ED7BB61-B65A-55A7-17C6-9E2649258AB7}"/>
              </a:ext>
            </a:extLst>
          </p:cNvPr>
          <p:cNvSpPr txBox="1"/>
          <p:nvPr/>
        </p:nvSpPr>
        <p:spPr>
          <a:xfrm>
            <a:off x="9262872" y="2167128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5642A6"/>
                </a:solidFill>
                <a:latin typeface="Calibri"/>
              </a:rPr>
              <a:t>GOVERNANCE REGISTER</a:t>
            </a:r>
          </a:p>
        </p:txBody>
      </p:sp>
      <p:sp>
        <p:nvSpPr>
          <p:cNvPr id="131" name="TextBox 69">
            <a:extLst>
              <a:ext uri="{FF2B5EF4-FFF2-40B4-BE49-F238E27FC236}">
                <a16:creationId xmlns:a16="http://schemas.microsoft.com/office/drawing/2014/main" id="{E709F874-F971-9392-70C2-7637D9BFFEAC}"/>
              </a:ext>
            </a:extLst>
          </p:cNvPr>
          <p:cNvSpPr txBox="1"/>
          <p:nvPr/>
        </p:nvSpPr>
        <p:spPr>
          <a:xfrm>
            <a:off x="9262872" y="2404872"/>
            <a:ext cx="21488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>
                <a:solidFill>
                  <a:srgbClr val="2F343C"/>
                </a:solidFill>
                <a:latin typeface="Calibri"/>
              </a:rPr>
              <a:t>The client's data-governance catalog. The agent is registered here as an </a:t>
            </a:r>
            <a:r>
              <a:rPr sz="900" b="1">
                <a:solidFill>
                  <a:srgbClr val="1C2127"/>
                </a:solidFill>
                <a:latin typeface="Calibri"/>
              </a:rPr>
              <a:t>AI asset</a:t>
            </a:r>
            <a:r>
              <a:rPr sz="900" b="0">
                <a:solidFill>
                  <a:srgbClr val="2F343C"/>
                </a:solidFill>
                <a:latin typeface="Calibri"/>
              </a:rPr>
              <a:t>: what it is for, who owns and stewards it, how risky it is, the contracts it reads, the code it writes, where that flows, and the controls to the left — one place to answer "what is this agent, and is it under control?"</a:t>
            </a:r>
          </a:p>
        </p:txBody>
      </p:sp>
      <p:sp>
        <p:nvSpPr>
          <p:cNvPr id="132" name="Rounded Rectangle 70">
            <a:extLst>
              <a:ext uri="{FF2B5EF4-FFF2-40B4-BE49-F238E27FC236}">
                <a16:creationId xmlns:a16="http://schemas.microsoft.com/office/drawing/2014/main" id="{3B7FFF1A-796F-7D63-311D-068A9F402211}"/>
              </a:ext>
            </a:extLst>
          </p:cNvPr>
          <p:cNvSpPr/>
          <p:nvPr/>
        </p:nvSpPr>
        <p:spPr>
          <a:xfrm>
            <a:off x="9217152" y="4389120"/>
            <a:ext cx="2194560" cy="1828800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33" name="Picture 132">
            <a:extLst>
              <a:ext uri="{FF2B5EF4-FFF2-40B4-BE49-F238E27FC236}">
                <a16:creationId xmlns:a16="http://schemas.microsoft.com/office/drawing/2014/main" id="{9B9C685E-B3B1-FEB0-1130-FA2D5FE7F02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09176" y="4535424"/>
            <a:ext cx="905256" cy="310896"/>
          </a:xfrm>
          <a:prstGeom prst="rect">
            <a:avLst/>
          </a:prstGeom>
        </p:spPr>
      </p:pic>
      <p:cxnSp>
        <p:nvCxnSpPr>
          <p:cNvPr id="134" name="Connector 72">
            <a:extLst>
              <a:ext uri="{FF2B5EF4-FFF2-40B4-BE49-F238E27FC236}">
                <a16:creationId xmlns:a16="http://schemas.microsoft.com/office/drawing/2014/main" id="{187C89B0-0238-B2F9-1CD3-A60D6C212085}"/>
              </a:ext>
            </a:extLst>
          </p:cNvPr>
          <p:cNvCxnSpPr/>
          <p:nvPr/>
        </p:nvCxnSpPr>
        <p:spPr>
          <a:xfrm>
            <a:off x="10433304" y="4690872"/>
            <a:ext cx="292608" cy="0"/>
          </a:xfrm>
          <a:prstGeom prst="line">
            <a:avLst/>
          </a:prstGeom>
          <a:ln w="15875">
            <a:solidFill>
              <a:srgbClr val="7961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73">
            <a:extLst>
              <a:ext uri="{FF2B5EF4-FFF2-40B4-BE49-F238E27FC236}">
                <a16:creationId xmlns:a16="http://schemas.microsoft.com/office/drawing/2014/main" id="{3323364D-2D64-8262-F3EF-8F2C61F16A1E}"/>
              </a:ext>
            </a:extLst>
          </p:cNvPr>
          <p:cNvSpPr txBox="1"/>
          <p:nvPr/>
        </p:nvSpPr>
        <p:spPr>
          <a:xfrm>
            <a:off x="9372600" y="4956048"/>
            <a:ext cx="190195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1C2127"/>
                </a:solidFill>
                <a:latin typeface="Calibri"/>
              </a:rPr>
              <a:t>Generated DDL is Unity Catalog-native</a:t>
            </a:r>
            <a:r>
              <a:rPr sz="850" b="0">
                <a:solidFill>
                  <a:srgbClr val="2F343C"/>
                </a:solidFill>
                <a:latin typeface="Calibri"/>
              </a:rPr>
              <a:t> — the Delta tables it declares carry owners and sensitivity, harvested into Collibra automatically. Classified once, visible in both.</a:t>
            </a:r>
          </a:p>
        </p:txBody>
      </p:sp>
      <p:cxnSp>
        <p:nvCxnSpPr>
          <p:cNvPr id="136" name="Connector 74">
            <a:extLst>
              <a:ext uri="{FF2B5EF4-FFF2-40B4-BE49-F238E27FC236}">
                <a16:creationId xmlns:a16="http://schemas.microsoft.com/office/drawing/2014/main" id="{D95DE33D-A1FC-39F3-00BA-2E8858AF9789}"/>
              </a:ext>
            </a:extLst>
          </p:cNvPr>
          <p:cNvCxnSpPr/>
          <p:nvPr/>
        </p:nvCxnSpPr>
        <p:spPr>
          <a:xfrm>
            <a:off x="8805672" y="2743200"/>
            <a:ext cx="182880" cy="0"/>
          </a:xfrm>
          <a:prstGeom prst="line">
            <a:avLst/>
          </a:prstGeom>
          <a:ln w="15875">
            <a:solidFill>
              <a:srgbClr val="7961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75">
            <a:extLst>
              <a:ext uri="{FF2B5EF4-FFF2-40B4-BE49-F238E27FC236}">
                <a16:creationId xmlns:a16="http://schemas.microsoft.com/office/drawing/2014/main" id="{7C728CDE-9A2C-F39F-AF94-D2340DFA0A8F}"/>
              </a:ext>
            </a:extLst>
          </p:cNvPr>
          <p:cNvCxnSpPr/>
          <p:nvPr/>
        </p:nvCxnSpPr>
        <p:spPr>
          <a:xfrm>
            <a:off x="8805672" y="4727448"/>
            <a:ext cx="182880" cy="0"/>
          </a:xfrm>
          <a:prstGeom prst="line">
            <a:avLst/>
          </a:prstGeom>
          <a:ln w="15875">
            <a:solidFill>
              <a:srgbClr val="7961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76">
            <a:extLst>
              <a:ext uri="{FF2B5EF4-FFF2-40B4-BE49-F238E27FC236}">
                <a16:creationId xmlns:a16="http://schemas.microsoft.com/office/drawing/2014/main" id="{F95EC919-4A0A-BEB1-CB3A-C101D9565C6F}"/>
              </a:ext>
            </a:extLst>
          </p:cNvPr>
          <p:cNvSpPr txBox="1"/>
          <p:nvPr/>
        </p:nvSpPr>
        <p:spPr>
          <a:xfrm>
            <a:off x="548640" y="651052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007067"/>
                </a:solidFill>
                <a:latin typeface="Calibri"/>
              </a:rPr>
              <a:t>approved contracts</a:t>
            </a:r>
            <a:r>
              <a:rPr sz="1100" b="0">
                <a:solidFill>
                  <a:srgbClr val="C5CBD3"/>
                </a:solidFill>
                <a:latin typeface="Calibri"/>
              </a:rPr>
              <a:t>   ·   </a:t>
            </a:r>
            <a:r>
              <a:rPr sz="1100" b="1">
                <a:solidFill>
                  <a:srgbClr val="866103"/>
                </a:solidFill>
                <a:latin typeface="Calibri"/>
              </a:rPr>
              <a:t>named identities</a:t>
            </a:r>
            <a:r>
              <a:rPr sz="1100" b="0">
                <a:solidFill>
                  <a:srgbClr val="C5CBD3"/>
                </a:solidFill>
                <a:latin typeface="Calibri"/>
              </a:rPr>
              <a:t>   ·   </a:t>
            </a:r>
            <a:r>
              <a:rPr sz="1100" b="1">
                <a:solidFill>
                  <a:srgbClr val="007067"/>
                </a:solidFill>
                <a:latin typeface="Calibri"/>
              </a:rPr>
              <a:t>traceable files</a:t>
            </a:r>
            <a:r>
              <a:rPr sz="1100" b="0">
                <a:solidFill>
                  <a:srgbClr val="C5CBD3"/>
                </a:solidFill>
                <a:latin typeface="Calibri"/>
              </a:rPr>
              <a:t>   ·   </a:t>
            </a:r>
            <a:r>
              <a:rPr sz="1100" b="1">
                <a:solidFill>
                  <a:srgbClr val="866103"/>
                </a:solidFill>
                <a:latin typeface="Calibri"/>
              </a:rPr>
              <a:t>an engineer decides</a:t>
            </a:r>
            <a:r>
              <a:rPr sz="1100" b="0">
                <a:solidFill>
                  <a:srgbClr val="C5CBD3"/>
                </a:solidFill>
                <a:latin typeface="Calibri"/>
              </a:rPr>
              <a:t>   ·   </a:t>
            </a:r>
            <a:r>
              <a:rPr sz="1100" b="1">
                <a:solidFill>
                  <a:srgbClr val="007067"/>
                </a:solidFill>
                <a:latin typeface="Calibri"/>
              </a:rPr>
              <a:t>a record of everything</a:t>
            </a:r>
          </a:p>
        </p:txBody>
      </p:sp>
      <p:sp>
        <p:nvSpPr>
          <p:cNvPr id="139" name="Rounded Rectangle 77">
            <a:extLst>
              <a:ext uri="{FF2B5EF4-FFF2-40B4-BE49-F238E27FC236}">
                <a16:creationId xmlns:a16="http://schemas.microsoft.com/office/drawing/2014/main" id="{4868E017-0979-CC36-3C67-5B3E1D9FE8C5}"/>
              </a:ext>
            </a:extLst>
          </p:cNvPr>
          <p:cNvSpPr/>
          <p:nvPr/>
        </p:nvSpPr>
        <p:spPr>
          <a:xfrm>
            <a:off x="7342631" y="6492240"/>
            <a:ext cx="4297680" cy="27432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0" name="TextBox 78">
            <a:extLst>
              <a:ext uri="{FF2B5EF4-FFF2-40B4-BE49-F238E27FC236}">
                <a16:creationId xmlns:a16="http://schemas.microsoft.com/office/drawing/2014/main" id="{A9902162-4685-6703-04DF-2D675B90782B}"/>
              </a:ext>
            </a:extLst>
          </p:cNvPr>
          <p:cNvSpPr txBox="1"/>
          <p:nvPr/>
        </p:nvSpPr>
        <p:spPr>
          <a:xfrm>
            <a:off x="7342631" y="6556248"/>
            <a:ext cx="42976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00" b="1">
                <a:solidFill>
                  <a:srgbClr val="5F6B7C"/>
                </a:solidFill>
                <a:latin typeface="Calibri"/>
              </a:rPr>
              <a:t>CONTROLS BUILT 2026-08-24 · COLLIBRA ENTRY PENDING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9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40C2F5-D873-5AB2-1B14-D9F1BD76F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545B0DB-735C-8ECE-60AD-9EE79128A232}"/>
              </a:ext>
            </a:extLst>
          </p:cNvPr>
          <p:cNvGrpSpPr/>
          <p:nvPr/>
        </p:nvGrpSpPr>
        <p:grpSpPr>
          <a:xfrm>
            <a:off x="5306059" y="2277688"/>
            <a:ext cx="1371600" cy="1371600"/>
            <a:chOff x="5501640" y="2834640"/>
            <a:chExt cx="1371600" cy="1371600"/>
          </a:xfrm>
        </p:grpSpPr>
        <p:pic>
          <p:nvPicPr>
            <p:cNvPr id="4" name="Graphic 3" descr="Play with solid fill">
              <a:extLst>
                <a:ext uri="{FF2B5EF4-FFF2-40B4-BE49-F238E27FC236}">
                  <a16:creationId xmlns:a16="http://schemas.microsoft.com/office/drawing/2014/main" id="{400E8F1F-86CE-D7B7-A286-DD5C86B34F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12301" y="3086686"/>
              <a:ext cx="914400" cy="914400"/>
            </a:xfrm>
            <a:prstGeom prst="rect">
              <a:avLst/>
            </a:prstGeom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EEC2876-EF11-59B0-3450-FA5391DD95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01640" y="2834640"/>
              <a:ext cx="1371600" cy="13716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4A87861-493A-A334-D6CD-868940FC3309}"/>
              </a:ext>
            </a:extLst>
          </p:cNvPr>
          <p:cNvSpPr txBox="1"/>
          <p:nvPr/>
        </p:nvSpPr>
        <p:spPr>
          <a:xfrm>
            <a:off x="5059017" y="3827532"/>
            <a:ext cx="1938131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STTM Agent Demo       		</a:t>
            </a:r>
          </a:p>
        </p:txBody>
      </p:sp>
    </p:spTree>
    <p:extLst>
      <p:ext uri="{BB962C8B-B14F-4D97-AF65-F5344CB8AC3E}">
        <p14:creationId xmlns:p14="http://schemas.microsoft.com/office/powerpoint/2010/main" val="3469840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B9525C-1AC7-15A4-A0BA-EBAC13C5B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884335-DCB9-E8A9-8BFA-0808CAC69C3F}"/>
              </a:ext>
            </a:extLst>
          </p:cNvPr>
          <p:cNvSpPr/>
          <p:nvPr/>
        </p:nvSpPr>
        <p:spPr>
          <a:xfrm>
            <a:off x="329184" y="182880"/>
            <a:ext cx="76325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9C93A9F-F845-0088-F535-9F24F3FA9B68}"/>
              </a:ext>
            </a:extLst>
          </p:cNvPr>
          <p:cNvSpPr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C70DC3-2ADF-0645-5F82-DCD51F82ACBE}"/>
              </a:ext>
            </a:extLst>
          </p:cNvPr>
          <p:cNvSpPr/>
          <p:nvPr/>
        </p:nvSpPr>
        <p:spPr>
          <a:xfrm>
            <a:off x="1104900" y="1244600"/>
            <a:ext cx="10287000" cy="34417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Prioritizing </a:t>
            </a:r>
            <a:r>
              <a:rPr lang="en-US" sz="1600" dirty="0" err="1"/>
              <a:t>CodeGen</a:t>
            </a:r>
            <a:r>
              <a:rPr lang="en-US" sz="1600" dirty="0"/>
              <a:t> agent to train on various frameworks and project specific templates.</a:t>
            </a:r>
          </a:p>
          <a:p>
            <a:pPr lvl="1"/>
            <a:r>
              <a:rPr lang="en-US" sz="1600" dirty="0"/>
              <a:t>Ex: Ingestion framework, EDH Framework(aka V-query), CMS Framework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Engaging Architecture Team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Engage Platform Team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Engage  AI COE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Deciding on SQL Server DB vs Databricks </a:t>
            </a:r>
            <a:r>
              <a:rPr lang="en-US" sz="1600" dirty="0" err="1"/>
              <a:t>Lakebase</a:t>
            </a:r>
            <a:r>
              <a:rPr lang="en-US" sz="1600" dirty="0"/>
              <a:t> database for Audit or pipeline orchestration</a:t>
            </a:r>
          </a:p>
          <a:p>
            <a:pPr algn="ctr"/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7EB1A7F-5A10-9CF0-E3BF-A84E8F7502D9}"/>
              </a:ext>
            </a:extLst>
          </p:cNvPr>
          <p:cNvSpPr/>
          <p:nvPr/>
        </p:nvSpPr>
        <p:spPr>
          <a:xfrm>
            <a:off x="1219200" y="1346200"/>
            <a:ext cx="2019300" cy="482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Action Items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050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566928"/>
            <a:ext cx="2048256" cy="13533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04" y="2395728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/>
          </a:p>
        </p:txBody>
      </p:sp>
      <p:sp>
        <p:nvSpPr>
          <p:cNvPr id="4" name="Text 1"/>
          <p:cNvSpPr/>
          <p:nvPr/>
        </p:nvSpPr>
        <p:spPr>
          <a:xfrm>
            <a:off x="640080" y="3255264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>
                <a:solidFill>
                  <a:srgbClr val="3F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agents. One governed platform. Every hand-off approved by a person.</a:t>
            </a:r>
            <a:endParaRPr lang="en-US" sz="1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6736F-CE18-BDE7-C036-AB00FB4A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png">
            <a:extLst>
              <a:ext uri="{FF2B5EF4-FFF2-40B4-BE49-F238E27FC236}">
                <a16:creationId xmlns:a16="http://schemas.microsoft.com/office/drawing/2014/main" id="{951297EA-247A-A892-C582-A607AC2BD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>
            <a:extLst>
              <a:ext uri="{FF2B5EF4-FFF2-40B4-BE49-F238E27FC236}">
                <a16:creationId xmlns:a16="http://schemas.microsoft.com/office/drawing/2014/main" id="{C9B9FBA4-1BD1-3D93-BC9E-E2C7CC5A6EA4}"/>
              </a:ext>
            </a:extLst>
          </p:cNvPr>
          <p:cNvCxnSpPr/>
          <p:nvPr/>
        </p:nvCxnSpPr>
        <p:spPr>
          <a:xfrm>
            <a:off x="210311" y="274320"/>
            <a:ext cx="128017" cy="0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2B524701-428B-E08B-7060-DA9473BF3D3A}"/>
              </a:ext>
            </a:extLst>
          </p:cNvPr>
          <p:cNvCxnSpPr/>
          <p:nvPr/>
        </p:nvCxnSpPr>
        <p:spPr>
          <a:xfrm>
            <a:off x="274320" y="210311"/>
            <a:ext cx="0" cy="128017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56D0AEBE-393D-0B2C-83DB-6967080A5635}"/>
              </a:ext>
            </a:extLst>
          </p:cNvPr>
          <p:cNvCxnSpPr/>
          <p:nvPr/>
        </p:nvCxnSpPr>
        <p:spPr>
          <a:xfrm>
            <a:off x="11853367" y="274320"/>
            <a:ext cx="128016" cy="0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CEA60546-6CDC-5087-58F7-72DA00599A1B}"/>
              </a:ext>
            </a:extLst>
          </p:cNvPr>
          <p:cNvCxnSpPr/>
          <p:nvPr/>
        </p:nvCxnSpPr>
        <p:spPr>
          <a:xfrm>
            <a:off x="11917375" y="210311"/>
            <a:ext cx="0" cy="128017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F22CF1A8-E836-25B5-0488-5AAE7D706657}"/>
              </a:ext>
            </a:extLst>
          </p:cNvPr>
          <p:cNvCxnSpPr/>
          <p:nvPr/>
        </p:nvCxnSpPr>
        <p:spPr>
          <a:xfrm>
            <a:off x="210311" y="6583680"/>
            <a:ext cx="128017" cy="0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6C089A9C-C504-CB75-ED49-AC2FA10613C8}"/>
              </a:ext>
            </a:extLst>
          </p:cNvPr>
          <p:cNvCxnSpPr/>
          <p:nvPr/>
        </p:nvCxnSpPr>
        <p:spPr>
          <a:xfrm>
            <a:off x="274320" y="6519672"/>
            <a:ext cx="0" cy="128016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2B9BF912-3057-3C85-A35E-7AF3B9798868}"/>
              </a:ext>
            </a:extLst>
          </p:cNvPr>
          <p:cNvCxnSpPr/>
          <p:nvPr/>
        </p:nvCxnSpPr>
        <p:spPr>
          <a:xfrm>
            <a:off x="11853367" y="6583680"/>
            <a:ext cx="128016" cy="0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745FEC7B-9E71-E7E4-6D6A-3F944B4000E4}"/>
              </a:ext>
            </a:extLst>
          </p:cNvPr>
          <p:cNvCxnSpPr/>
          <p:nvPr/>
        </p:nvCxnSpPr>
        <p:spPr>
          <a:xfrm>
            <a:off x="11917375" y="6519672"/>
            <a:ext cx="0" cy="128016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AD1587F-398B-33DA-8941-0B8E303D66D5}"/>
              </a:ext>
            </a:extLst>
          </p:cNvPr>
          <p:cNvSpPr txBox="1"/>
          <p:nvPr/>
        </p:nvSpPr>
        <p:spPr>
          <a:xfrm>
            <a:off x="548640" y="602647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11418"/>
                </a:solidFill>
                <a:latin typeface="Calibri"/>
              </a:rPr>
              <a:t>FRD → STTM Agent</a:t>
            </a:r>
            <a:r>
              <a:rPr sz="1500" b="0">
                <a:solidFill>
                  <a:srgbClr val="5F6B7C"/>
                </a:solidFill>
                <a:latin typeface="Calibri"/>
              </a:rPr>
              <a:t>    solution architecture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8103C53-98A7-F14D-C677-4FA3AA59D40E}"/>
              </a:ext>
            </a:extLst>
          </p:cNvPr>
          <p:cNvSpPr/>
          <p:nvPr/>
        </p:nvSpPr>
        <p:spPr>
          <a:xfrm>
            <a:off x="548640" y="1371600"/>
            <a:ext cx="11094415" cy="1024128"/>
          </a:xfrm>
          <a:prstGeom prst="roundRect">
            <a:avLst>
              <a:gd name="adj" fmla="val 2500"/>
            </a:avLst>
          </a:prstGeom>
          <a:solidFill>
            <a:srgbClr val="F6F7F9"/>
          </a:solidFill>
          <a:ln w="9525">
            <a:solidFill>
              <a:srgbClr val="D3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3BB12E-E17C-C4F8-F6A4-5737BE99685C}"/>
              </a:ext>
            </a:extLst>
          </p:cNvPr>
          <p:cNvSpPr txBox="1"/>
          <p:nvPr/>
        </p:nvSpPr>
        <p:spPr>
          <a:xfrm>
            <a:off x="777240" y="148132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140">
                <a:solidFill>
                  <a:srgbClr val="5642A6"/>
                </a:solidFill>
                <a:latin typeface="Calibri"/>
              </a:rPr>
              <a:t>SYSTEM OF RECORD</a:t>
            </a:r>
          </a:p>
        </p:txBody>
      </p:sp>
      <p:pic>
        <p:nvPicPr>
          <p:cNvPr id="15" name="Picture 14" descr="sharepoint.png">
            <a:extLst>
              <a:ext uri="{FF2B5EF4-FFF2-40B4-BE49-F238E27FC236}">
                <a16:creationId xmlns:a16="http://schemas.microsoft.com/office/drawing/2014/main" id="{BDA1EAFB-FF1F-EB58-8E4D-7C5052C68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43075"/>
            <a:ext cx="548640" cy="53721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2980990-9DC8-78ED-F348-DCF52895E8E6}"/>
              </a:ext>
            </a:extLst>
          </p:cNvPr>
          <p:cNvSpPr txBox="1"/>
          <p:nvPr/>
        </p:nvSpPr>
        <p:spPr>
          <a:xfrm>
            <a:off x="1463040" y="171907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C2127"/>
                </a:solidFill>
                <a:latin typeface="Calibri"/>
              </a:rPr>
              <a:t>Microsoft SharePoint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695B3E-2422-4DA0-1267-F70D87E06779}"/>
              </a:ext>
            </a:extLst>
          </p:cNvPr>
          <p:cNvSpPr txBox="1"/>
          <p:nvPr/>
        </p:nvSpPr>
        <p:spPr>
          <a:xfrm>
            <a:off x="1463040" y="20116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2F343C"/>
                </a:solidFill>
                <a:latin typeface="Calibri"/>
              </a:rPr>
              <a:t>The client's document library — the only place anything is authored or approved.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1822443-44D6-AD69-857C-359144D8DCEE}"/>
              </a:ext>
            </a:extLst>
          </p:cNvPr>
          <p:cNvSpPr/>
          <p:nvPr/>
        </p:nvSpPr>
        <p:spPr>
          <a:xfrm>
            <a:off x="4983479" y="1673352"/>
            <a:ext cx="2331720" cy="566928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9" name="Picture 18" descr="word.png">
            <a:extLst>
              <a:ext uri="{FF2B5EF4-FFF2-40B4-BE49-F238E27FC236}">
                <a16:creationId xmlns:a16="http://schemas.microsoft.com/office/drawing/2014/main" id="{615A18C3-26D4-5410-3E36-7BEBEB2C4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7" y="1795145"/>
            <a:ext cx="347472" cy="32334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F5AD449-3088-75A6-CF2A-1DD33C637CF9}"/>
              </a:ext>
            </a:extLst>
          </p:cNvPr>
          <p:cNvSpPr txBox="1"/>
          <p:nvPr/>
        </p:nvSpPr>
        <p:spPr>
          <a:xfrm>
            <a:off x="5532119" y="1746504"/>
            <a:ext cx="16916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C2127"/>
                </a:solidFill>
                <a:latin typeface="Calibri"/>
              </a:rPr>
              <a:t>FRD_&lt;name&gt;.docx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75CC9C-CB8B-0119-033B-10209B487424}"/>
              </a:ext>
            </a:extLst>
          </p:cNvPr>
          <p:cNvSpPr txBox="1"/>
          <p:nvPr/>
        </p:nvSpPr>
        <p:spPr>
          <a:xfrm>
            <a:off x="5532119" y="1965960"/>
            <a:ext cx="16916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input — approved requirements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F309164-A387-6E09-0EA5-7823AC7A119A}"/>
              </a:ext>
            </a:extLst>
          </p:cNvPr>
          <p:cNvSpPr/>
          <p:nvPr/>
        </p:nvSpPr>
        <p:spPr>
          <a:xfrm>
            <a:off x="7498079" y="1673352"/>
            <a:ext cx="2331720" cy="566928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3" name="Picture 22" descr="excel.png">
            <a:extLst>
              <a:ext uri="{FF2B5EF4-FFF2-40B4-BE49-F238E27FC236}">
                <a16:creationId xmlns:a16="http://schemas.microsoft.com/office/drawing/2014/main" id="{C3272CC9-3103-96A4-0DDF-7AD44CC8EA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07" y="1795145"/>
            <a:ext cx="347472" cy="3233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EF23200-036C-D4CC-64FD-D6074AFBDAC1}"/>
              </a:ext>
            </a:extLst>
          </p:cNvPr>
          <p:cNvSpPr txBox="1"/>
          <p:nvPr/>
        </p:nvSpPr>
        <p:spPr>
          <a:xfrm>
            <a:off x="8046719" y="1746504"/>
            <a:ext cx="16916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C2127"/>
                </a:solidFill>
                <a:latin typeface="Calibri"/>
              </a:rPr>
              <a:t>STTM_&lt;name&gt;.xlsx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1561D5-D0EC-9F71-D766-19C5FB64FEDD}"/>
              </a:ext>
            </a:extLst>
          </p:cNvPr>
          <p:cNvSpPr txBox="1"/>
          <p:nvPr/>
        </p:nvSpPr>
        <p:spPr>
          <a:xfrm>
            <a:off x="8046719" y="1965960"/>
            <a:ext cx="16916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input — becomes a template</a:t>
            </a:r>
          </a:p>
        </p:txBody>
      </p:sp>
      <p:pic>
        <p:nvPicPr>
          <p:cNvPr id="26" name="Picture 25" descr="entra.png">
            <a:extLst>
              <a:ext uri="{FF2B5EF4-FFF2-40B4-BE49-F238E27FC236}">
                <a16:creationId xmlns:a16="http://schemas.microsoft.com/office/drawing/2014/main" id="{DB0A5147-AE6F-2013-E7AD-2FF28A5671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4119" y="1761966"/>
            <a:ext cx="457200" cy="4079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6BCBBE5-DCAD-7E50-254C-C63256F4C67B}"/>
              </a:ext>
            </a:extLst>
          </p:cNvPr>
          <p:cNvSpPr txBox="1"/>
          <p:nvPr/>
        </p:nvSpPr>
        <p:spPr>
          <a:xfrm>
            <a:off x="10652760" y="1691640"/>
            <a:ext cx="1005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C2127"/>
                </a:solidFill>
                <a:latin typeface="Calibri"/>
              </a:rPr>
              <a:t>Entra ID app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2F343C"/>
                </a:solidFill>
                <a:latin typeface="Calibri"/>
              </a:rPr>
              <a:t>Microsoft Graph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2F343C"/>
                </a:solidFill>
                <a:latin typeface="Calibri"/>
              </a:rPr>
              <a:t>Sites.Selected · read</a:t>
            </a:r>
          </a:p>
        </p:txBody>
      </p:sp>
      <p:cxnSp>
        <p:nvCxnSpPr>
          <p:cNvPr id="28" name="Connector 27">
            <a:extLst>
              <a:ext uri="{FF2B5EF4-FFF2-40B4-BE49-F238E27FC236}">
                <a16:creationId xmlns:a16="http://schemas.microsoft.com/office/drawing/2014/main" id="{8036D12B-D318-E8B7-3FCC-D6054110DBC4}"/>
              </a:ext>
            </a:extLst>
          </p:cNvPr>
          <p:cNvCxnSpPr/>
          <p:nvPr/>
        </p:nvCxnSpPr>
        <p:spPr>
          <a:xfrm>
            <a:off x="4389120" y="2395728"/>
            <a:ext cx="0" cy="393192"/>
          </a:xfrm>
          <a:prstGeom prst="line">
            <a:avLst/>
          </a:prstGeom>
          <a:ln w="19050">
            <a:solidFill>
              <a:srgbClr val="2F34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C46136C-361E-D9EB-83E9-93EC9F888972}"/>
              </a:ext>
            </a:extLst>
          </p:cNvPr>
          <p:cNvSpPr txBox="1"/>
          <p:nvPr/>
        </p:nvSpPr>
        <p:spPr>
          <a:xfrm>
            <a:off x="4517136" y="2491740"/>
            <a:ext cx="7132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F343C"/>
                </a:solidFill>
                <a:latin typeface="Calibri"/>
              </a:rPr>
              <a:t>00  sync on app start-up — imports every FRD_* / STTM_* not yet in Unity Catalog · never writes back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886A930-A2A6-42E6-3ABC-9BF1620162E1}"/>
              </a:ext>
            </a:extLst>
          </p:cNvPr>
          <p:cNvSpPr/>
          <p:nvPr/>
        </p:nvSpPr>
        <p:spPr>
          <a:xfrm>
            <a:off x="548640" y="2788920"/>
            <a:ext cx="11094415" cy="2395728"/>
          </a:xfrm>
          <a:prstGeom prst="roundRect">
            <a:avLst>
              <a:gd name="adj" fmla="val 2500"/>
            </a:avLst>
          </a:prstGeom>
          <a:solidFill>
            <a:srgbClr val="F6F7F9"/>
          </a:solidFill>
          <a:ln w="9525">
            <a:solidFill>
              <a:srgbClr val="D3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28E7FA-395D-8D12-8BA6-632E56FE6ACA}"/>
              </a:ext>
            </a:extLst>
          </p:cNvPr>
          <p:cNvSpPr txBox="1"/>
          <p:nvPr/>
        </p:nvSpPr>
        <p:spPr>
          <a:xfrm>
            <a:off x="777240" y="289864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140">
                <a:solidFill>
                  <a:srgbClr val="007067"/>
                </a:solidFill>
                <a:latin typeface="Calibri"/>
              </a:rPr>
              <a:t>DATA PLATFORM</a:t>
            </a:r>
          </a:p>
        </p:txBody>
      </p:sp>
      <p:pic>
        <p:nvPicPr>
          <p:cNvPr id="32" name="Picture 31" descr="databricks.png">
            <a:extLst>
              <a:ext uri="{FF2B5EF4-FFF2-40B4-BE49-F238E27FC236}">
                <a16:creationId xmlns:a16="http://schemas.microsoft.com/office/drawing/2014/main" id="{E509490E-9695-2222-1AA9-8F3C6EC849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020" y="3063239"/>
            <a:ext cx="784039" cy="43891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875CE55-D61C-925A-BCCF-B5CC0685B812}"/>
              </a:ext>
            </a:extLst>
          </p:cNvPr>
          <p:cNvSpPr txBox="1"/>
          <p:nvPr/>
        </p:nvSpPr>
        <p:spPr>
          <a:xfrm>
            <a:off x="2240280" y="3118103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Databricks</a:t>
            </a:r>
            <a:r>
              <a:rPr sz="1000" b="0">
                <a:solidFill>
                  <a:srgbClr val="2F343C"/>
                </a:solidFill>
                <a:latin typeface="Calibri"/>
              </a:rPr>
              <a:t>   — Jobs run the pipeline, Apps serve the reviewer, Unity Catalog holds every file and table.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28C4B4F-385A-614A-70FC-005B59AC0CD8}"/>
              </a:ext>
            </a:extLst>
          </p:cNvPr>
          <p:cNvSpPr/>
          <p:nvPr/>
        </p:nvSpPr>
        <p:spPr>
          <a:xfrm>
            <a:off x="777240" y="3566160"/>
            <a:ext cx="3063240" cy="1463040"/>
          </a:xfrm>
          <a:prstGeom prst="roundRect">
            <a:avLst>
              <a:gd name="adj" fmla="val 4000"/>
            </a:avLst>
          </a:prstGeom>
          <a:solidFill>
            <a:srgbClr val="EDEFF2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5" name="Picture 34" descr="unitycatalog.png">
            <a:extLst>
              <a:ext uri="{FF2B5EF4-FFF2-40B4-BE49-F238E27FC236}">
                <a16:creationId xmlns:a16="http://schemas.microsoft.com/office/drawing/2014/main" id="{C9B27862-AE9E-E459-4AFA-7F68480CA6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890" y="3712463"/>
            <a:ext cx="1229763" cy="42062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C11BBE9-7D51-75AF-72E9-4DCA08FBC340}"/>
              </a:ext>
            </a:extLst>
          </p:cNvPr>
          <p:cNvSpPr txBox="1"/>
          <p:nvPr/>
        </p:nvSpPr>
        <p:spPr>
          <a:xfrm>
            <a:off x="941832" y="4224528"/>
            <a:ext cx="273405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C2127"/>
                </a:solidFill>
                <a:latin typeface="Calibri"/>
              </a:rPr>
              <a:t>Volumes</a:t>
            </a:r>
            <a:r>
              <a:rPr sz="950" b="0">
                <a:solidFill>
                  <a:srgbClr val="2F343C"/>
                </a:solidFill>
                <a:latin typeface="Calibri"/>
              </a:rPr>
              <a:t>  —  FRDs, approved STTMs, the corpus index, every run's artifacts</a:t>
            </a:r>
          </a:p>
          <a:p>
            <a:pPr algn="l">
              <a:lnSpc>
                <a:spcPct val="106000"/>
              </a:lnSpc>
            </a:pPr>
            <a:r>
              <a:rPr sz="850" b="1">
                <a:solidFill>
                  <a:srgbClr val="007067"/>
                </a:solidFill>
                <a:latin typeface="Consolas"/>
              </a:rPr>
              <a:t>frd_raw · sttm_reference · sttm_out</a:t>
            </a:r>
          </a:p>
          <a:p>
            <a:pPr algn="l">
              <a:lnSpc>
                <a:spcPct val="106000"/>
              </a:lnSpc>
            </a:pPr>
            <a:r>
              <a:rPr sz="950" b="1">
                <a:solidFill>
                  <a:srgbClr val="1C2127"/>
                </a:solidFill>
                <a:latin typeface="Calibri"/>
              </a:rPr>
              <a:t>Delta tables</a:t>
            </a:r>
            <a:r>
              <a:rPr sz="950" b="0">
                <a:solidFill>
                  <a:srgbClr val="2F343C"/>
                </a:solidFill>
                <a:latin typeface="Calibri"/>
              </a:rPr>
              <a:t>  —  run history and contracts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68D420A-7922-D194-EB5E-1A290F702161}"/>
              </a:ext>
            </a:extLst>
          </p:cNvPr>
          <p:cNvSpPr/>
          <p:nvPr/>
        </p:nvSpPr>
        <p:spPr>
          <a:xfrm>
            <a:off x="4023360" y="3566160"/>
            <a:ext cx="4892040" cy="1463040"/>
          </a:xfrm>
          <a:prstGeom prst="roundRect">
            <a:avLst>
              <a:gd name="adj" fmla="val 4000"/>
            </a:avLst>
          </a:prstGeom>
          <a:solidFill>
            <a:srgbClr val="EDEFF2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07D501-DE3D-4335-5DF4-D51C797865B8}"/>
              </a:ext>
            </a:extLst>
          </p:cNvPr>
          <p:cNvSpPr txBox="1"/>
          <p:nvPr/>
        </p:nvSpPr>
        <p:spPr>
          <a:xfrm>
            <a:off x="4187952" y="3675887"/>
            <a:ext cx="456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Generation job</a:t>
            </a:r>
            <a:r>
              <a:rPr sz="950" b="0">
                <a:solidFill>
                  <a:srgbClr val="2F343C"/>
                </a:solidFill>
                <a:latin typeface="Calibri"/>
              </a:rPr>
              <a:t>   Databricks Jobs · serverless · stages 01–04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A1B2BCE-2828-AC85-3C87-6CF886DAA474}"/>
              </a:ext>
            </a:extLst>
          </p:cNvPr>
          <p:cNvSpPr/>
          <p:nvPr/>
        </p:nvSpPr>
        <p:spPr>
          <a:xfrm>
            <a:off x="4187952" y="4005072"/>
            <a:ext cx="1072134" cy="64008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E3A4C5-D82C-7786-9328-4C8844CB8698}"/>
              </a:ext>
            </a:extLst>
          </p:cNvPr>
          <p:cNvSpPr txBox="1"/>
          <p:nvPr/>
        </p:nvSpPr>
        <p:spPr>
          <a:xfrm>
            <a:off x="4279392" y="4069080"/>
            <a:ext cx="88925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B42F2C-F0A7-7A9E-6854-47AD7C25E8FF}"/>
              </a:ext>
            </a:extLst>
          </p:cNvPr>
          <p:cNvSpPr txBox="1"/>
          <p:nvPr/>
        </p:nvSpPr>
        <p:spPr>
          <a:xfrm>
            <a:off x="4279392" y="4233672"/>
            <a:ext cx="88925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C2127"/>
                </a:solidFill>
                <a:latin typeface="Calibri"/>
              </a:rPr>
              <a:t>Ingest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74AFE4-86CD-29F2-3C99-0A976C761502}"/>
              </a:ext>
            </a:extLst>
          </p:cNvPr>
          <p:cNvSpPr txBox="1"/>
          <p:nvPr/>
        </p:nvSpPr>
        <p:spPr>
          <a:xfrm>
            <a:off x="4279392" y="4434840"/>
            <a:ext cx="88925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docx → markdown</a:t>
            </a:r>
          </a:p>
        </p:txBody>
      </p:sp>
      <p:cxnSp>
        <p:nvCxnSpPr>
          <p:cNvPr id="43" name="Connector 42">
            <a:extLst>
              <a:ext uri="{FF2B5EF4-FFF2-40B4-BE49-F238E27FC236}">
                <a16:creationId xmlns:a16="http://schemas.microsoft.com/office/drawing/2014/main" id="{9AA22871-40C8-1845-ED96-54BE5A410905}"/>
              </a:ext>
            </a:extLst>
          </p:cNvPr>
          <p:cNvCxnSpPr/>
          <p:nvPr/>
        </p:nvCxnSpPr>
        <p:spPr>
          <a:xfrm>
            <a:off x="5269229" y="4334256"/>
            <a:ext cx="73152" cy="0"/>
          </a:xfrm>
          <a:prstGeom prst="line">
            <a:avLst/>
          </a:prstGeom>
          <a:ln w="9525">
            <a:solidFill>
              <a:srgbClr val="5F6B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B6A3DA6-F495-E420-27FB-B9E7B9C136F5}"/>
              </a:ext>
            </a:extLst>
          </p:cNvPr>
          <p:cNvSpPr/>
          <p:nvPr/>
        </p:nvSpPr>
        <p:spPr>
          <a:xfrm>
            <a:off x="5351526" y="4005072"/>
            <a:ext cx="1072134" cy="640080"/>
          </a:xfrm>
          <a:prstGeom prst="roundRect">
            <a:avLst>
              <a:gd name="adj" fmla="val 8000"/>
            </a:avLst>
          </a:prstGeom>
          <a:solidFill>
            <a:srgbClr val="FBEEE8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C47422-604A-E230-5146-1655E04DF5F4}"/>
              </a:ext>
            </a:extLst>
          </p:cNvPr>
          <p:cNvSpPr txBox="1"/>
          <p:nvPr/>
        </p:nvSpPr>
        <p:spPr>
          <a:xfrm>
            <a:off x="5442966" y="4069080"/>
            <a:ext cx="88925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A04D2C"/>
                </a:solidFill>
                <a:latin typeface="Consolas"/>
              </a:rPr>
              <a:t>02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CE67BF-D022-59DC-EF43-E52825F650E3}"/>
              </a:ext>
            </a:extLst>
          </p:cNvPr>
          <p:cNvSpPr txBox="1"/>
          <p:nvPr/>
        </p:nvSpPr>
        <p:spPr>
          <a:xfrm>
            <a:off x="5442966" y="4233672"/>
            <a:ext cx="88925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A04D2C"/>
                </a:solidFill>
                <a:latin typeface="Calibri"/>
              </a:rPr>
              <a:t>Extract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F78987B-0538-4A81-4FBD-E95979E63054}"/>
              </a:ext>
            </a:extLst>
          </p:cNvPr>
          <p:cNvSpPr txBox="1"/>
          <p:nvPr/>
        </p:nvSpPr>
        <p:spPr>
          <a:xfrm>
            <a:off x="5442966" y="4434840"/>
            <a:ext cx="88925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04D2C"/>
                </a:solidFill>
                <a:latin typeface="Calibri"/>
              </a:rPr>
              <a:t>the one model call</a:t>
            </a:r>
          </a:p>
        </p:txBody>
      </p:sp>
      <p:cxnSp>
        <p:nvCxnSpPr>
          <p:cNvPr id="48" name="Connector 47">
            <a:extLst>
              <a:ext uri="{FF2B5EF4-FFF2-40B4-BE49-F238E27FC236}">
                <a16:creationId xmlns:a16="http://schemas.microsoft.com/office/drawing/2014/main" id="{FA6CAC2D-D6BB-2978-35F6-6168CDF13FA9}"/>
              </a:ext>
            </a:extLst>
          </p:cNvPr>
          <p:cNvCxnSpPr/>
          <p:nvPr/>
        </p:nvCxnSpPr>
        <p:spPr>
          <a:xfrm>
            <a:off x="6432804" y="4334256"/>
            <a:ext cx="73152" cy="0"/>
          </a:xfrm>
          <a:prstGeom prst="line">
            <a:avLst/>
          </a:prstGeom>
          <a:ln w="9525">
            <a:solidFill>
              <a:srgbClr val="5F6B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FCFB0E80-FBE1-AAE7-651A-AF0844C993AA}"/>
              </a:ext>
            </a:extLst>
          </p:cNvPr>
          <p:cNvSpPr/>
          <p:nvPr/>
        </p:nvSpPr>
        <p:spPr>
          <a:xfrm>
            <a:off x="6515100" y="4005072"/>
            <a:ext cx="1072134" cy="64008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505BBDC-B5D6-BEE4-1F47-01E639EB8C94}"/>
              </a:ext>
            </a:extLst>
          </p:cNvPr>
          <p:cNvSpPr txBox="1"/>
          <p:nvPr/>
        </p:nvSpPr>
        <p:spPr>
          <a:xfrm>
            <a:off x="6606540" y="4069080"/>
            <a:ext cx="88925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B5B2A3-392D-36C8-B0B2-F3891A8DEF24}"/>
              </a:ext>
            </a:extLst>
          </p:cNvPr>
          <p:cNvSpPr txBox="1"/>
          <p:nvPr/>
        </p:nvSpPr>
        <p:spPr>
          <a:xfrm>
            <a:off x="6606540" y="4233672"/>
            <a:ext cx="88925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C2127"/>
                </a:solidFill>
                <a:latin typeface="Calibri"/>
              </a:rPr>
              <a:t>Audit · gate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E74FF68-1712-B44B-7D5F-5BC0D6E88814}"/>
              </a:ext>
            </a:extLst>
          </p:cNvPr>
          <p:cNvSpPr txBox="1"/>
          <p:nvPr/>
        </p:nvSpPr>
        <p:spPr>
          <a:xfrm>
            <a:off x="6606540" y="4434840"/>
            <a:ext cx="88925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verbatim grounding</a:t>
            </a:r>
          </a:p>
        </p:txBody>
      </p:sp>
      <p:cxnSp>
        <p:nvCxnSpPr>
          <p:cNvPr id="53" name="Connector 52">
            <a:extLst>
              <a:ext uri="{FF2B5EF4-FFF2-40B4-BE49-F238E27FC236}">
                <a16:creationId xmlns:a16="http://schemas.microsoft.com/office/drawing/2014/main" id="{01B4418E-EDEF-4023-C5C8-928282B54D52}"/>
              </a:ext>
            </a:extLst>
          </p:cNvPr>
          <p:cNvCxnSpPr/>
          <p:nvPr/>
        </p:nvCxnSpPr>
        <p:spPr>
          <a:xfrm>
            <a:off x="7596377" y="4334256"/>
            <a:ext cx="73152" cy="0"/>
          </a:xfrm>
          <a:prstGeom prst="line">
            <a:avLst/>
          </a:prstGeom>
          <a:ln w="9525">
            <a:solidFill>
              <a:srgbClr val="5F6B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8B77092B-2E5B-644A-966D-6CD0C7AB24A9}"/>
              </a:ext>
            </a:extLst>
          </p:cNvPr>
          <p:cNvSpPr/>
          <p:nvPr/>
        </p:nvSpPr>
        <p:spPr>
          <a:xfrm>
            <a:off x="7678674" y="4005072"/>
            <a:ext cx="1072134" cy="64008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921BC4E-8246-E36C-DBDE-AAE781C38567}"/>
              </a:ext>
            </a:extLst>
          </p:cNvPr>
          <p:cNvSpPr txBox="1"/>
          <p:nvPr/>
        </p:nvSpPr>
        <p:spPr>
          <a:xfrm>
            <a:off x="7770114" y="4069080"/>
            <a:ext cx="88925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657FEE9-4954-269B-C007-7197A717E062}"/>
              </a:ext>
            </a:extLst>
          </p:cNvPr>
          <p:cNvSpPr txBox="1"/>
          <p:nvPr/>
        </p:nvSpPr>
        <p:spPr>
          <a:xfrm>
            <a:off x="7770114" y="4233672"/>
            <a:ext cx="88925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C2127"/>
                </a:solidFill>
                <a:latin typeface="Calibri"/>
              </a:rPr>
              <a:t>Render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842B072-E9F9-E2AE-7DD4-561DD06A46CD}"/>
              </a:ext>
            </a:extLst>
          </p:cNvPr>
          <p:cNvSpPr txBox="1"/>
          <p:nvPr/>
        </p:nvSpPr>
        <p:spPr>
          <a:xfrm>
            <a:off x="7770114" y="4434840"/>
            <a:ext cx="88925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STTM + contract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128455A4-B317-358E-23A9-62BE5FC6D31F}"/>
              </a:ext>
            </a:extLst>
          </p:cNvPr>
          <p:cNvSpPr/>
          <p:nvPr/>
        </p:nvSpPr>
        <p:spPr>
          <a:xfrm>
            <a:off x="9098280" y="3566160"/>
            <a:ext cx="2316175" cy="1463040"/>
          </a:xfrm>
          <a:prstGeom prst="roundRect">
            <a:avLst>
              <a:gd name="adj" fmla="val 4000"/>
            </a:avLst>
          </a:prstGeom>
          <a:solidFill>
            <a:srgbClr val="EDEFF2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8495898-05B5-9CB7-1FAB-81C4A089254A}"/>
              </a:ext>
            </a:extLst>
          </p:cNvPr>
          <p:cNvSpPr txBox="1"/>
          <p:nvPr/>
        </p:nvSpPr>
        <p:spPr>
          <a:xfrm>
            <a:off x="9262872" y="3675887"/>
            <a:ext cx="198699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Review app</a:t>
            </a:r>
            <a:r>
              <a:rPr sz="950" b="0">
                <a:solidFill>
                  <a:srgbClr val="2F343C"/>
                </a:solidFill>
                <a:latin typeface="Calibri"/>
              </a:rPr>
              <a:t>   Databricks Apps</a:t>
            </a:r>
          </a:p>
        </p:txBody>
      </p:sp>
      <p:pic>
        <p:nvPicPr>
          <p:cNvPr id="62" name="Picture 61" descr="fastapi.png">
            <a:extLst>
              <a:ext uri="{FF2B5EF4-FFF2-40B4-BE49-F238E27FC236}">
                <a16:creationId xmlns:a16="http://schemas.microsoft.com/office/drawing/2014/main" id="{08E3C08F-53CC-264E-D907-CFC50E552E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2872" y="4027543"/>
            <a:ext cx="777240" cy="147081"/>
          </a:xfrm>
          <a:prstGeom prst="rect">
            <a:avLst/>
          </a:prstGeom>
        </p:spPr>
      </p:pic>
      <p:pic>
        <p:nvPicPr>
          <p:cNvPr id="63" name="Picture 62" descr="react.png">
            <a:extLst>
              <a:ext uri="{FF2B5EF4-FFF2-40B4-BE49-F238E27FC236}">
                <a16:creationId xmlns:a16="http://schemas.microsoft.com/office/drawing/2014/main" id="{A6037020-E27F-3155-BE6A-C84FEDBEA3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22408" y="3982275"/>
            <a:ext cx="256032" cy="228473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06CF438E-8C0C-08DD-C984-446FD6AEAAFF}"/>
              </a:ext>
            </a:extLst>
          </p:cNvPr>
          <p:cNvSpPr txBox="1"/>
          <p:nvPr/>
        </p:nvSpPr>
        <p:spPr>
          <a:xfrm>
            <a:off x="9262872" y="4297680"/>
            <a:ext cx="19869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2F343C"/>
                </a:solidFill>
                <a:latin typeface="Calibri"/>
              </a:rPr>
              <a:t>On start-up: syncs SharePoint → Unity Catalog. Then pick an FRD · run (confirm-gated) · answer what the agent could not settle · re-render · download.</a:t>
            </a:r>
          </a:p>
        </p:txBody>
      </p:sp>
      <p:cxnSp>
        <p:nvCxnSpPr>
          <p:cNvPr id="65" name="Connector 64">
            <a:extLst>
              <a:ext uri="{FF2B5EF4-FFF2-40B4-BE49-F238E27FC236}">
                <a16:creationId xmlns:a16="http://schemas.microsoft.com/office/drawing/2014/main" id="{327B236C-382E-4227-EC2B-A0B04449F4AF}"/>
              </a:ext>
            </a:extLst>
          </p:cNvPr>
          <p:cNvCxnSpPr/>
          <p:nvPr/>
        </p:nvCxnSpPr>
        <p:spPr>
          <a:xfrm>
            <a:off x="4389120" y="5184648"/>
            <a:ext cx="0" cy="356616"/>
          </a:xfrm>
          <a:prstGeom prst="line">
            <a:avLst/>
          </a:prstGeom>
          <a:ln w="19050">
            <a:solidFill>
              <a:srgbClr val="2F34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F5F02D9-ACC5-F876-7FC3-B609C76616A4}"/>
              </a:ext>
            </a:extLst>
          </p:cNvPr>
          <p:cNvSpPr txBox="1"/>
          <p:nvPr/>
        </p:nvSpPr>
        <p:spPr>
          <a:xfrm>
            <a:off x="4517136" y="5262372"/>
            <a:ext cx="7132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F343C"/>
                </a:solidFill>
                <a:latin typeface="Calibri"/>
              </a:rPr>
              <a:t>draft STTM  .xlsx  +  feed contract  .json   →   to a person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BC18C08-308E-8BA1-330F-4E3C8A8DA7CF}"/>
              </a:ext>
            </a:extLst>
          </p:cNvPr>
          <p:cNvSpPr/>
          <p:nvPr/>
        </p:nvSpPr>
        <p:spPr>
          <a:xfrm>
            <a:off x="548640" y="5541264"/>
            <a:ext cx="5212080" cy="841248"/>
          </a:xfrm>
          <a:prstGeom prst="roundRect">
            <a:avLst>
              <a:gd name="adj" fmla="val 2500"/>
            </a:avLst>
          </a:prstGeom>
          <a:solidFill>
            <a:srgbClr val="F6F7F9"/>
          </a:solidFill>
          <a:ln w="12700">
            <a:solidFill>
              <a:srgbClr val="D19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BA35C5F-6A0C-0D58-14CC-6AF08E23E6AD}"/>
              </a:ext>
            </a:extLst>
          </p:cNvPr>
          <p:cNvSpPr txBox="1"/>
          <p:nvPr/>
        </p:nvSpPr>
        <p:spPr>
          <a:xfrm>
            <a:off x="777240" y="5632703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140">
                <a:solidFill>
                  <a:srgbClr val="866103"/>
                </a:solidFill>
                <a:latin typeface="Calibri"/>
              </a:rPr>
              <a:t>HUMAN REVIEW</a:t>
            </a:r>
          </a:p>
        </p:txBody>
      </p:sp>
      <p:pic>
        <p:nvPicPr>
          <p:cNvPr id="69" name="Picture 68" descr="user.png">
            <a:extLst>
              <a:ext uri="{FF2B5EF4-FFF2-40B4-BE49-F238E27FC236}">
                <a16:creationId xmlns:a16="http://schemas.microsoft.com/office/drawing/2014/main" id="{C005F7D1-07F9-FD51-A4BF-1743C740BC7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" y="5907024"/>
            <a:ext cx="384048" cy="384048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AEFD4D9A-1179-377D-794F-AC40E47640A8}"/>
              </a:ext>
            </a:extLst>
          </p:cNvPr>
          <p:cNvSpPr txBox="1"/>
          <p:nvPr/>
        </p:nvSpPr>
        <p:spPr>
          <a:xfrm>
            <a:off x="1325880" y="5870448"/>
            <a:ext cx="4251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43C"/>
                </a:solidFill>
                <a:latin typeface="Calibri"/>
              </a:rPr>
              <a:t>The reviewer approves the STTM (edits in Excel if needed) and uploads it to SharePoint themselves. The next start-up sync pairs it — it becomes a template.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6F3B0C58-4900-AC39-C6DC-8F810FF00EAD}"/>
              </a:ext>
            </a:extLst>
          </p:cNvPr>
          <p:cNvSpPr/>
          <p:nvPr/>
        </p:nvSpPr>
        <p:spPr>
          <a:xfrm>
            <a:off x="5989320" y="5541264"/>
            <a:ext cx="5653735" cy="841248"/>
          </a:xfrm>
          <a:prstGeom prst="roundRect">
            <a:avLst>
              <a:gd name="adj" fmla="val 2500"/>
            </a:avLst>
          </a:prstGeom>
          <a:solidFill>
            <a:srgbClr val="F6F7F9"/>
          </a:solidFill>
          <a:ln w="12700">
            <a:solidFill>
              <a:srgbClr val="796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B1288BF-6EE4-5110-EC37-8C64E5D4E5F5}"/>
              </a:ext>
            </a:extLst>
          </p:cNvPr>
          <p:cNvSpPr txBox="1"/>
          <p:nvPr/>
        </p:nvSpPr>
        <p:spPr>
          <a:xfrm>
            <a:off x="6217920" y="5632703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140">
                <a:solidFill>
                  <a:srgbClr val="5642A6"/>
                </a:solidFill>
                <a:latin typeface="Calibri"/>
              </a:rPr>
              <a:t>OUTPUTS · DOWNSTREAM</a:t>
            </a:r>
          </a:p>
        </p:txBody>
      </p:sp>
      <p:pic>
        <p:nvPicPr>
          <p:cNvPr id="73" name="Picture 72" descr="excel.png">
            <a:extLst>
              <a:ext uri="{FF2B5EF4-FFF2-40B4-BE49-F238E27FC236}">
                <a16:creationId xmlns:a16="http://schemas.microsoft.com/office/drawing/2014/main" id="{58D8918B-A8F9-BA9B-3F0E-8CD02ADFDA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5937376"/>
            <a:ext cx="347472" cy="323342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FF0AB22B-84E9-9C94-5148-F3D0C64B6E3F}"/>
              </a:ext>
            </a:extLst>
          </p:cNvPr>
          <p:cNvSpPr txBox="1"/>
          <p:nvPr/>
        </p:nvSpPr>
        <p:spPr>
          <a:xfrm>
            <a:off x="6647688" y="5879592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C2127"/>
                </a:solidFill>
                <a:latin typeface="Calibri"/>
              </a:rPr>
              <a:t>STTM workbook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2F343C"/>
                </a:solidFill>
                <a:latin typeface="Calibri"/>
              </a:rPr>
              <a:t>.xlsx · client dialect</a:t>
            </a:r>
          </a:p>
        </p:txBody>
      </p:sp>
      <p:pic>
        <p:nvPicPr>
          <p:cNvPr id="75" name="Picture 74" descr="json.png">
            <a:extLst>
              <a:ext uri="{FF2B5EF4-FFF2-40B4-BE49-F238E27FC236}">
                <a16:creationId xmlns:a16="http://schemas.microsoft.com/office/drawing/2014/main" id="{D925C555-9915-286B-829F-A382C5FFC1F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46720" y="5925312"/>
            <a:ext cx="329184" cy="329184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787484E7-038B-C036-6EEA-D0847AC2DF98}"/>
              </a:ext>
            </a:extLst>
          </p:cNvPr>
          <p:cNvSpPr txBox="1"/>
          <p:nvPr/>
        </p:nvSpPr>
        <p:spPr>
          <a:xfrm>
            <a:off x="8458200" y="5879592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C2127"/>
                </a:solidFill>
                <a:latin typeface="Calibri"/>
              </a:rPr>
              <a:t>Feed contract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2F343C"/>
                </a:solidFill>
                <a:latin typeface="Calibri"/>
              </a:rPr>
              <a:t>contract.json · machine-readable</a:t>
            </a:r>
          </a:p>
        </p:txBody>
      </p:sp>
      <p:cxnSp>
        <p:nvCxnSpPr>
          <p:cNvPr id="77" name="Connector 76">
            <a:extLst>
              <a:ext uri="{FF2B5EF4-FFF2-40B4-BE49-F238E27FC236}">
                <a16:creationId xmlns:a16="http://schemas.microsoft.com/office/drawing/2014/main" id="{D2F32971-1C5F-AF04-1FBE-CF6F199CF1AB}"/>
              </a:ext>
            </a:extLst>
          </p:cNvPr>
          <p:cNvCxnSpPr/>
          <p:nvPr/>
        </p:nvCxnSpPr>
        <p:spPr>
          <a:xfrm>
            <a:off x="10058400" y="6089903"/>
            <a:ext cx="228600" cy="0"/>
          </a:xfrm>
          <a:prstGeom prst="line">
            <a:avLst/>
          </a:prstGeom>
          <a:ln w="15875">
            <a:solidFill>
              <a:srgbClr val="7961D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0D8A0283-2474-6207-3E99-80043144B50A}"/>
              </a:ext>
            </a:extLst>
          </p:cNvPr>
          <p:cNvSpPr txBox="1"/>
          <p:nvPr/>
        </p:nvSpPr>
        <p:spPr>
          <a:xfrm>
            <a:off x="10378440" y="5879592"/>
            <a:ext cx="117317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5642A6"/>
                </a:solidFill>
                <a:latin typeface="Calibri"/>
              </a:rPr>
              <a:t>CodeGen agent</a:t>
            </a:r>
          </a:p>
          <a:p>
            <a:pPr algn="l">
              <a:lnSpc>
                <a:spcPct val="100000"/>
              </a:lnSpc>
            </a:pPr>
            <a:r>
              <a:rPr sz="950" b="1">
                <a:solidFill>
                  <a:srgbClr val="5642A6"/>
                </a:solidFill>
                <a:latin typeface="Calibri"/>
              </a:rPr>
              <a:t>Code Review agent</a:t>
            </a:r>
          </a:p>
        </p:txBody>
      </p:sp>
      <p:cxnSp>
        <p:nvCxnSpPr>
          <p:cNvPr id="79" name="Connector 78">
            <a:extLst>
              <a:ext uri="{FF2B5EF4-FFF2-40B4-BE49-F238E27FC236}">
                <a16:creationId xmlns:a16="http://schemas.microsoft.com/office/drawing/2014/main" id="{D6D42B46-F712-38D0-6EF5-57D0C5CAC13A}"/>
              </a:ext>
            </a:extLst>
          </p:cNvPr>
          <p:cNvCxnSpPr/>
          <p:nvPr/>
        </p:nvCxnSpPr>
        <p:spPr>
          <a:xfrm flipV="1">
            <a:off x="1371600" y="5376672"/>
            <a:ext cx="0" cy="164592"/>
          </a:xfrm>
          <a:prstGeom prst="line">
            <a:avLst/>
          </a:prstGeom>
          <a:ln w="15875">
            <a:solidFill>
              <a:srgbClr val="D198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>
            <a:extLst>
              <a:ext uri="{FF2B5EF4-FFF2-40B4-BE49-F238E27FC236}">
                <a16:creationId xmlns:a16="http://schemas.microsoft.com/office/drawing/2014/main" id="{0C7C222C-F6BB-B44B-C754-2A0EAC52A732}"/>
              </a:ext>
            </a:extLst>
          </p:cNvPr>
          <p:cNvCxnSpPr/>
          <p:nvPr/>
        </p:nvCxnSpPr>
        <p:spPr>
          <a:xfrm flipH="1">
            <a:off x="347472" y="5376672"/>
            <a:ext cx="1024128" cy="0"/>
          </a:xfrm>
          <a:prstGeom prst="line">
            <a:avLst/>
          </a:prstGeom>
          <a:ln w="15875">
            <a:solidFill>
              <a:srgbClr val="D198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>
            <a:extLst>
              <a:ext uri="{FF2B5EF4-FFF2-40B4-BE49-F238E27FC236}">
                <a16:creationId xmlns:a16="http://schemas.microsoft.com/office/drawing/2014/main" id="{3ECC3721-0B9C-5D82-E0A1-58FED60825C7}"/>
              </a:ext>
            </a:extLst>
          </p:cNvPr>
          <p:cNvCxnSpPr/>
          <p:nvPr/>
        </p:nvCxnSpPr>
        <p:spPr>
          <a:xfrm flipV="1">
            <a:off x="347472" y="1883664"/>
            <a:ext cx="0" cy="3493008"/>
          </a:xfrm>
          <a:prstGeom prst="line">
            <a:avLst/>
          </a:prstGeom>
          <a:ln w="15875">
            <a:solidFill>
              <a:srgbClr val="D198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>
            <a:extLst>
              <a:ext uri="{FF2B5EF4-FFF2-40B4-BE49-F238E27FC236}">
                <a16:creationId xmlns:a16="http://schemas.microsoft.com/office/drawing/2014/main" id="{AADA83FB-6946-D224-71B3-F5FFB7490D7B}"/>
              </a:ext>
            </a:extLst>
          </p:cNvPr>
          <p:cNvCxnSpPr/>
          <p:nvPr/>
        </p:nvCxnSpPr>
        <p:spPr>
          <a:xfrm>
            <a:off x="347472" y="1883664"/>
            <a:ext cx="182880" cy="0"/>
          </a:xfrm>
          <a:prstGeom prst="line">
            <a:avLst/>
          </a:prstGeom>
          <a:ln w="15875">
            <a:solidFill>
              <a:srgbClr val="D1980B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26BE760D-B5F7-C8FA-257A-CA34427E3796}"/>
              </a:ext>
            </a:extLst>
          </p:cNvPr>
          <p:cNvSpPr txBox="1"/>
          <p:nvPr/>
        </p:nvSpPr>
        <p:spPr>
          <a:xfrm rot="16200000">
            <a:off x="-877824" y="3602735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866103"/>
                </a:solidFill>
                <a:latin typeface="Calibri"/>
              </a:rPr>
              <a:t>approved STTM goes back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8118765-9F44-3CEC-FC83-9E3EA25D38C5}"/>
              </a:ext>
            </a:extLst>
          </p:cNvPr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A04D2C"/>
                </a:solidFill>
                <a:latin typeface="Calibri"/>
              </a:rPr>
              <a:t>the model proposes</a:t>
            </a:r>
            <a:r>
              <a:rPr sz="1100" b="0">
                <a:solidFill>
                  <a:srgbClr val="C5CBD3"/>
                </a:solidFill>
                <a:latin typeface="Calibri"/>
              </a:rPr>
              <a:t>     ·     </a:t>
            </a:r>
            <a:r>
              <a:rPr sz="1100" b="1">
                <a:solidFill>
                  <a:srgbClr val="007067"/>
                </a:solidFill>
                <a:latin typeface="Calibri"/>
              </a:rPr>
              <a:t>deterministic code audits and decides</a:t>
            </a:r>
            <a:r>
              <a:rPr sz="1100" b="0">
                <a:solidFill>
                  <a:srgbClr val="C5CBD3"/>
                </a:solidFill>
                <a:latin typeface="Calibri"/>
              </a:rPr>
              <a:t>     ·     </a:t>
            </a:r>
            <a:r>
              <a:rPr sz="1100" b="1">
                <a:solidFill>
                  <a:srgbClr val="866103"/>
                </a:solidFill>
                <a:latin typeface="Calibri"/>
              </a:rPr>
              <a:t>a person resolves</a:t>
            </a:r>
          </a:p>
        </p:txBody>
      </p:sp>
    </p:spTree>
    <p:extLst>
      <p:ext uri="{BB962C8B-B14F-4D97-AF65-F5344CB8AC3E}">
        <p14:creationId xmlns:p14="http://schemas.microsoft.com/office/powerpoint/2010/main" val="3574140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86">
            <a:extLst>
              <a:ext uri="{FF2B5EF4-FFF2-40B4-BE49-F238E27FC236}">
                <a16:creationId xmlns:a16="http://schemas.microsoft.com/office/drawing/2014/main" id="{CE8B43E3-1309-E18B-67C9-97B31A96E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88" name="Connector 2">
            <a:extLst>
              <a:ext uri="{FF2B5EF4-FFF2-40B4-BE49-F238E27FC236}">
                <a16:creationId xmlns:a16="http://schemas.microsoft.com/office/drawing/2014/main" id="{2B556E04-5A9A-BA0C-263A-5562109743F5}"/>
              </a:ext>
            </a:extLst>
          </p:cNvPr>
          <p:cNvCxnSpPr/>
          <p:nvPr/>
        </p:nvCxnSpPr>
        <p:spPr>
          <a:xfrm>
            <a:off x="210312" y="27432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3">
            <a:extLst>
              <a:ext uri="{FF2B5EF4-FFF2-40B4-BE49-F238E27FC236}">
                <a16:creationId xmlns:a16="http://schemas.microsoft.com/office/drawing/2014/main" id="{D5AAC969-F284-CDC0-19B0-E477339A3718}"/>
              </a:ext>
            </a:extLst>
          </p:cNvPr>
          <p:cNvCxnSpPr/>
          <p:nvPr/>
        </p:nvCxnSpPr>
        <p:spPr>
          <a:xfrm>
            <a:off x="274320" y="21031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4">
            <a:extLst>
              <a:ext uri="{FF2B5EF4-FFF2-40B4-BE49-F238E27FC236}">
                <a16:creationId xmlns:a16="http://schemas.microsoft.com/office/drawing/2014/main" id="{DCAF2E49-F36E-F86F-1120-5846F9D69919}"/>
              </a:ext>
            </a:extLst>
          </p:cNvPr>
          <p:cNvCxnSpPr/>
          <p:nvPr/>
        </p:nvCxnSpPr>
        <p:spPr>
          <a:xfrm>
            <a:off x="11850624" y="27432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5">
            <a:extLst>
              <a:ext uri="{FF2B5EF4-FFF2-40B4-BE49-F238E27FC236}">
                <a16:creationId xmlns:a16="http://schemas.microsoft.com/office/drawing/2014/main" id="{9577D103-046A-6FBE-FDBA-07BB0D819115}"/>
              </a:ext>
            </a:extLst>
          </p:cNvPr>
          <p:cNvCxnSpPr/>
          <p:nvPr/>
        </p:nvCxnSpPr>
        <p:spPr>
          <a:xfrm>
            <a:off x="11914632" y="21031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6">
            <a:extLst>
              <a:ext uri="{FF2B5EF4-FFF2-40B4-BE49-F238E27FC236}">
                <a16:creationId xmlns:a16="http://schemas.microsoft.com/office/drawing/2014/main" id="{9FDD7D8F-E347-995B-39E3-A1EC4AEC1FD6}"/>
              </a:ext>
            </a:extLst>
          </p:cNvPr>
          <p:cNvCxnSpPr/>
          <p:nvPr/>
        </p:nvCxnSpPr>
        <p:spPr>
          <a:xfrm>
            <a:off x="210312" y="658368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7">
            <a:extLst>
              <a:ext uri="{FF2B5EF4-FFF2-40B4-BE49-F238E27FC236}">
                <a16:creationId xmlns:a16="http://schemas.microsoft.com/office/drawing/2014/main" id="{187F7B77-63CC-ADC1-3D07-AB765217FFA1}"/>
              </a:ext>
            </a:extLst>
          </p:cNvPr>
          <p:cNvCxnSpPr/>
          <p:nvPr/>
        </p:nvCxnSpPr>
        <p:spPr>
          <a:xfrm>
            <a:off x="274320" y="651967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8">
            <a:extLst>
              <a:ext uri="{FF2B5EF4-FFF2-40B4-BE49-F238E27FC236}">
                <a16:creationId xmlns:a16="http://schemas.microsoft.com/office/drawing/2014/main" id="{73CC4AC8-BFF9-0D8E-89A8-A0CDC9C96CAE}"/>
              </a:ext>
            </a:extLst>
          </p:cNvPr>
          <p:cNvCxnSpPr/>
          <p:nvPr/>
        </p:nvCxnSpPr>
        <p:spPr>
          <a:xfrm>
            <a:off x="11850624" y="658368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9">
            <a:extLst>
              <a:ext uri="{FF2B5EF4-FFF2-40B4-BE49-F238E27FC236}">
                <a16:creationId xmlns:a16="http://schemas.microsoft.com/office/drawing/2014/main" id="{A81C39F9-EA80-6C85-6EEA-2F9561846045}"/>
              </a:ext>
            </a:extLst>
          </p:cNvPr>
          <p:cNvCxnSpPr/>
          <p:nvPr/>
        </p:nvCxnSpPr>
        <p:spPr>
          <a:xfrm>
            <a:off x="11914632" y="651967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0">
            <a:extLst>
              <a:ext uri="{FF2B5EF4-FFF2-40B4-BE49-F238E27FC236}">
                <a16:creationId xmlns:a16="http://schemas.microsoft.com/office/drawing/2014/main" id="{E4AF1A60-A7B9-6FD4-6B5A-3A3FD9110384}"/>
              </a:ext>
            </a:extLst>
          </p:cNvPr>
          <p:cNvSpPr txBox="1"/>
          <p:nvPr/>
        </p:nvSpPr>
        <p:spPr>
          <a:xfrm>
            <a:off x="548640" y="347472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F6B7C"/>
                </a:solidFill>
                <a:latin typeface="Calibri"/>
              </a:rPr>
              <a:t>HEXAWARE  ·  AMERIHEALTH CARITAS  ·  AGENT 02 / 03</a:t>
            </a:r>
          </a:p>
        </p:txBody>
      </p:sp>
      <p:sp>
        <p:nvSpPr>
          <p:cNvPr id="116" name="TextBox 11">
            <a:extLst>
              <a:ext uri="{FF2B5EF4-FFF2-40B4-BE49-F238E27FC236}">
                <a16:creationId xmlns:a16="http://schemas.microsoft.com/office/drawing/2014/main" id="{10EE7337-5164-5F5D-3B45-0E29B14ECEEE}"/>
              </a:ext>
            </a:extLst>
          </p:cNvPr>
          <p:cNvSpPr txBox="1"/>
          <p:nvPr/>
        </p:nvSpPr>
        <p:spPr>
          <a:xfrm>
            <a:off x="548640" y="566928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00" b="1">
                <a:solidFill>
                  <a:srgbClr val="111418"/>
                </a:solidFill>
                <a:latin typeface="Calibri"/>
              </a:rPr>
              <a:t>CodeGen Agent</a:t>
            </a:r>
            <a:r>
              <a:rPr sz="1500" b="0">
                <a:solidFill>
                  <a:srgbClr val="5F6B7C"/>
                </a:solidFill>
                <a:latin typeface="Calibri"/>
              </a:rPr>
              <a:t>    solution architecture</a:t>
            </a:r>
          </a:p>
        </p:txBody>
      </p:sp>
      <p:sp>
        <p:nvSpPr>
          <p:cNvPr id="117" name="TextBox 12">
            <a:extLst>
              <a:ext uri="{FF2B5EF4-FFF2-40B4-BE49-F238E27FC236}">
                <a16:creationId xmlns:a16="http://schemas.microsoft.com/office/drawing/2014/main" id="{215C54B7-41F6-FF72-0432-EEC0EE941C9C}"/>
              </a:ext>
            </a:extLst>
          </p:cNvPr>
          <p:cNvSpPr txBox="1"/>
          <p:nvPr/>
        </p:nvSpPr>
        <p:spPr>
          <a:xfrm>
            <a:off x="548640" y="108813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F6B7C"/>
                </a:solidFill>
                <a:latin typeface="Calibri"/>
              </a:rPr>
              <a:t>THE PIPELINE  →</a:t>
            </a:r>
          </a:p>
        </p:txBody>
      </p:sp>
      <p:sp>
        <p:nvSpPr>
          <p:cNvPr id="118" name="Rounded Rectangle 13">
            <a:extLst>
              <a:ext uri="{FF2B5EF4-FFF2-40B4-BE49-F238E27FC236}">
                <a16:creationId xmlns:a16="http://schemas.microsoft.com/office/drawing/2014/main" id="{31DAF9E1-4512-5E6C-DB22-1995D512F1F2}"/>
              </a:ext>
            </a:extLst>
          </p:cNvPr>
          <p:cNvSpPr/>
          <p:nvPr/>
        </p:nvSpPr>
        <p:spPr>
          <a:xfrm>
            <a:off x="548640" y="132588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796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9" name="TextBox 14">
            <a:extLst>
              <a:ext uri="{FF2B5EF4-FFF2-40B4-BE49-F238E27FC236}">
                <a16:creationId xmlns:a16="http://schemas.microsoft.com/office/drawing/2014/main" id="{247EDAC7-B1A4-6107-24EC-6379F5AAA359}"/>
              </a:ext>
            </a:extLst>
          </p:cNvPr>
          <p:cNvSpPr txBox="1"/>
          <p:nvPr/>
        </p:nvSpPr>
        <p:spPr>
          <a:xfrm>
            <a:off x="713232" y="14447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642A6"/>
                </a:solidFill>
                <a:latin typeface="Calibri"/>
              </a:rPr>
              <a:t>SYSTEM OF RECORD</a:t>
            </a: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B2411941-1AFD-8B18-B6DA-0E1682499B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1709928"/>
            <a:ext cx="438912" cy="429768"/>
          </a:xfrm>
          <a:prstGeom prst="rect">
            <a:avLst/>
          </a:prstGeom>
        </p:spPr>
      </p:pic>
      <p:sp>
        <p:nvSpPr>
          <p:cNvPr id="121" name="TextBox 16">
            <a:extLst>
              <a:ext uri="{FF2B5EF4-FFF2-40B4-BE49-F238E27FC236}">
                <a16:creationId xmlns:a16="http://schemas.microsoft.com/office/drawing/2014/main" id="{8E1DF2AA-67C4-D7B3-5817-5A5E91345903}"/>
              </a:ext>
            </a:extLst>
          </p:cNvPr>
          <p:cNvSpPr txBox="1"/>
          <p:nvPr/>
        </p:nvSpPr>
        <p:spPr>
          <a:xfrm>
            <a:off x="1261872" y="1728216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Microsoft</a:t>
            </a:r>
          </a:p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SharePoint</a:t>
            </a:r>
          </a:p>
        </p:txBody>
      </p:sp>
      <p:sp>
        <p:nvSpPr>
          <p:cNvPr id="122" name="TextBox 17">
            <a:extLst>
              <a:ext uri="{FF2B5EF4-FFF2-40B4-BE49-F238E27FC236}">
                <a16:creationId xmlns:a16="http://schemas.microsoft.com/office/drawing/2014/main" id="{2974D325-2600-29C3-C948-ED4C72C684AC}"/>
              </a:ext>
            </a:extLst>
          </p:cNvPr>
          <p:cNvSpPr txBox="1"/>
          <p:nvPr/>
        </p:nvSpPr>
        <p:spPr>
          <a:xfrm>
            <a:off x="713232" y="2258568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0">
                <a:solidFill>
                  <a:srgbClr val="2F343C"/>
                </a:solidFill>
                <a:latin typeface="Calibri"/>
              </a:rPr>
              <a:t>The program's document library — approved contracts and workbooks in, generated artifacts out.</a:t>
            </a:r>
          </a:p>
        </p:txBody>
      </p:sp>
      <p:sp>
        <p:nvSpPr>
          <p:cNvPr id="123" name="Rounded Rectangle 18">
            <a:extLst>
              <a:ext uri="{FF2B5EF4-FFF2-40B4-BE49-F238E27FC236}">
                <a16:creationId xmlns:a16="http://schemas.microsoft.com/office/drawing/2014/main" id="{A909408F-0EBC-981E-B8E5-E239668B1820}"/>
              </a:ext>
            </a:extLst>
          </p:cNvPr>
          <p:cNvSpPr/>
          <p:nvPr/>
        </p:nvSpPr>
        <p:spPr>
          <a:xfrm>
            <a:off x="713232" y="2862072"/>
            <a:ext cx="2368296" cy="502920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DD7493AC-141A-496E-4246-873D3D5891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962656"/>
            <a:ext cx="292608" cy="292608"/>
          </a:xfrm>
          <a:prstGeom prst="rect">
            <a:avLst/>
          </a:prstGeom>
        </p:spPr>
      </p:pic>
      <p:sp>
        <p:nvSpPr>
          <p:cNvPr id="125" name="TextBox 20">
            <a:extLst>
              <a:ext uri="{FF2B5EF4-FFF2-40B4-BE49-F238E27FC236}">
                <a16:creationId xmlns:a16="http://schemas.microsoft.com/office/drawing/2014/main" id="{BC6A5263-7707-25F2-5572-04CEB0295CE8}"/>
              </a:ext>
            </a:extLst>
          </p:cNvPr>
          <p:cNvSpPr txBox="1"/>
          <p:nvPr/>
        </p:nvSpPr>
        <p:spPr>
          <a:xfrm>
            <a:off x="1188719" y="2926080"/>
            <a:ext cx="18470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1C2127"/>
                </a:solidFill>
                <a:latin typeface="Calibri"/>
              </a:rPr>
              <a:t>FRD_&lt;name&gt;.contract.json</a:t>
            </a:r>
          </a:p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input — feed-level facts</a:t>
            </a:r>
          </a:p>
        </p:txBody>
      </p:sp>
      <p:sp>
        <p:nvSpPr>
          <p:cNvPr id="126" name="Rounded Rectangle 21">
            <a:extLst>
              <a:ext uri="{FF2B5EF4-FFF2-40B4-BE49-F238E27FC236}">
                <a16:creationId xmlns:a16="http://schemas.microsoft.com/office/drawing/2014/main" id="{D5FBD8EB-2875-BE53-2A54-EDC801EFF9BA}"/>
              </a:ext>
            </a:extLst>
          </p:cNvPr>
          <p:cNvSpPr/>
          <p:nvPr/>
        </p:nvSpPr>
        <p:spPr>
          <a:xfrm>
            <a:off x="713232" y="3456432"/>
            <a:ext cx="2368296" cy="502920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27" name="Picture 126">
            <a:extLst>
              <a:ext uri="{FF2B5EF4-FFF2-40B4-BE49-F238E27FC236}">
                <a16:creationId xmlns:a16="http://schemas.microsoft.com/office/drawing/2014/main" id="{E800C11F-2ED2-5CA3-FD72-194273CDCB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3566160"/>
            <a:ext cx="310896" cy="283464"/>
          </a:xfrm>
          <a:prstGeom prst="rect">
            <a:avLst/>
          </a:prstGeom>
        </p:spPr>
      </p:pic>
      <p:sp>
        <p:nvSpPr>
          <p:cNvPr id="128" name="TextBox 23">
            <a:extLst>
              <a:ext uri="{FF2B5EF4-FFF2-40B4-BE49-F238E27FC236}">
                <a16:creationId xmlns:a16="http://schemas.microsoft.com/office/drawing/2014/main" id="{02ED1C2A-848F-1922-4681-5F62148A49B2}"/>
              </a:ext>
            </a:extLst>
          </p:cNvPr>
          <p:cNvSpPr txBox="1"/>
          <p:nvPr/>
        </p:nvSpPr>
        <p:spPr>
          <a:xfrm>
            <a:off x="1188719" y="3520439"/>
            <a:ext cx="18470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STTM_&lt;name&gt;.xlsx</a:t>
            </a:r>
          </a:p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input — column mappings</a:t>
            </a:r>
          </a:p>
        </p:txBody>
      </p:sp>
      <p:pic>
        <p:nvPicPr>
          <p:cNvPr id="129" name="Picture 128">
            <a:extLst>
              <a:ext uri="{FF2B5EF4-FFF2-40B4-BE49-F238E27FC236}">
                <a16:creationId xmlns:a16="http://schemas.microsoft.com/office/drawing/2014/main" id="{ADA9466C-3BAF-CE85-FA54-26BF4603E3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4123944"/>
            <a:ext cx="365760" cy="329184"/>
          </a:xfrm>
          <a:prstGeom prst="rect">
            <a:avLst/>
          </a:prstGeom>
        </p:spPr>
      </p:pic>
      <p:sp>
        <p:nvSpPr>
          <p:cNvPr id="130" name="TextBox 25">
            <a:extLst>
              <a:ext uri="{FF2B5EF4-FFF2-40B4-BE49-F238E27FC236}">
                <a16:creationId xmlns:a16="http://schemas.microsoft.com/office/drawing/2014/main" id="{91E54B35-1091-075E-9E7A-2E30FB534ADD}"/>
              </a:ext>
            </a:extLst>
          </p:cNvPr>
          <p:cNvSpPr txBox="1"/>
          <p:nvPr/>
        </p:nvSpPr>
        <p:spPr>
          <a:xfrm>
            <a:off x="1188719" y="4069080"/>
            <a:ext cx="1892807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1C2127"/>
                </a:solidFill>
                <a:latin typeface="Calibri"/>
              </a:rPr>
              <a:t>Entra ID app · Microsoft Graph</a:t>
            </a:r>
          </a:p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Sites.Selected · one write folder</a:t>
            </a:r>
          </a:p>
        </p:txBody>
      </p:sp>
      <p:cxnSp>
        <p:nvCxnSpPr>
          <p:cNvPr id="131" name="Connector 26">
            <a:extLst>
              <a:ext uri="{FF2B5EF4-FFF2-40B4-BE49-F238E27FC236}">
                <a16:creationId xmlns:a16="http://schemas.microsoft.com/office/drawing/2014/main" id="{0E7105D4-36D1-E7B3-1F4F-2F5A4E31D694}"/>
              </a:ext>
            </a:extLst>
          </p:cNvPr>
          <p:cNvCxnSpPr/>
          <p:nvPr/>
        </p:nvCxnSpPr>
        <p:spPr>
          <a:xfrm>
            <a:off x="713232" y="4690872"/>
            <a:ext cx="236829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27">
            <a:extLst>
              <a:ext uri="{FF2B5EF4-FFF2-40B4-BE49-F238E27FC236}">
                <a16:creationId xmlns:a16="http://schemas.microsoft.com/office/drawing/2014/main" id="{D2E9BE1D-F340-693B-045C-3D5DF2B6B16C}"/>
              </a:ext>
            </a:extLst>
          </p:cNvPr>
          <p:cNvSpPr txBox="1"/>
          <p:nvPr/>
        </p:nvSpPr>
        <p:spPr>
          <a:xfrm>
            <a:off x="713232" y="4764024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5642A6"/>
                </a:solidFill>
                <a:latin typeface="Consolas"/>
              </a:rPr>
              <a:t>00 sharepoint-fetch</a:t>
            </a:r>
            <a:r>
              <a:rPr sz="800" b="1">
                <a:solidFill>
                  <a:srgbClr val="5642A6"/>
                </a:solidFill>
                <a:latin typeface="Calibri"/>
              </a:rPr>
              <a:t>  pull is explicit · publish is a separate, confirm-gated step · a re-generate is never a re-publish</a:t>
            </a:r>
          </a:p>
        </p:txBody>
      </p:sp>
      <p:sp>
        <p:nvSpPr>
          <p:cNvPr id="133" name="Rounded Rectangle 28">
            <a:extLst>
              <a:ext uri="{FF2B5EF4-FFF2-40B4-BE49-F238E27FC236}">
                <a16:creationId xmlns:a16="http://schemas.microsoft.com/office/drawing/2014/main" id="{45EDF7A9-C06B-B981-4C73-DD61F1B8126D}"/>
              </a:ext>
            </a:extLst>
          </p:cNvPr>
          <p:cNvSpPr/>
          <p:nvPr/>
        </p:nvSpPr>
        <p:spPr>
          <a:xfrm>
            <a:off x="3346704" y="132588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00A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4" name="TextBox 29">
            <a:extLst>
              <a:ext uri="{FF2B5EF4-FFF2-40B4-BE49-F238E27FC236}">
                <a16:creationId xmlns:a16="http://schemas.microsoft.com/office/drawing/2014/main" id="{A6D76A0E-5C67-9235-1A04-D3C23B63E0E3}"/>
              </a:ext>
            </a:extLst>
          </p:cNvPr>
          <p:cNvSpPr txBox="1"/>
          <p:nvPr/>
        </p:nvSpPr>
        <p:spPr>
          <a:xfrm>
            <a:off x="3511296" y="14447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007067"/>
                </a:solidFill>
                <a:latin typeface="Calibri"/>
              </a:rPr>
              <a:t>GENERATION ENGINE</a:t>
            </a:r>
          </a:p>
        </p:txBody>
      </p:sp>
      <p:sp>
        <p:nvSpPr>
          <p:cNvPr id="135" name="TextBox 30">
            <a:extLst>
              <a:ext uri="{FF2B5EF4-FFF2-40B4-BE49-F238E27FC236}">
                <a16:creationId xmlns:a16="http://schemas.microsoft.com/office/drawing/2014/main" id="{B03977F5-4708-8075-0B2B-0C7B0DC68544}"/>
              </a:ext>
            </a:extLst>
          </p:cNvPr>
          <p:cNvSpPr txBox="1"/>
          <p:nvPr/>
        </p:nvSpPr>
        <p:spPr>
          <a:xfrm>
            <a:off x="3511296" y="169164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007067"/>
                </a:solidFill>
                <a:latin typeface="Consolas"/>
              </a:rPr>
              <a:t>codegen</a:t>
            </a:r>
            <a:r>
              <a:rPr sz="1200" b="1">
                <a:solidFill>
                  <a:srgbClr val="1C2127"/>
                </a:solidFill>
                <a:latin typeface="Calibri"/>
              </a:rPr>
              <a:t> CLI</a:t>
            </a:r>
            <a:r>
              <a:rPr sz="900" b="0">
                <a:solidFill>
                  <a:srgbClr val="2F343C"/>
                </a:solidFill>
                <a:latin typeface="Calibri"/>
              </a:rPr>
              <a:t>   offline · byte-stable</a:t>
            </a:r>
          </a:p>
        </p:txBody>
      </p:sp>
      <p:sp>
        <p:nvSpPr>
          <p:cNvPr id="136" name="TextBox 31">
            <a:extLst>
              <a:ext uri="{FF2B5EF4-FFF2-40B4-BE49-F238E27FC236}">
                <a16:creationId xmlns:a16="http://schemas.microsoft.com/office/drawing/2014/main" id="{906BBD3D-6DB8-DB87-A9B0-7594519A258F}"/>
              </a:ext>
            </a:extLst>
          </p:cNvPr>
          <p:cNvSpPr txBox="1"/>
          <p:nvPr/>
        </p:nvSpPr>
        <p:spPr>
          <a:xfrm>
            <a:off x="3511296" y="1947672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Deterministic Jinja2 renders everything the contracts state; the model only sees what code cannot map.</a:t>
            </a:r>
          </a:p>
        </p:txBody>
      </p:sp>
      <p:sp>
        <p:nvSpPr>
          <p:cNvPr id="137" name="Rounded Rectangle 32">
            <a:extLst>
              <a:ext uri="{FF2B5EF4-FFF2-40B4-BE49-F238E27FC236}">
                <a16:creationId xmlns:a16="http://schemas.microsoft.com/office/drawing/2014/main" id="{CCA9ADBC-730B-C712-B95F-9B1401ECBDCD}"/>
              </a:ext>
            </a:extLst>
          </p:cNvPr>
          <p:cNvSpPr/>
          <p:nvPr/>
        </p:nvSpPr>
        <p:spPr>
          <a:xfrm>
            <a:off x="3511296" y="2404872"/>
            <a:ext cx="2368296" cy="420624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8" name="TextBox 33">
            <a:extLst>
              <a:ext uri="{FF2B5EF4-FFF2-40B4-BE49-F238E27FC236}">
                <a16:creationId xmlns:a16="http://schemas.microsoft.com/office/drawing/2014/main" id="{789EA669-C310-EA59-7792-86FD2DB05587}"/>
              </a:ext>
            </a:extLst>
          </p:cNvPr>
          <p:cNvSpPr txBox="1"/>
          <p:nvPr/>
        </p:nvSpPr>
        <p:spPr>
          <a:xfrm>
            <a:off x="3621024" y="245973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01</a:t>
            </a:r>
          </a:p>
        </p:txBody>
      </p:sp>
      <p:sp>
        <p:nvSpPr>
          <p:cNvPr id="139" name="TextBox 34">
            <a:extLst>
              <a:ext uri="{FF2B5EF4-FFF2-40B4-BE49-F238E27FC236}">
                <a16:creationId xmlns:a16="http://schemas.microsoft.com/office/drawing/2014/main" id="{2442CB2A-1D12-C88E-6B57-0FD0BE451BDF}"/>
              </a:ext>
            </a:extLst>
          </p:cNvPr>
          <p:cNvSpPr txBox="1"/>
          <p:nvPr/>
        </p:nvSpPr>
        <p:spPr>
          <a:xfrm>
            <a:off x="3913632" y="2446020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Resolve</a:t>
            </a:r>
          </a:p>
        </p:txBody>
      </p:sp>
      <p:sp>
        <p:nvSpPr>
          <p:cNvPr id="140" name="TextBox 35">
            <a:extLst>
              <a:ext uri="{FF2B5EF4-FFF2-40B4-BE49-F238E27FC236}">
                <a16:creationId xmlns:a16="http://schemas.microsoft.com/office/drawing/2014/main" id="{5381890D-CE1D-1241-4386-04AFE4E69BA9}"/>
              </a:ext>
            </a:extLst>
          </p:cNvPr>
          <p:cNvSpPr txBox="1"/>
          <p:nvPr/>
        </p:nvSpPr>
        <p:spPr>
          <a:xfrm>
            <a:off x="3913632" y="2624328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>
                <a:solidFill>
                  <a:srgbClr val="2F343C"/>
                </a:solidFill>
                <a:latin typeface="Calibri"/>
              </a:rPr>
              <a:t>FRD ⋈ STTM → frozen spec</a:t>
            </a:r>
          </a:p>
        </p:txBody>
      </p:sp>
      <p:cxnSp>
        <p:nvCxnSpPr>
          <p:cNvPr id="141" name="Connector 36">
            <a:extLst>
              <a:ext uri="{FF2B5EF4-FFF2-40B4-BE49-F238E27FC236}">
                <a16:creationId xmlns:a16="http://schemas.microsoft.com/office/drawing/2014/main" id="{6311918E-CC40-20C8-8BA3-35A35DC5CB1E}"/>
              </a:ext>
            </a:extLst>
          </p:cNvPr>
          <p:cNvCxnSpPr/>
          <p:nvPr/>
        </p:nvCxnSpPr>
        <p:spPr>
          <a:xfrm>
            <a:off x="4690872" y="2825496"/>
            <a:ext cx="0" cy="73152"/>
          </a:xfrm>
          <a:prstGeom prst="line">
            <a:avLst/>
          </a:prstGeom>
          <a:ln w="1270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Rounded Rectangle 37">
            <a:extLst>
              <a:ext uri="{FF2B5EF4-FFF2-40B4-BE49-F238E27FC236}">
                <a16:creationId xmlns:a16="http://schemas.microsoft.com/office/drawing/2014/main" id="{00EC414C-085A-CC51-CA83-5DBC873FB7C1}"/>
              </a:ext>
            </a:extLst>
          </p:cNvPr>
          <p:cNvSpPr/>
          <p:nvPr/>
        </p:nvSpPr>
        <p:spPr>
          <a:xfrm>
            <a:off x="3511296" y="2898648"/>
            <a:ext cx="2368296" cy="420624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3" name="TextBox 38">
            <a:extLst>
              <a:ext uri="{FF2B5EF4-FFF2-40B4-BE49-F238E27FC236}">
                <a16:creationId xmlns:a16="http://schemas.microsoft.com/office/drawing/2014/main" id="{A4923ACF-8440-F91A-83CB-CE4B58CDBBDD}"/>
              </a:ext>
            </a:extLst>
          </p:cNvPr>
          <p:cNvSpPr txBox="1"/>
          <p:nvPr/>
        </p:nvSpPr>
        <p:spPr>
          <a:xfrm>
            <a:off x="3621024" y="295351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02</a:t>
            </a:r>
          </a:p>
        </p:txBody>
      </p:sp>
      <p:sp>
        <p:nvSpPr>
          <p:cNvPr id="144" name="TextBox 39">
            <a:extLst>
              <a:ext uri="{FF2B5EF4-FFF2-40B4-BE49-F238E27FC236}">
                <a16:creationId xmlns:a16="http://schemas.microsoft.com/office/drawing/2014/main" id="{F2D50847-F85D-984B-191D-7D6CFC65415E}"/>
              </a:ext>
            </a:extLst>
          </p:cNvPr>
          <p:cNvSpPr txBox="1"/>
          <p:nvPr/>
        </p:nvSpPr>
        <p:spPr>
          <a:xfrm>
            <a:off x="3913632" y="2939796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Compile rules</a:t>
            </a:r>
          </a:p>
        </p:txBody>
      </p:sp>
      <p:sp>
        <p:nvSpPr>
          <p:cNvPr id="145" name="TextBox 40">
            <a:extLst>
              <a:ext uri="{FF2B5EF4-FFF2-40B4-BE49-F238E27FC236}">
                <a16:creationId xmlns:a16="http://schemas.microsoft.com/office/drawing/2014/main" id="{EF75D2C5-2988-DDB0-E4B5-780F2D26C60B}"/>
              </a:ext>
            </a:extLst>
          </p:cNvPr>
          <p:cNvSpPr txBox="1"/>
          <p:nvPr/>
        </p:nvSpPr>
        <p:spPr>
          <a:xfrm>
            <a:off x="3913632" y="3118104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>
                <a:solidFill>
                  <a:srgbClr val="2F343C"/>
                </a:solidFill>
                <a:latin typeface="Calibri"/>
              </a:rPr>
              <a:t>no-LLM classifier</a:t>
            </a:r>
          </a:p>
        </p:txBody>
      </p:sp>
      <p:cxnSp>
        <p:nvCxnSpPr>
          <p:cNvPr id="146" name="Connector 41">
            <a:extLst>
              <a:ext uri="{FF2B5EF4-FFF2-40B4-BE49-F238E27FC236}">
                <a16:creationId xmlns:a16="http://schemas.microsoft.com/office/drawing/2014/main" id="{EFF37604-D54E-1BEB-8493-A51D9E7A440C}"/>
              </a:ext>
            </a:extLst>
          </p:cNvPr>
          <p:cNvCxnSpPr/>
          <p:nvPr/>
        </p:nvCxnSpPr>
        <p:spPr>
          <a:xfrm>
            <a:off x="4690872" y="3319272"/>
            <a:ext cx="0" cy="73152"/>
          </a:xfrm>
          <a:prstGeom prst="line">
            <a:avLst/>
          </a:prstGeom>
          <a:ln w="1270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ounded Rectangle 42">
            <a:extLst>
              <a:ext uri="{FF2B5EF4-FFF2-40B4-BE49-F238E27FC236}">
                <a16:creationId xmlns:a16="http://schemas.microsoft.com/office/drawing/2014/main" id="{77A7E7B0-BCA1-5464-D650-41019FA21E14}"/>
              </a:ext>
            </a:extLst>
          </p:cNvPr>
          <p:cNvSpPr/>
          <p:nvPr/>
        </p:nvSpPr>
        <p:spPr>
          <a:xfrm>
            <a:off x="3511296" y="3392424"/>
            <a:ext cx="2368296" cy="420624"/>
          </a:xfrm>
          <a:prstGeom prst="roundRect">
            <a:avLst>
              <a:gd name="adj" fmla="val 8000"/>
            </a:avLst>
          </a:prstGeom>
          <a:solidFill>
            <a:srgbClr val="FBEEE8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8" name="TextBox 43">
            <a:extLst>
              <a:ext uri="{FF2B5EF4-FFF2-40B4-BE49-F238E27FC236}">
                <a16:creationId xmlns:a16="http://schemas.microsoft.com/office/drawing/2014/main" id="{EF7C3E80-3BCE-5BE0-C4DB-0B8717F85B88}"/>
              </a:ext>
            </a:extLst>
          </p:cNvPr>
          <p:cNvSpPr txBox="1"/>
          <p:nvPr/>
        </p:nvSpPr>
        <p:spPr>
          <a:xfrm>
            <a:off x="3621024" y="344728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A04D2C"/>
                </a:solidFill>
                <a:latin typeface="Consolas"/>
              </a:rPr>
              <a:t>03</a:t>
            </a:r>
          </a:p>
        </p:txBody>
      </p:sp>
      <p:sp>
        <p:nvSpPr>
          <p:cNvPr id="149" name="TextBox 44">
            <a:extLst>
              <a:ext uri="{FF2B5EF4-FFF2-40B4-BE49-F238E27FC236}">
                <a16:creationId xmlns:a16="http://schemas.microsoft.com/office/drawing/2014/main" id="{A8154E34-17DA-DB43-E1F5-04CB939C74D2}"/>
              </a:ext>
            </a:extLst>
          </p:cNvPr>
          <p:cNvSpPr txBox="1"/>
          <p:nvPr/>
        </p:nvSpPr>
        <p:spPr>
          <a:xfrm>
            <a:off x="3913632" y="3433572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A04D2C"/>
                </a:solidFill>
                <a:latin typeface="Calibri"/>
              </a:rPr>
              <a:t>Reason</a:t>
            </a:r>
          </a:p>
        </p:txBody>
      </p:sp>
      <p:sp>
        <p:nvSpPr>
          <p:cNvPr id="150" name="TextBox 45">
            <a:extLst>
              <a:ext uri="{FF2B5EF4-FFF2-40B4-BE49-F238E27FC236}">
                <a16:creationId xmlns:a16="http://schemas.microsoft.com/office/drawing/2014/main" id="{0B044B98-24DC-2CCC-1F93-F7AECD795ACB}"/>
              </a:ext>
            </a:extLst>
          </p:cNvPr>
          <p:cNvSpPr txBox="1"/>
          <p:nvPr/>
        </p:nvSpPr>
        <p:spPr>
          <a:xfrm>
            <a:off x="3913632" y="3611880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>
                <a:solidFill>
                  <a:srgbClr val="A04D2C"/>
                </a:solidFill>
                <a:latin typeface="Calibri"/>
              </a:rPr>
              <a:t>the one model call</a:t>
            </a:r>
          </a:p>
        </p:txBody>
      </p:sp>
      <p:cxnSp>
        <p:nvCxnSpPr>
          <p:cNvPr id="151" name="Connector 46">
            <a:extLst>
              <a:ext uri="{FF2B5EF4-FFF2-40B4-BE49-F238E27FC236}">
                <a16:creationId xmlns:a16="http://schemas.microsoft.com/office/drawing/2014/main" id="{DF7D2F53-C70C-C223-66D7-2F6ACDA2E420}"/>
              </a:ext>
            </a:extLst>
          </p:cNvPr>
          <p:cNvCxnSpPr/>
          <p:nvPr/>
        </p:nvCxnSpPr>
        <p:spPr>
          <a:xfrm>
            <a:off x="4690872" y="3813048"/>
            <a:ext cx="0" cy="73152"/>
          </a:xfrm>
          <a:prstGeom prst="line">
            <a:avLst/>
          </a:prstGeom>
          <a:ln w="1270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ounded Rectangle 47">
            <a:extLst>
              <a:ext uri="{FF2B5EF4-FFF2-40B4-BE49-F238E27FC236}">
                <a16:creationId xmlns:a16="http://schemas.microsoft.com/office/drawing/2014/main" id="{2D7B50D5-C171-A91D-DDD1-731C82181B79}"/>
              </a:ext>
            </a:extLst>
          </p:cNvPr>
          <p:cNvSpPr/>
          <p:nvPr/>
        </p:nvSpPr>
        <p:spPr>
          <a:xfrm>
            <a:off x="3511296" y="3886200"/>
            <a:ext cx="2368296" cy="420624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3" name="TextBox 48">
            <a:extLst>
              <a:ext uri="{FF2B5EF4-FFF2-40B4-BE49-F238E27FC236}">
                <a16:creationId xmlns:a16="http://schemas.microsoft.com/office/drawing/2014/main" id="{17181D6B-7569-8619-026B-214397B84499}"/>
              </a:ext>
            </a:extLst>
          </p:cNvPr>
          <p:cNvSpPr txBox="1"/>
          <p:nvPr/>
        </p:nvSpPr>
        <p:spPr>
          <a:xfrm>
            <a:off x="3621024" y="3941063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04</a:t>
            </a:r>
          </a:p>
        </p:txBody>
      </p:sp>
      <p:sp>
        <p:nvSpPr>
          <p:cNvPr id="154" name="TextBox 49">
            <a:extLst>
              <a:ext uri="{FF2B5EF4-FFF2-40B4-BE49-F238E27FC236}">
                <a16:creationId xmlns:a16="http://schemas.microsoft.com/office/drawing/2014/main" id="{042DEA9C-0EEF-EAF6-4094-5C6AFAE3437C}"/>
              </a:ext>
            </a:extLst>
          </p:cNvPr>
          <p:cNvSpPr txBox="1"/>
          <p:nvPr/>
        </p:nvSpPr>
        <p:spPr>
          <a:xfrm>
            <a:off x="3913632" y="3927348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Emit · gate</a:t>
            </a:r>
          </a:p>
        </p:txBody>
      </p:sp>
      <p:sp>
        <p:nvSpPr>
          <p:cNvPr id="155" name="TextBox 50">
            <a:extLst>
              <a:ext uri="{FF2B5EF4-FFF2-40B4-BE49-F238E27FC236}">
                <a16:creationId xmlns:a16="http://schemas.microsoft.com/office/drawing/2014/main" id="{466FBF95-0BC5-91F1-F10B-9E13295769C1}"/>
              </a:ext>
            </a:extLst>
          </p:cNvPr>
          <p:cNvSpPr txBox="1"/>
          <p:nvPr/>
        </p:nvSpPr>
        <p:spPr>
          <a:xfrm>
            <a:off x="3913632" y="4105656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>
                <a:solidFill>
                  <a:srgbClr val="2F343C"/>
                </a:solidFill>
                <a:latin typeface="Calibri"/>
              </a:rPr>
              <a:t>Jinja2 → verdict</a:t>
            </a:r>
          </a:p>
        </p:txBody>
      </p:sp>
      <p:pic>
        <p:nvPicPr>
          <p:cNvPr id="156" name="Picture 155">
            <a:extLst>
              <a:ext uri="{FF2B5EF4-FFF2-40B4-BE49-F238E27FC236}">
                <a16:creationId xmlns:a16="http://schemas.microsoft.com/office/drawing/2014/main" id="{8A90ECE1-FD14-5DCF-9AE5-F28D959B81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11296" y="4434840"/>
            <a:ext cx="731520" cy="164592"/>
          </a:xfrm>
          <a:prstGeom prst="rect">
            <a:avLst/>
          </a:prstGeom>
        </p:spPr>
      </p:pic>
      <p:sp>
        <p:nvSpPr>
          <p:cNvPr id="157" name="TextBox 52">
            <a:extLst>
              <a:ext uri="{FF2B5EF4-FFF2-40B4-BE49-F238E27FC236}">
                <a16:creationId xmlns:a16="http://schemas.microsoft.com/office/drawing/2014/main" id="{C924F5AB-3976-78F5-F6C5-A977E3D231B9}"/>
              </a:ext>
            </a:extLst>
          </p:cNvPr>
          <p:cNvSpPr txBox="1"/>
          <p:nvPr/>
        </p:nvSpPr>
        <p:spPr>
          <a:xfrm>
            <a:off x="4334256" y="4398264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mock by default · only unmapped rule text · suggestions land in candidates.json, never in code</a:t>
            </a:r>
          </a:p>
        </p:txBody>
      </p:sp>
      <p:sp>
        <p:nvSpPr>
          <p:cNvPr id="158" name="Rounded Rectangle 53">
            <a:extLst>
              <a:ext uri="{FF2B5EF4-FFF2-40B4-BE49-F238E27FC236}">
                <a16:creationId xmlns:a16="http://schemas.microsoft.com/office/drawing/2014/main" id="{C09C3422-B07D-C36F-9B7F-F7A2AE1F5A2C}"/>
              </a:ext>
            </a:extLst>
          </p:cNvPr>
          <p:cNvSpPr/>
          <p:nvPr/>
        </p:nvSpPr>
        <p:spPr>
          <a:xfrm>
            <a:off x="6144768" y="132588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19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9" name="TextBox 54">
            <a:extLst>
              <a:ext uri="{FF2B5EF4-FFF2-40B4-BE49-F238E27FC236}">
                <a16:creationId xmlns:a16="http://schemas.microsoft.com/office/drawing/2014/main" id="{7903F7ED-1700-515C-860D-BB3B79541891}"/>
              </a:ext>
            </a:extLst>
          </p:cNvPr>
          <p:cNvSpPr txBox="1"/>
          <p:nvPr/>
        </p:nvSpPr>
        <p:spPr>
          <a:xfrm>
            <a:off x="6309359" y="14447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866103"/>
                </a:solidFill>
                <a:latin typeface="Calibri"/>
              </a:rPr>
              <a:t>HUMAN REVIEW</a:t>
            </a:r>
          </a:p>
        </p:txBody>
      </p:sp>
      <p:sp>
        <p:nvSpPr>
          <p:cNvPr id="160" name="TextBox 55">
            <a:extLst>
              <a:ext uri="{FF2B5EF4-FFF2-40B4-BE49-F238E27FC236}">
                <a16:creationId xmlns:a16="http://schemas.microsoft.com/office/drawing/2014/main" id="{20725F08-060F-D065-2FC5-2DA63AE5392A}"/>
              </a:ext>
            </a:extLst>
          </p:cNvPr>
          <p:cNvSpPr txBox="1"/>
          <p:nvPr/>
        </p:nvSpPr>
        <p:spPr>
          <a:xfrm>
            <a:off x="6309359" y="169164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Demo app</a:t>
            </a:r>
            <a:r>
              <a:rPr sz="900" b="0">
                <a:solidFill>
                  <a:srgbClr val="2F343C"/>
                </a:solidFill>
                <a:latin typeface="Calibri"/>
              </a:rPr>
              <a:t>   FastAPI · React</a:t>
            </a:r>
          </a:p>
        </p:txBody>
      </p:sp>
      <p:pic>
        <p:nvPicPr>
          <p:cNvPr id="161" name="Picture 160">
            <a:extLst>
              <a:ext uri="{FF2B5EF4-FFF2-40B4-BE49-F238E27FC236}">
                <a16:creationId xmlns:a16="http://schemas.microsoft.com/office/drawing/2014/main" id="{88702AE1-62BE-6122-6C9A-7D4B782D5F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59" y="1984248"/>
            <a:ext cx="731520" cy="137160"/>
          </a:xfrm>
          <a:prstGeom prst="rect">
            <a:avLst/>
          </a:prstGeom>
        </p:spPr>
      </p:pic>
      <p:pic>
        <p:nvPicPr>
          <p:cNvPr id="162" name="Picture 161">
            <a:extLst>
              <a:ext uri="{FF2B5EF4-FFF2-40B4-BE49-F238E27FC236}">
                <a16:creationId xmlns:a16="http://schemas.microsoft.com/office/drawing/2014/main" id="{5498EDC1-4560-0C77-3237-A8F7361700D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32320" y="1947672"/>
            <a:ext cx="237744" cy="210312"/>
          </a:xfrm>
          <a:prstGeom prst="rect">
            <a:avLst/>
          </a:prstGeom>
        </p:spPr>
      </p:pic>
      <p:sp>
        <p:nvSpPr>
          <p:cNvPr id="163" name="TextBox 58">
            <a:extLst>
              <a:ext uri="{FF2B5EF4-FFF2-40B4-BE49-F238E27FC236}">
                <a16:creationId xmlns:a16="http://schemas.microsoft.com/office/drawing/2014/main" id="{FD91E2CA-746E-466A-4EDD-3E42D9666C33}"/>
              </a:ext>
            </a:extLst>
          </p:cNvPr>
          <p:cNvSpPr txBox="1"/>
          <p:nvPr/>
        </p:nvSpPr>
        <p:spPr>
          <a:xfrm>
            <a:off x="6309359" y="224028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>
                <a:solidFill>
                  <a:srgbClr val="2F343C"/>
                </a:solidFill>
                <a:latin typeface="Calibri"/>
              </a:rPr>
              <a:t>Pick a contract pair · run · read the gate verdict · approve / reject model candidates · publish behind an explicit confirm.</a:t>
            </a:r>
          </a:p>
        </p:txBody>
      </p:sp>
      <p:cxnSp>
        <p:nvCxnSpPr>
          <p:cNvPr id="164" name="Connector 59">
            <a:extLst>
              <a:ext uri="{FF2B5EF4-FFF2-40B4-BE49-F238E27FC236}">
                <a16:creationId xmlns:a16="http://schemas.microsoft.com/office/drawing/2014/main" id="{B9AAF083-7CFA-9C83-C015-162E066179C8}"/>
              </a:ext>
            </a:extLst>
          </p:cNvPr>
          <p:cNvCxnSpPr/>
          <p:nvPr/>
        </p:nvCxnSpPr>
        <p:spPr>
          <a:xfrm>
            <a:off x="6309359" y="2898648"/>
            <a:ext cx="2368297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5" name="Picture 164">
            <a:extLst>
              <a:ext uri="{FF2B5EF4-FFF2-40B4-BE49-F238E27FC236}">
                <a16:creationId xmlns:a16="http://schemas.microsoft.com/office/drawing/2014/main" id="{EABC0795-F1FC-D1AB-BEBE-1E091343EE2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9359" y="3044952"/>
            <a:ext cx="365760" cy="365760"/>
          </a:xfrm>
          <a:prstGeom prst="rect">
            <a:avLst/>
          </a:prstGeom>
        </p:spPr>
      </p:pic>
      <p:sp>
        <p:nvSpPr>
          <p:cNvPr id="166" name="TextBox 61">
            <a:extLst>
              <a:ext uri="{FF2B5EF4-FFF2-40B4-BE49-F238E27FC236}">
                <a16:creationId xmlns:a16="http://schemas.microsoft.com/office/drawing/2014/main" id="{4643B5BA-0F68-7C21-4414-A6170F9EA205}"/>
              </a:ext>
            </a:extLst>
          </p:cNvPr>
          <p:cNvSpPr txBox="1"/>
          <p:nvPr/>
        </p:nvSpPr>
        <p:spPr>
          <a:xfrm>
            <a:off x="6784848" y="3026664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b="1">
                <a:solidFill>
                  <a:srgbClr val="1C2127"/>
                </a:solidFill>
                <a:latin typeface="Calibri"/>
              </a:rPr>
              <a:t>The engineer decides</a:t>
            </a:r>
          </a:p>
        </p:txBody>
      </p:sp>
      <p:sp>
        <p:nvSpPr>
          <p:cNvPr id="167" name="TextBox 62">
            <a:extLst>
              <a:ext uri="{FF2B5EF4-FFF2-40B4-BE49-F238E27FC236}">
                <a16:creationId xmlns:a16="http://schemas.microsoft.com/office/drawing/2014/main" id="{C8F8E1B0-4C25-D6C7-F058-EA5B18957E1B}"/>
              </a:ext>
            </a:extLst>
          </p:cNvPr>
          <p:cNvSpPr txBox="1"/>
          <p:nvPr/>
        </p:nvSpPr>
        <p:spPr>
          <a:xfrm>
            <a:off x="6309359" y="3502152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>
                <a:solidFill>
                  <a:srgbClr val="2F343C"/>
                </a:solidFill>
                <a:latin typeface="Calibri"/>
              </a:rPr>
              <a:t>Reads the verdict — PASS / PASS_WITH_FLAGS / FAIL — confirms flagged rules, implements approved candidates, and raises the PR. Nothing under out/ is ever hand-edited.</a:t>
            </a:r>
          </a:p>
        </p:txBody>
      </p:sp>
      <p:cxnSp>
        <p:nvCxnSpPr>
          <p:cNvPr id="168" name="Connector 63">
            <a:extLst>
              <a:ext uri="{FF2B5EF4-FFF2-40B4-BE49-F238E27FC236}">
                <a16:creationId xmlns:a16="http://schemas.microsoft.com/office/drawing/2014/main" id="{ED08FD1F-3D4F-9869-A1AB-559C9A58BD8B}"/>
              </a:ext>
            </a:extLst>
          </p:cNvPr>
          <p:cNvCxnSpPr/>
          <p:nvPr/>
        </p:nvCxnSpPr>
        <p:spPr>
          <a:xfrm>
            <a:off x="6309359" y="4690872"/>
            <a:ext cx="2368297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64">
            <a:extLst>
              <a:ext uri="{FF2B5EF4-FFF2-40B4-BE49-F238E27FC236}">
                <a16:creationId xmlns:a16="http://schemas.microsoft.com/office/drawing/2014/main" id="{56DD9D36-267D-FEF5-7704-8F92B3272DF2}"/>
              </a:ext>
            </a:extLst>
          </p:cNvPr>
          <p:cNvSpPr txBox="1"/>
          <p:nvPr/>
        </p:nvSpPr>
        <p:spPr>
          <a:xfrm>
            <a:off x="6309359" y="4764024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866103"/>
                </a:solidFill>
                <a:latin typeface="Calibri"/>
              </a:rPr>
              <a:t>gate verdict · candidates.json · engineer-owned PR</a:t>
            </a:r>
          </a:p>
        </p:txBody>
      </p:sp>
      <p:sp>
        <p:nvSpPr>
          <p:cNvPr id="170" name="Rounded Rectangle 65">
            <a:extLst>
              <a:ext uri="{FF2B5EF4-FFF2-40B4-BE49-F238E27FC236}">
                <a16:creationId xmlns:a16="http://schemas.microsoft.com/office/drawing/2014/main" id="{49B98B97-AC6F-52E9-054F-46CA25B5ADB2}"/>
              </a:ext>
            </a:extLst>
          </p:cNvPr>
          <p:cNvSpPr/>
          <p:nvPr/>
        </p:nvSpPr>
        <p:spPr>
          <a:xfrm>
            <a:off x="8942832" y="132588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796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1" name="TextBox 66">
            <a:extLst>
              <a:ext uri="{FF2B5EF4-FFF2-40B4-BE49-F238E27FC236}">
                <a16:creationId xmlns:a16="http://schemas.microsoft.com/office/drawing/2014/main" id="{121BD456-DCB1-6D8C-DCFA-9AF6F5130262}"/>
              </a:ext>
            </a:extLst>
          </p:cNvPr>
          <p:cNvSpPr txBox="1"/>
          <p:nvPr/>
        </p:nvSpPr>
        <p:spPr>
          <a:xfrm>
            <a:off x="9107424" y="14447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642A6"/>
                </a:solidFill>
                <a:latin typeface="Calibri"/>
              </a:rPr>
              <a:t>OUTPUTS · DOWNSTREAM</a:t>
            </a:r>
          </a:p>
        </p:txBody>
      </p:sp>
      <p:pic>
        <p:nvPicPr>
          <p:cNvPr id="172" name="Picture 171">
            <a:extLst>
              <a:ext uri="{FF2B5EF4-FFF2-40B4-BE49-F238E27FC236}">
                <a16:creationId xmlns:a16="http://schemas.microsoft.com/office/drawing/2014/main" id="{7A1303A3-C123-80DA-6E9F-AFC3A26768D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07424" y="1746504"/>
            <a:ext cx="457200" cy="256032"/>
          </a:xfrm>
          <a:prstGeom prst="rect">
            <a:avLst/>
          </a:prstGeom>
        </p:spPr>
      </p:pic>
      <p:sp>
        <p:nvSpPr>
          <p:cNvPr id="173" name="TextBox 68">
            <a:extLst>
              <a:ext uri="{FF2B5EF4-FFF2-40B4-BE49-F238E27FC236}">
                <a16:creationId xmlns:a16="http://schemas.microsoft.com/office/drawing/2014/main" id="{828CAE3A-12FD-F514-5E4C-C00EF59BD7BF}"/>
              </a:ext>
            </a:extLst>
          </p:cNvPr>
          <p:cNvSpPr txBox="1"/>
          <p:nvPr/>
        </p:nvSpPr>
        <p:spPr>
          <a:xfrm>
            <a:off x="9674352" y="1709928"/>
            <a:ext cx="1801368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Pipeline + notebook</a:t>
            </a:r>
          </a:p>
          <a:p>
            <a:pPr algn="l"/>
            <a:r>
              <a:rPr sz="900" b="0">
                <a:solidFill>
                  <a:srgbClr val="2F343C"/>
                </a:solidFill>
                <a:latin typeface="Calibri"/>
              </a:rPr>
              <a:t>PySpark · DDL · job · tests</a:t>
            </a:r>
          </a:p>
        </p:txBody>
      </p:sp>
      <p:pic>
        <p:nvPicPr>
          <p:cNvPr id="174" name="Picture 173">
            <a:extLst>
              <a:ext uri="{FF2B5EF4-FFF2-40B4-BE49-F238E27FC236}">
                <a16:creationId xmlns:a16="http://schemas.microsoft.com/office/drawing/2014/main" id="{B6D92D7C-1866-0477-8D10-A6A697107B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2288" y="2221991"/>
            <a:ext cx="329184" cy="329184"/>
          </a:xfrm>
          <a:prstGeom prst="rect">
            <a:avLst/>
          </a:prstGeom>
        </p:spPr>
      </p:pic>
      <p:sp>
        <p:nvSpPr>
          <p:cNvPr id="175" name="TextBox 70">
            <a:extLst>
              <a:ext uri="{FF2B5EF4-FFF2-40B4-BE49-F238E27FC236}">
                <a16:creationId xmlns:a16="http://schemas.microsoft.com/office/drawing/2014/main" id="{7467D1BF-D24D-78F5-817A-25CF50A24BD4}"/>
              </a:ext>
            </a:extLst>
          </p:cNvPr>
          <p:cNvSpPr txBox="1"/>
          <p:nvPr/>
        </p:nvSpPr>
        <p:spPr>
          <a:xfrm>
            <a:off x="9674352" y="2203704"/>
            <a:ext cx="1801368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Report + candidates</a:t>
            </a:r>
          </a:p>
          <a:p>
            <a:pPr algn="l"/>
            <a:r>
              <a:rPr sz="900" b="0">
                <a:solidFill>
                  <a:srgbClr val="2F343C"/>
                </a:solidFill>
                <a:latin typeface="Calibri"/>
              </a:rPr>
              <a:t>report.md · candidates.json</a:t>
            </a:r>
          </a:p>
        </p:txBody>
      </p:sp>
      <p:sp>
        <p:nvSpPr>
          <p:cNvPr id="176" name="TextBox 71">
            <a:extLst>
              <a:ext uri="{FF2B5EF4-FFF2-40B4-BE49-F238E27FC236}">
                <a16:creationId xmlns:a16="http://schemas.microsoft.com/office/drawing/2014/main" id="{3048859F-5710-CF15-7E4C-0BEBEA78F35D}"/>
              </a:ext>
            </a:extLst>
          </p:cNvPr>
          <p:cNvSpPr txBox="1"/>
          <p:nvPr/>
        </p:nvSpPr>
        <p:spPr>
          <a:xfrm>
            <a:off x="9107424" y="2752344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Every file carries a provenance banner — the contract names and sha256 that produced it.</a:t>
            </a:r>
          </a:p>
        </p:txBody>
      </p:sp>
      <p:cxnSp>
        <p:nvCxnSpPr>
          <p:cNvPr id="177" name="Connector 72">
            <a:extLst>
              <a:ext uri="{FF2B5EF4-FFF2-40B4-BE49-F238E27FC236}">
                <a16:creationId xmlns:a16="http://schemas.microsoft.com/office/drawing/2014/main" id="{6A4BB984-7D4B-E147-895F-3010933DB313}"/>
              </a:ext>
            </a:extLst>
          </p:cNvPr>
          <p:cNvCxnSpPr/>
          <p:nvPr/>
        </p:nvCxnSpPr>
        <p:spPr>
          <a:xfrm>
            <a:off x="9107424" y="3374136"/>
            <a:ext cx="2368295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73">
            <a:extLst>
              <a:ext uri="{FF2B5EF4-FFF2-40B4-BE49-F238E27FC236}">
                <a16:creationId xmlns:a16="http://schemas.microsoft.com/office/drawing/2014/main" id="{625426B1-0645-75A5-9A00-FEDB7786BBA1}"/>
              </a:ext>
            </a:extLst>
          </p:cNvPr>
          <p:cNvCxnSpPr/>
          <p:nvPr/>
        </p:nvCxnSpPr>
        <p:spPr>
          <a:xfrm>
            <a:off x="9107424" y="3721608"/>
            <a:ext cx="274320" cy="0"/>
          </a:xfrm>
          <a:prstGeom prst="line">
            <a:avLst/>
          </a:prstGeom>
          <a:ln w="15875">
            <a:solidFill>
              <a:srgbClr val="7961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74">
            <a:extLst>
              <a:ext uri="{FF2B5EF4-FFF2-40B4-BE49-F238E27FC236}">
                <a16:creationId xmlns:a16="http://schemas.microsoft.com/office/drawing/2014/main" id="{F29E346C-C863-5488-FC52-C3FD86C06990}"/>
              </a:ext>
            </a:extLst>
          </p:cNvPr>
          <p:cNvSpPr txBox="1"/>
          <p:nvPr/>
        </p:nvSpPr>
        <p:spPr>
          <a:xfrm>
            <a:off x="9473184" y="3538728"/>
            <a:ext cx="200253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5642A6"/>
                </a:solidFill>
                <a:latin typeface="Calibri"/>
              </a:rPr>
              <a:t>Code Review agent</a:t>
            </a:r>
          </a:p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reviews what this agent emits — via an engineer-owned PR</a:t>
            </a:r>
          </a:p>
        </p:txBody>
      </p:sp>
      <p:sp>
        <p:nvSpPr>
          <p:cNvPr id="180" name="TextBox 75">
            <a:extLst>
              <a:ext uri="{FF2B5EF4-FFF2-40B4-BE49-F238E27FC236}">
                <a16:creationId xmlns:a16="http://schemas.microsoft.com/office/drawing/2014/main" id="{30C1E951-6F2B-B39B-916F-B95D09A61237}"/>
              </a:ext>
            </a:extLst>
          </p:cNvPr>
          <p:cNvSpPr txBox="1"/>
          <p:nvPr/>
        </p:nvSpPr>
        <p:spPr>
          <a:xfrm>
            <a:off x="9107424" y="425196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The gate pre-flights its checks: ruff, debug scan, secrets scan, test-per-module, tests.</a:t>
            </a:r>
          </a:p>
        </p:txBody>
      </p:sp>
      <p:cxnSp>
        <p:nvCxnSpPr>
          <p:cNvPr id="181" name="Connector 76">
            <a:extLst>
              <a:ext uri="{FF2B5EF4-FFF2-40B4-BE49-F238E27FC236}">
                <a16:creationId xmlns:a16="http://schemas.microsoft.com/office/drawing/2014/main" id="{C6D098DF-9C70-7BAF-11EB-8CE24227373B}"/>
              </a:ext>
            </a:extLst>
          </p:cNvPr>
          <p:cNvCxnSpPr/>
          <p:nvPr/>
        </p:nvCxnSpPr>
        <p:spPr>
          <a:xfrm>
            <a:off x="3246120" y="3383280"/>
            <a:ext cx="100584" cy="0"/>
          </a:xfrm>
          <a:prstGeom prst="line">
            <a:avLst/>
          </a:prstGeom>
          <a:ln w="1905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77">
            <a:extLst>
              <a:ext uri="{FF2B5EF4-FFF2-40B4-BE49-F238E27FC236}">
                <a16:creationId xmlns:a16="http://schemas.microsoft.com/office/drawing/2014/main" id="{A91FB5B5-E04B-C034-F7EE-6D1666364CCF}"/>
              </a:ext>
            </a:extLst>
          </p:cNvPr>
          <p:cNvCxnSpPr/>
          <p:nvPr/>
        </p:nvCxnSpPr>
        <p:spPr>
          <a:xfrm>
            <a:off x="6044184" y="3383280"/>
            <a:ext cx="100584" cy="0"/>
          </a:xfrm>
          <a:prstGeom prst="line">
            <a:avLst/>
          </a:prstGeom>
          <a:ln w="1905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78">
            <a:extLst>
              <a:ext uri="{FF2B5EF4-FFF2-40B4-BE49-F238E27FC236}">
                <a16:creationId xmlns:a16="http://schemas.microsoft.com/office/drawing/2014/main" id="{A1788C8F-DD82-66F8-A51B-002856D23330}"/>
              </a:ext>
            </a:extLst>
          </p:cNvPr>
          <p:cNvCxnSpPr/>
          <p:nvPr/>
        </p:nvCxnSpPr>
        <p:spPr>
          <a:xfrm>
            <a:off x="8842248" y="3383280"/>
            <a:ext cx="100584" cy="0"/>
          </a:xfrm>
          <a:prstGeom prst="line">
            <a:avLst/>
          </a:prstGeom>
          <a:ln w="1905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79">
            <a:extLst>
              <a:ext uri="{FF2B5EF4-FFF2-40B4-BE49-F238E27FC236}">
                <a16:creationId xmlns:a16="http://schemas.microsoft.com/office/drawing/2014/main" id="{A0F74A2D-6893-8DCB-03C0-A956078A94F2}"/>
              </a:ext>
            </a:extLst>
          </p:cNvPr>
          <p:cNvSpPr/>
          <p:nvPr/>
        </p:nvSpPr>
        <p:spPr>
          <a:xfrm>
            <a:off x="548640" y="5577840"/>
            <a:ext cx="11091672" cy="7315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19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5" name="TextBox 80">
            <a:extLst>
              <a:ext uri="{FF2B5EF4-FFF2-40B4-BE49-F238E27FC236}">
                <a16:creationId xmlns:a16="http://schemas.microsoft.com/office/drawing/2014/main" id="{45E8CF79-9142-DE56-7424-68CB0C1D6CD1}"/>
              </a:ext>
            </a:extLst>
          </p:cNvPr>
          <p:cNvSpPr txBox="1"/>
          <p:nvPr/>
        </p:nvSpPr>
        <p:spPr>
          <a:xfrm>
            <a:off x="777240" y="566928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866103"/>
                </a:solidFill>
                <a:latin typeface="Calibri"/>
              </a:rPr>
              <a:t>PUBLISH BACK</a:t>
            </a:r>
          </a:p>
        </p:txBody>
      </p:sp>
      <p:pic>
        <p:nvPicPr>
          <p:cNvPr id="186" name="Picture 185">
            <a:extLst>
              <a:ext uri="{FF2B5EF4-FFF2-40B4-BE49-F238E27FC236}">
                <a16:creationId xmlns:a16="http://schemas.microsoft.com/office/drawing/2014/main" id="{984D9763-AA3B-08BD-BE60-6B7B22D705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907024"/>
            <a:ext cx="310896" cy="301752"/>
          </a:xfrm>
          <a:prstGeom prst="rect">
            <a:avLst/>
          </a:prstGeom>
        </p:spPr>
      </p:pic>
      <p:sp>
        <p:nvSpPr>
          <p:cNvPr id="187" name="TextBox 82">
            <a:extLst>
              <a:ext uri="{FF2B5EF4-FFF2-40B4-BE49-F238E27FC236}">
                <a16:creationId xmlns:a16="http://schemas.microsoft.com/office/drawing/2014/main" id="{7067ECA1-627C-F478-DDF5-C000853E1179}"/>
              </a:ext>
            </a:extLst>
          </p:cNvPr>
          <p:cNvSpPr txBox="1"/>
          <p:nvPr/>
        </p:nvSpPr>
        <p:spPr>
          <a:xfrm>
            <a:off x="1234440" y="5870448"/>
            <a:ext cx="75895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866103"/>
                </a:solidFill>
                <a:latin typeface="Consolas"/>
              </a:rPr>
              <a:t>sharepoint-publish</a:t>
            </a:r>
            <a:r>
              <a:rPr sz="950" b="0">
                <a:solidFill>
                  <a:srgbClr val="2F343C"/>
                </a:solidFill>
                <a:latin typeface="Calibri"/>
              </a:rPr>
              <a:t>  — the engineer returns pipeline, notebook and report to the library's single output folder (file names qualified per feed). The write grant covers only that folder — and the next fetch reads the same library.</a:t>
            </a:r>
          </a:p>
        </p:txBody>
      </p:sp>
      <p:cxnSp>
        <p:nvCxnSpPr>
          <p:cNvPr id="188" name="Connector 83">
            <a:extLst>
              <a:ext uri="{FF2B5EF4-FFF2-40B4-BE49-F238E27FC236}">
                <a16:creationId xmlns:a16="http://schemas.microsoft.com/office/drawing/2014/main" id="{60D5B3B7-3D77-BC8B-2BB2-A695511FE203}"/>
              </a:ext>
            </a:extLst>
          </p:cNvPr>
          <p:cNvCxnSpPr/>
          <p:nvPr/>
        </p:nvCxnSpPr>
        <p:spPr>
          <a:xfrm>
            <a:off x="1892807" y="5440680"/>
            <a:ext cx="0" cy="137160"/>
          </a:xfrm>
          <a:prstGeom prst="line">
            <a:avLst/>
          </a:prstGeom>
          <a:ln w="15875">
            <a:solidFill>
              <a:srgbClr val="D198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84">
            <a:extLst>
              <a:ext uri="{FF2B5EF4-FFF2-40B4-BE49-F238E27FC236}">
                <a16:creationId xmlns:a16="http://schemas.microsoft.com/office/drawing/2014/main" id="{28A48136-77EB-42A6-FAC3-7DA00ECC5940}"/>
              </a:ext>
            </a:extLst>
          </p:cNvPr>
          <p:cNvCxnSpPr/>
          <p:nvPr/>
        </p:nvCxnSpPr>
        <p:spPr>
          <a:xfrm>
            <a:off x="10287000" y="5440680"/>
            <a:ext cx="0" cy="137160"/>
          </a:xfrm>
          <a:prstGeom prst="line">
            <a:avLst/>
          </a:prstGeom>
          <a:ln w="15875">
            <a:solidFill>
              <a:srgbClr val="D198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TextBox 85">
            <a:extLst>
              <a:ext uri="{FF2B5EF4-FFF2-40B4-BE49-F238E27FC236}">
                <a16:creationId xmlns:a16="http://schemas.microsoft.com/office/drawing/2014/main" id="{CDB151B9-2686-4010-3AA0-862DD73480C0}"/>
              </a:ext>
            </a:extLst>
          </p:cNvPr>
          <p:cNvSpPr txBox="1"/>
          <p:nvPr/>
        </p:nvSpPr>
        <p:spPr>
          <a:xfrm>
            <a:off x="9144000" y="5925312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900" b="1">
                <a:solidFill>
                  <a:srgbClr val="866103"/>
                </a:solidFill>
                <a:latin typeface="Calibri"/>
              </a:rPr>
              <a:t>artifacts flow back ←</a:t>
            </a:r>
          </a:p>
        </p:txBody>
      </p:sp>
      <p:sp>
        <p:nvSpPr>
          <p:cNvPr id="191" name="TextBox 86">
            <a:extLst>
              <a:ext uri="{FF2B5EF4-FFF2-40B4-BE49-F238E27FC236}">
                <a16:creationId xmlns:a16="http://schemas.microsoft.com/office/drawing/2014/main" id="{09AE63EF-83DF-5705-068B-E1DFB1523DBF}"/>
              </a:ext>
            </a:extLst>
          </p:cNvPr>
          <p:cNvSpPr txBox="1"/>
          <p:nvPr/>
        </p:nvSpPr>
        <p:spPr>
          <a:xfrm>
            <a:off x="548640" y="651052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007067"/>
                </a:solidFill>
                <a:latin typeface="Calibri"/>
              </a:rPr>
              <a:t>deterministic code renders</a:t>
            </a:r>
            <a:r>
              <a:rPr sz="1100" b="0">
                <a:solidFill>
                  <a:srgbClr val="C5CBD3"/>
                </a:solidFill>
                <a:latin typeface="Calibri"/>
              </a:rPr>
              <a:t>     ·     </a:t>
            </a:r>
            <a:r>
              <a:rPr sz="1100" b="1">
                <a:solidFill>
                  <a:srgbClr val="A04D2C"/>
                </a:solidFill>
                <a:latin typeface="Calibri"/>
              </a:rPr>
              <a:t>the model only suggests</a:t>
            </a:r>
            <a:r>
              <a:rPr sz="1100" b="0">
                <a:solidFill>
                  <a:srgbClr val="C5CBD3"/>
                </a:solidFill>
                <a:latin typeface="Calibri"/>
              </a:rPr>
              <a:t>     ·     </a:t>
            </a:r>
            <a:r>
              <a:rPr sz="1100" b="1">
                <a:solidFill>
                  <a:srgbClr val="866103"/>
                </a:solidFill>
                <a:latin typeface="Calibri"/>
              </a:rPr>
              <a:t>an engineer decides and ships</a:t>
            </a:r>
          </a:p>
        </p:txBody>
      </p:sp>
      <p:pic>
        <p:nvPicPr>
          <p:cNvPr id="192" name="Picture 191">
            <a:extLst>
              <a:ext uri="{FF2B5EF4-FFF2-40B4-BE49-F238E27FC236}">
                <a16:creationId xmlns:a16="http://schemas.microsoft.com/office/drawing/2014/main" id="{9DD31FD5-6E7A-0AAA-B0F4-F75796E4D9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193" name="Connector 2">
            <a:extLst>
              <a:ext uri="{FF2B5EF4-FFF2-40B4-BE49-F238E27FC236}">
                <a16:creationId xmlns:a16="http://schemas.microsoft.com/office/drawing/2014/main" id="{6408C237-C362-BF5A-F29E-D254968E996E}"/>
              </a:ext>
            </a:extLst>
          </p:cNvPr>
          <p:cNvCxnSpPr/>
          <p:nvPr/>
        </p:nvCxnSpPr>
        <p:spPr>
          <a:xfrm>
            <a:off x="210312" y="27432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3">
            <a:extLst>
              <a:ext uri="{FF2B5EF4-FFF2-40B4-BE49-F238E27FC236}">
                <a16:creationId xmlns:a16="http://schemas.microsoft.com/office/drawing/2014/main" id="{4DE2D77B-AB15-E0F1-1A1B-E13897B5604C}"/>
              </a:ext>
            </a:extLst>
          </p:cNvPr>
          <p:cNvCxnSpPr/>
          <p:nvPr/>
        </p:nvCxnSpPr>
        <p:spPr>
          <a:xfrm>
            <a:off x="274320" y="21031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4">
            <a:extLst>
              <a:ext uri="{FF2B5EF4-FFF2-40B4-BE49-F238E27FC236}">
                <a16:creationId xmlns:a16="http://schemas.microsoft.com/office/drawing/2014/main" id="{246F5F18-0413-6292-003D-0FA0E37F6C56}"/>
              </a:ext>
            </a:extLst>
          </p:cNvPr>
          <p:cNvCxnSpPr/>
          <p:nvPr/>
        </p:nvCxnSpPr>
        <p:spPr>
          <a:xfrm>
            <a:off x="11850624" y="27432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5">
            <a:extLst>
              <a:ext uri="{FF2B5EF4-FFF2-40B4-BE49-F238E27FC236}">
                <a16:creationId xmlns:a16="http://schemas.microsoft.com/office/drawing/2014/main" id="{594B57C6-F325-82D8-4378-AA70E2034713}"/>
              </a:ext>
            </a:extLst>
          </p:cNvPr>
          <p:cNvCxnSpPr/>
          <p:nvPr/>
        </p:nvCxnSpPr>
        <p:spPr>
          <a:xfrm>
            <a:off x="11914632" y="21031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6">
            <a:extLst>
              <a:ext uri="{FF2B5EF4-FFF2-40B4-BE49-F238E27FC236}">
                <a16:creationId xmlns:a16="http://schemas.microsoft.com/office/drawing/2014/main" id="{67E3905E-A361-E572-3927-753AEAD9F34D}"/>
              </a:ext>
            </a:extLst>
          </p:cNvPr>
          <p:cNvCxnSpPr/>
          <p:nvPr/>
        </p:nvCxnSpPr>
        <p:spPr>
          <a:xfrm>
            <a:off x="210312" y="658368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7">
            <a:extLst>
              <a:ext uri="{FF2B5EF4-FFF2-40B4-BE49-F238E27FC236}">
                <a16:creationId xmlns:a16="http://schemas.microsoft.com/office/drawing/2014/main" id="{343E3E62-A987-6A3E-16DD-C974F6A9B008}"/>
              </a:ext>
            </a:extLst>
          </p:cNvPr>
          <p:cNvCxnSpPr/>
          <p:nvPr/>
        </p:nvCxnSpPr>
        <p:spPr>
          <a:xfrm>
            <a:off x="274320" y="651967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8">
            <a:extLst>
              <a:ext uri="{FF2B5EF4-FFF2-40B4-BE49-F238E27FC236}">
                <a16:creationId xmlns:a16="http://schemas.microsoft.com/office/drawing/2014/main" id="{C1BDB7B5-AD1F-D61B-5770-EE87AE1BA6EB}"/>
              </a:ext>
            </a:extLst>
          </p:cNvPr>
          <p:cNvCxnSpPr/>
          <p:nvPr/>
        </p:nvCxnSpPr>
        <p:spPr>
          <a:xfrm>
            <a:off x="11850624" y="658368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9">
            <a:extLst>
              <a:ext uri="{FF2B5EF4-FFF2-40B4-BE49-F238E27FC236}">
                <a16:creationId xmlns:a16="http://schemas.microsoft.com/office/drawing/2014/main" id="{E094AC05-2B09-2C00-0EB4-6E208F839819}"/>
              </a:ext>
            </a:extLst>
          </p:cNvPr>
          <p:cNvCxnSpPr/>
          <p:nvPr/>
        </p:nvCxnSpPr>
        <p:spPr>
          <a:xfrm>
            <a:off x="11914632" y="651967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TextBox 10">
            <a:extLst>
              <a:ext uri="{FF2B5EF4-FFF2-40B4-BE49-F238E27FC236}">
                <a16:creationId xmlns:a16="http://schemas.microsoft.com/office/drawing/2014/main" id="{BF07F974-27D3-45A2-F401-A35CB8F3294A}"/>
              </a:ext>
            </a:extLst>
          </p:cNvPr>
          <p:cNvSpPr txBox="1"/>
          <p:nvPr/>
        </p:nvSpPr>
        <p:spPr>
          <a:xfrm>
            <a:off x="548640" y="347472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F6B7C"/>
                </a:solidFill>
                <a:latin typeface="Calibri"/>
              </a:rPr>
              <a:t>HEXAWARE  ·  AMERIHEALTH CARITAS  ·  AGENT 02 / 03</a:t>
            </a:r>
          </a:p>
        </p:txBody>
      </p:sp>
      <p:sp>
        <p:nvSpPr>
          <p:cNvPr id="202" name="TextBox 11">
            <a:extLst>
              <a:ext uri="{FF2B5EF4-FFF2-40B4-BE49-F238E27FC236}">
                <a16:creationId xmlns:a16="http://schemas.microsoft.com/office/drawing/2014/main" id="{CECAC3DD-DF40-65F0-CA72-0ECE5FCCFFE5}"/>
              </a:ext>
            </a:extLst>
          </p:cNvPr>
          <p:cNvSpPr txBox="1"/>
          <p:nvPr/>
        </p:nvSpPr>
        <p:spPr>
          <a:xfrm>
            <a:off x="548640" y="566928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00" b="1">
                <a:solidFill>
                  <a:srgbClr val="111418"/>
                </a:solidFill>
                <a:latin typeface="Calibri"/>
              </a:rPr>
              <a:t>CodeGen Agent</a:t>
            </a:r>
            <a:r>
              <a:rPr sz="1500" b="0">
                <a:solidFill>
                  <a:srgbClr val="5F6B7C"/>
                </a:solidFill>
                <a:latin typeface="Calibri"/>
              </a:rPr>
              <a:t>    solution architecture</a:t>
            </a:r>
          </a:p>
        </p:txBody>
      </p:sp>
      <p:sp>
        <p:nvSpPr>
          <p:cNvPr id="203" name="TextBox 12">
            <a:extLst>
              <a:ext uri="{FF2B5EF4-FFF2-40B4-BE49-F238E27FC236}">
                <a16:creationId xmlns:a16="http://schemas.microsoft.com/office/drawing/2014/main" id="{39C592B3-4097-C807-D2F5-5E9226F8559B}"/>
              </a:ext>
            </a:extLst>
          </p:cNvPr>
          <p:cNvSpPr txBox="1"/>
          <p:nvPr/>
        </p:nvSpPr>
        <p:spPr>
          <a:xfrm>
            <a:off x="548640" y="108813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F6B7C"/>
                </a:solidFill>
                <a:latin typeface="Calibri"/>
              </a:rPr>
              <a:t>THE PIPELINE  →</a:t>
            </a:r>
          </a:p>
        </p:txBody>
      </p:sp>
      <p:sp>
        <p:nvSpPr>
          <p:cNvPr id="204" name="Rounded Rectangle 13">
            <a:extLst>
              <a:ext uri="{FF2B5EF4-FFF2-40B4-BE49-F238E27FC236}">
                <a16:creationId xmlns:a16="http://schemas.microsoft.com/office/drawing/2014/main" id="{E7CDCB4B-5069-0120-A245-BF4FD527DF17}"/>
              </a:ext>
            </a:extLst>
          </p:cNvPr>
          <p:cNvSpPr/>
          <p:nvPr/>
        </p:nvSpPr>
        <p:spPr>
          <a:xfrm>
            <a:off x="548640" y="132588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796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5" name="TextBox 14">
            <a:extLst>
              <a:ext uri="{FF2B5EF4-FFF2-40B4-BE49-F238E27FC236}">
                <a16:creationId xmlns:a16="http://schemas.microsoft.com/office/drawing/2014/main" id="{FCE54E08-D1D9-26A0-2AC5-532823DC808E}"/>
              </a:ext>
            </a:extLst>
          </p:cNvPr>
          <p:cNvSpPr txBox="1"/>
          <p:nvPr/>
        </p:nvSpPr>
        <p:spPr>
          <a:xfrm>
            <a:off x="713232" y="14447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642A6"/>
                </a:solidFill>
                <a:latin typeface="Calibri"/>
              </a:rPr>
              <a:t>SYSTEM OF RECORD</a:t>
            </a:r>
          </a:p>
        </p:txBody>
      </p:sp>
      <p:pic>
        <p:nvPicPr>
          <p:cNvPr id="206" name="Picture 205">
            <a:extLst>
              <a:ext uri="{FF2B5EF4-FFF2-40B4-BE49-F238E27FC236}">
                <a16:creationId xmlns:a16="http://schemas.microsoft.com/office/drawing/2014/main" id="{90FECFB8-19B8-7972-98CF-B5F658A2C6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1709928"/>
            <a:ext cx="438912" cy="429768"/>
          </a:xfrm>
          <a:prstGeom prst="rect">
            <a:avLst/>
          </a:prstGeom>
        </p:spPr>
      </p:pic>
      <p:sp>
        <p:nvSpPr>
          <p:cNvPr id="207" name="TextBox 16">
            <a:extLst>
              <a:ext uri="{FF2B5EF4-FFF2-40B4-BE49-F238E27FC236}">
                <a16:creationId xmlns:a16="http://schemas.microsoft.com/office/drawing/2014/main" id="{7DA59EFC-9252-9D1B-A273-CF48A7AB46E9}"/>
              </a:ext>
            </a:extLst>
          </p:cNvPr>
          <p:cNvSpPr txBox="1"/>
          <p:nvPr/>
        </p:nvSpPr>
        <p:spPr>
          <a:xfrm>
            <a:off x="1261872" y="1728216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Microsoft</a:t>
            </a:r>
          </a:p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SharePoint</a:t>
            </a:r>
          </a:p>
        </p:txBody>
      </p:sp>
      <p:sp>
        <p:nvSpPr>
          <p:cNvPr id="208" name="TextBox 17">
            <a:extLst>
              <a:ext uri="{FF2B5EF4-FFF2-40B4-BE49-F238E27FC236}">
                <a16:creationId xmlns:a16="http://schemas.microsoft.com/office/drawing/2014/main" id="{C2D4F065-1C02-CA73-0076-0AB9AC2942DF}"/>
              </a:ext>
            </a:extLst>
          </p:cNvPr>
          <p:cNvSpPr txBox="1"/>
          <p:nvPr/>
        </p:nvSpPr>
        <p:spPr>
          <a:xfrm>
            <a:off x="713232" y="2258568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0">
                <a:solidFill>
                  <a:srgbClr val="2F343C"/>
                </a:solidFill>
                <a:latin typeface="Calibri"/>
              </a:rPr>
              <a:t>The program's document library — approved contracts and workbooks in, generated artifacts out.</a:t>
            </a:r>
          </a:p>
        </p:txBody>
      </p:sp>
      <p:sp>
        <p:nvSpPr>
          <p:cNvPr id="209" name="Rounded Rectangle 18">
            <a:extLst>
              <a:ext uri="{FF2B5EF4-FFF2-40B4-BE49-F238E27FC236}">
                <a16:creationId xmlns:a16="http://schemas.microsoft.com/office/drawing/2014/main" id="{6C47A932-6AE6-4447-9184-C817B2CDA457}"/>
              </a:ext>
            </a:extLst>
          </p:cNvPr>
          <p:cNvSpPr/>
          <p:nvPr/>
        </p:nvSpPr>
        <p:spPr>
          <a:xfrm>
            <a:off x="713232" y="2862072"/>
            <a:ext cx="2368296" cy="502920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B655EA95-F0B6-ECFB-5E0B-86B2CC7EAC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962656"/>
            <a:ext cx="292608" cy="292608"/>
          </a:xfrm>
          <a:prstGeom prst="rect">
            <a:avLst/>
          </a:prstGeom>
        </p:spPr>
      </p:pic>
      <p:sp>
        <p:nvSpPr>
          <p:cNvPr id="211" name="TextBox 20">
            <a:extLst>
              <a:ext uri="{FF2B5EF4-FFF2-40B4-BE49-F238E27FC236}">
                <a16:creationId xmlns:a16="http://schemas.microsoft.com/office/drawing/2014/main" id="{1ACA981F-C722-1544-147A-989B39A6C9AE}"/>
              </a:ext>
            </a:extLst>
          </p:cNvPr>
          <p:cNvSpPr txBox="1"/>
          <p:nvPr/>
        </p:nvSpPr>
        <p:spPr>
          <a:xfrm>
            <a:off x="1188719" y="2926080"/>
            <a:ext cx="18470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1C2127"/>
                </a:solidFill>
                <a:latin typeface="Calibri"/>
              </a:rPr>
              <a:t>FRD_&lt;name&gt;.contract.json</a:t>
            </a:r>
          </a:p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input — feed-level facts</a:t>
            </a:r>
          </a:p>
        </p:txBody>
      </p:sp>
      <p:sp>
        <p:nvSpPr>
          <p:cNvPr id="212" name="Rounded Rectangle 21">
            <a:extLst>
              <a:ext uri="{FF2B5EF4-FFF2-40B4-BE49-F238E27FC236}">
                <a16:creationId xmlns:a16="http://schemas.microsoft.com/office/drawing/2014/main" id="{239253B4-B3EA-A338-8873-2AB9103272ED}"/>
              </a:ext>
            </a:extLst>
          </p:cNvPr>
          <p:cNvSpPr/>
          <p:nvPr/>
        </p:nvSpPr>
        <p:spPr>
          <a:xfrm>
            <a:off x="713232" y="3456432"/>
            <a:ext cx="2368296" cy="502920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213" name="Picture 212">
            <a:extLst>
              <a:ext uri="{FF2B5EF4-FFF2-40B4-BE49-F238E27FC236}">
                <a16:creationId xmlns:a16="http://schemas.microsoft.com/office/drawing/2014/main" id="{E28202E1-889B-C9A5-9F45-158F846454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3566160"/>
            <a:ext cx="310896" cy="283464"/>
          </a:xfrm>
          <a:prstGeom prst="rect">
            <a:avLst/>
          </a:prstGeom>
        </p:spPr>
      </p:pic>
      <p:sp>
        <p:nvSpPr>
          <p:cNvPr id="214" name="TextBox 23">
            <a:extLst>
              <a:ext uri="{FF2B5EF4-FFF2-40B4-BE49-F238E27FC236}">
                <a16:creationId xmlns:a16="http://schemas.microsoft.com/office/drawing/2014/main" id="{E699504F-41B1-3A26-248B-6982AD0827FC}"/>
              </a:ext>
            </a:extLst>
          </p:cNvPr>
          <p:cNvSpPr txBox="1"/>
          <p:nvPr/>
        </p:nvSpPr>
        <p:spPr>
          <a:xfrm>
            <a:off x="1188719" y="3520439"/>
            <a:ext cx="18470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STTM_&lt;name&gt;.xlsx</a:t>
            </a:r>
          </a:p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input — column mappings</a:t>
            </a:r>
          </a:p>
        </p:txBody>
      </p:sp>
      <p:pic>
        <p:nvPicPr>
          <p:cNvPr id="215" name="Picture 214">
            <a:extLst>
              <a:ext uri="{FF2B5EF4-FFF2-40B4-BE49-F238E27FC236}">
                <a16:creationId xmlns:a16="http://schemas.microsoft.com/office/drawing/2014/main" id="{90D305BE-2AC8-F285-9EF7-9657901A2C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4123944"/>
            <a:ext cx="365760" cy="329184"/>
          </a:xfrm>
          <a:prstGeom prst="rect">
            <a:avLst/>
          </a:prstGeom>
        </p:spPr>
      </p:pic>
      <p:sp>
        <p:nvSpPr>
          <p:cNvPr id="216" name="TextBox 25">
            <a:extLst>
              <a:ext uri="{FF2B5EF4-FFF2-40B4-BE49-F238E27FC236}">
                <a16:creationId xmlns:a16="http://schemas.microsoft.com/office/drawing/2014/main" id="{D89B7E6D-C5C0-D2E6-FAB6-D7130E55CB0A}"/>
              </a:ext>
            </a:extLst>
          </p:cNvPr>
          <p:cNvSpPr txBox="1"/>
          <p:nvPr/>
        </p:nvSpPr>
        <p:spPr>
          <a:xfrm>
            <a:off x="1188719" y="4069080"/>
            <a:ext cx="1892807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1C2127"/>
                </a:solidFill>
                <a:latin typeface="Calibri"/>
              </a:rPr>
              <a:t>Entra ID app · Microsoft Graph</a:t>
            </a:r>
          </a:p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Sites.Selected · one write folder</a:t>
            </a:r>
          </a:p>
        </p:txBody>
      </p:sp>
      <p:cxnSp>
        <p:nvCxnSpPr>
          <p:cNvPr id="217" name="Connector 26">
            <a:extLst>
              <a:ext uri="{FF2B5EF4-FFF2-40B4-BE49-F238E27FC236}">
                <a16:creationId xmlns:a16="http://schemas.microsoft.com/office/drawing/2014/main" id="{7386A762-C11F-A289-853C-9495125288B4}"/>
              </a:ext>
            </a:extLst>
          </p:cNvPr>
          <p:cNvCxnSpPr/>
          <p:nvPr/>
        </p:nvCxnSpPr>
        <p:spPr>
          <a:xfrm>
            <a:off x="713232" y="4690872"/>
            <a:ext cx="236829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TextBox 27">
            <a:extLst>
              <a:ext uri="{FF2B5EF4-FFF2-40B4-BE49-F238E27FC236}">
                <a16:creationId xmlns:a16="http://schemas.microsoft.com/office/drawing/2014/main" id="{E3408CD0-1EAA-B8B6-DDFF-BC32C17950BE}"/>
              </a:ext>
            </a:extLst>
          </p:cNvPr>
          <p:cNvSpPr txBox="1"/>
          <p:nvPr/>
        </p:nvSpPr>
        <p:spPr>
          <a:xfrm>
            <a:off x="713232" y="4764024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5642A6"/>
                </a:solidFill>
                <a:latin typeface="Consolas"/>
              </a:rPr>
              <a:t>00 sharepoint-fetch</a:t>
            </a:r>
            <a:r>
              <a:rPr sz="800" b="1">
                <a:solidFill>
                  <a:srgbClr val="5642A6"/>
                </a:solidFill>
                <a:latin typeface="Calibri"/>
              </a:rPr>
              <a:t>  pull is explicit · publish is a separate, confirm-gated step · a re-generate is never a re-publish</a:t>
            </a:r>
          </a:p>
        </p:txBody>
      </p:sp>
      <p:sp>
        <p:nvSpPr>
          <p:cNvPr id="219" name="Rounded Rectangle 28">
            <a:extLst>
              <a:ext uri="{FF2B5EF4-FFF2-40B4-BE49-F238E27FC236}">
                <a16:creationId xmlns:a16="http://schemas.microsoft.com/office/drawing/2014/main" id="{DBB273A2-A8BE-D3F0-9A9A-41FEB5B503D5}"/>
              </a:ext>
            </a:extLst>
          </p:cNvPr>
          <p:cNvSpPr/>
          <p:nvPr/>
        </p:nvSpPr>
        <p:spPr>
          <a:xfrm>
            <a:off x="3346704" y="132588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00A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0" name="TextBox 29">
            <a:extLst>
              <a:ext uri="{FF2B5EF4-FFF2-40B4-BE49-F238E27FC236}">
                <a16:creationId xmlns:a16="http://schemas.microsoft.com/office/drawing/2014/main" id="{BE547880-2EA0-ACBF-60A9-C84C785FC8CE}"/>
              </a:ext>
            </a:extLst>
          </p:cNvPr>
          <p:cNvSpPr txBox="1"/>
          <p:nvPr/>
        </p:nvSpPr>
        <p:spPr>
          <a:xfrm>
            <a:off x="3511296" y="14447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007067"/>
                </a:solidFill>
                <a:latin typeface="Calibri"/>
              </a:rPr>
              <a:t>GENERATION ENGINE</a:t>
            </a:r>
          </a:p>
        </p:txBody>
      </p:sp>
      <p:sp>
        <p:nvSpPr>
          <p:cNvPr id="221" name="TextBox 30">
            <a:extLst>
              <a:ext uri="{FF2B5EF4-FFF2-40B4-BE49-F238E27FC236}">
                <a16:creationId xmlns:a16="http://schemas.microsoft.com/office/drawing/2014/main" id="{97E1FC21-03D2-A6F8-9E29-C247C8AF7B54}"/>
              </a:ext>
            </a:extLst>
          </p:cNvPr>
          <p:cNvSpPr txBox="1"/>
          <p:nvPr/>
        </p:nvSpPr>
        <p:spPr>
          <a:xfrm>
            <a:off x="3511296" y="169164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007067"/>
                </a:solidFill>
                <a:latin typeface="Consolas"/>
              </a:rPr>
              <a:t>codegen</a:t>
            </a:r>
            <a:r>
              <a:rPr sz="1200" b="1">
                <a:solidFill>
                  <a:srgbClr val="1C2127"/>
                </a:solidFill>
                <a:latin typeface="Calibri"/>
              </a:rPr>
              <a:t> CLI</a:t>
            </a:r>
            <a:r>
              <a:rPr sz="900" b="0">
                <a:solidFill>
                  <a:srgbClr val="2F343C"/>
                </a:solidFill>
                <a:latin typeface="Calibri"/>
              </a:rPr>
              <a:t>   offline · byte-stable</a:t>
            </a:r>
          </a:p>
        </p:txBody>
      </p:sp>
      <p:sp>
        <p:nvSpPr>
          <p:cNvPr id="222" name="TextBox 31">
            <a:extLst>
              <a:ext uri="{FF2B5EF4-FFF2-40B4-BE49-F238E27FC236}">
                <a16:creationId xmlns:a16="http://schemas.microsoft.com/office/drawing/2014/main" id="{2B390374-AE29-0AE9-974E-38217CCB4D0D}"/>
              </a:ext>
            </a:extLst>
          </p:cNvPr>
          <p:cNvSpPr txBox="1"/>
          <p:nvPr/>
        </p:nvSpPr>
        <p:spPr>
          <a:xfrm>
            <a:off x="3511296" y="1947672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Deterministic Jinja2 renders everything the contracts state; the model only sees what code cannot map.</a:t>
            </a:r>
          </a:p>
        </p:txBody>
      </p:sp>
      <p:sp>
        <p:nvSpPr>
          <p:cNvPr id="223" name="Rounded Rectangle 32">
            <a:extLst>
              <a:ext uri="{FF2B5EF4-FFF2-40B4-BE49-F238E27FC236}">
                <a16:creationId xmlns:a16="http://schemas.microsoft.com/office/drawing/2014/main" id="{B5BEC3DE-D61C-6587-0DEE-5B23ED815A3A}"/>
              </a:ext>
            </a:extLst>
          </p:cNvPr>
          <p:cNvSpPr/>
          <p:nvPr/>
        </p:nvSpPr>
        <p:spPr>
          <a:xfrm>
            <a:off x="3511296" y="2404872"/>
            <a:ext cx="2368296" cy="420624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4" name="TextBox 33">
            <a:extLst>
              <a:ext uri="{FF2B5EF4-FFF2-40B4-BE49-F238E27FC236}">
                <a16:creationId xmlns:a16="http://schemas.microsoft.com/office/drawing/2014/main" id="{51A95088-36F8-5466-61BF-A1DBA04810BD}"/>
              </a:ext>
            </a:extLst>
          </p:cNvPr>
          <p:cNvSpPr txBox="1"/>
          <p:nvPr/>
        </p:nvSpPr>
        <p:spPr>
          <a:xfrm>
            <a:off x="3621024" y="245973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01</a:t>
            </a:r>
          </a:p>
        </p:txBody>
      </p:sp>
      <p:sp>
        <p:nvSpPr>
          <p:cNvPr id="225" name="TextBox 34">
            <a:extLst>
              <a:ext uri="{FF2B5EF4-FFF2-40B4-BE49-F238E27FC236}">
                <a16:creationId xmlns:a16="http://schemas.microsoft.com/office/drawing/2014/main" id="{106ECBCC-451F-D51D-AA83-3B8D3C881C5A}"/>
              </a:ext>
            </a:extLst>
          </p:cNvPr>
          <p:cNvSpPr txBox="1"/>
          <p:nvPr/>
        </p:nvSpPr>
        <p:spPr>
          <a:xfrm>
            <a:off x="3913632" y="2446020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Resolve</a:t>
            </a:r>
          </a:p>
        </p:txBody>
      </p:sp>
      <p:sp>
        <p:nvSpPr>
          <p:cNvPr id="226" name="TextBox 35">
            <a:extLst>
              <a:ext uri="{FF2B5EF4-FFF2-40B4-BE49-F238E27FC236}">
                <a16:creationId xmlns:a16="http://schemas.microsoft.com/office/drawing/2014/main" id="{A85C66AD-CB40-8B31-95D9-99574B9110EF}"/>
              </a:ext>
            </a:extLst>
          </p:cNvPr>
          <p:cNvSpPr txBox="1"/>
          <p:nvPr/>
        </p:nvSpPr>
        <p:spPr>
          <a:xfrm>
            <a:off x="3913632" y="2624328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>
                <a:solidFill>
                  <a:srgbClr val="2F343C"/>
                </a:solidFill>
                <a:latin typeface="Calibri"/>
              </a:rPr>
              <a:t>FRD ⋈ STTM → frozen spec</a:t>
            </a:r>
          </a:p>
        </p:txBody>
      </p:sp>
      <p:cxnSp>
        <p:nvCxnSpPr>
          <p:cNvPr id="227" name="Connector 36">
            <a:extLst>
              <a:ext uri="{FF2B5EF4-FFF2-40B4-BE49-F238E27FC236}">
                <a16:creationId xmlns:a16="http://schemas.microsoft.com/office/drawing/2014/main" id="{406BC9A8-B252-D869-72FF-465F1B4A9CEB}"/>
              </a:ext>
            </a:extLst>
          </p:cNvPr>
          <p:cNvCxnSpPr/>
          <p:nvPr/>
        </p:nvCxnSpPr>
        <p:spPr>
          <a:xfrm>
            <a:off x="4690872" y="2825496"/>
            <a:ext cx="0" cy="73152"/>
          </a:xfrm>
          <a:prstGeom prst="line">
            <a:avLst/>
          </a:prstGeom>
          <a:ln w="1270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Rounded Rectangle 37">
            <a:extLst>
              <a:ext uri="{FF2B5EF4-FFF2-40B4-BE49-F238E27FC236}">
                <a16:creationId xmlns:a16="http://schemas.microsoft.com/office/drawing/2014/main" id="{07DB90A7-516E-772B-4EF6-0D3E95B61185}"/>
              </a:ext>
            </a:extLst>
          </p:cNvPr>
          <p:cNvSpPr/>
          <p:nvPr/>
        </p:nvSpPr>
        <p:spPr>
          <a:xfrm>
            <a:off x="3511296" y="2898648"/>
            <a:ext cx="2368296" cy="420624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9" name="TextBox 38">
            <a:extLst>
              <a:ext uri="{FF2B5EF4-FFF2-40B4-BE49-F238E27FC236}">
                <a16:creationId xmlns:a16="http://schemas.microsoft.com/office/drawing/2014/main" id="{0333E5D3-D8C7-4B4B-6298-0D066A55BF85}"/>
              </a:ext>
            </a:extLst>
          </p:cNvPr>
          <p:cNvSpPr txBox="1"/>
          <p:nvPr/>
        </p:nvSpPr>
        <p:spPr>
          <a:xfrm>
            <a:off x="3621024" y="295351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02</a:t>
            </a:r>
          </a:p>
        </p:txBody>
      </p:sp>
      <p:sp>
        <p:nvSpPr>
          <p:cNvPr id="230" name="TextBox 39">
            <a:extLst>
              <a:ext uri="{FF2B5EF4-FFF2-40B4-BE49-F238E27FC236}">
                <a16:creationId xmlns:a16="http://schemas.microsoft.com/office/drawing/2014/main" id="{C707FA19-4C8D-7A15-A0C7-A7C77F194598}"/>
              </a:ext>
            </a:extLst>
          </p:cNvPr>
          <p:cNvSpPr txBox="1"/>
          <p:nvPr/>
        </p:nvSpPr>
        <p:spPr>
          <a:xfrm>
            <a:off x="3913632" y="2939796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Compile rules</a:t>
            </a:r>
          </a:p>
        </p:txBody>
      </p:sp>
      <p:sp>
        <p:nvSpPr>
          <p:cNvPr id="231" name="TextBox 40">
            <a:extLst>
              <a:ext uri="{FF2B5EF4-FFF2-40B4-BE49-F238E27FC236}">
                <a16:creationId xmlns:a16="http://schemas.microsoft.com/office/drawing/2014/main" id="{B4355D02-0153-A390-BD70-3FD1F03544AC}"/>
              </a:ext>
            </a:extLst>
          </p:cNvPr>
          <p:cNvSpPr txBox="1"/>
          <p:nvPr/>
        </p:nvSpPr>
        <p:spPr>
          <a:xfrm>
            <a:off x="3913632" y="3118104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>
                <a:solidFill>
                  <a:srgbClr val="2F343C"/>
                </a:solidFill>
                <a:latin typeface="Calibri"/>
              </a:rPr>
              <a:t>no-LLM classifier</a:t>
            </a:r>
          </a:p>
        </p:txBody>
      </p:sp>
      <p:cxnSp>
        <p:nvCxnSpPr>
          <p:cNvPr id="232" name="Connector 41">
            <a:extLst>
              <a:ext uri="{FF2B5EF4-FFF2-40B4-BE49-F238E27FC236}">
                <a16:creationId xmlns:a16="http://schemas.microsoft.com/office/drawing/2014/main" id="{4ED94DD5-EDF4-DEFC-4450-51F30D5AC1A3}"/>
              </a:ext>
            </a:extLst>
          </p:cNvPr>
          <p:cNvCxnSpPr/>
          <p:nvPr/>
        </p:nvCxnSpPr>
        <p:spPr>
          <a:xfrm>
            <a:off x="4690872" y="3319272"/>
            <a:ext cx="0" cy="73152"/>
          </a:xfrm>
          <a:prstGeom prst="line">
            <a:avLst/>
          </a:prstGeom>
          <a:ln w="1270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42">
            <a:extLst>
              <a:ext uri="{FF2B5EF4-FFF2-40B4-BE49-F238E27FC236}">
                <a16:creationId xmlns:a16="http://schemas.microsoft.com/office/drawing/2014/main" id="{617525A8-AC69-0712-2D7C-939748642783}"/>
              </a:ext>
            </a:extLst>
          </p:cNvPr>
          <p:cNvSpPr/>
          <p:nvPr/>
        </p:nvSpPr>
        <p:spPr>
          <a:xfrm>
            <a:off x="3511296" y="3392424"/>
            <a:ext cx="2368296" cy="420624"/>
          </a:xfrm>
          <a:prstGeom prst="roundRect">
            <a:avLst>
              <a:gd name="adj" fmla="val 8000"/>
            </a:avLst>
          </a:prstGeom>
          <a:solidFill>
            <a:srgbClr val="FBEEE8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34" name="TextBox 43">
            <a:extLst>
              <a:ext uri="{FF2B5EF4-FFF2-40B4-BE49-F238E27FC236}">
                <a16:creationId xmlns:a16="http://schemas.microsoft.com/office/drawing/2014/main" id="{AE0800F7-FF45-C61D-C2B4-EA7B03D70324}"/>
              </a:ext>
            </a:extLst>
          </p:cNvPr>
          <p:cNvSpPr txBox="1"/>
          <p:nvPr/>
        </p:nvSpPr>
        <p:spPr>
          <a:xfrm>
            <a:off x="3621024" y="344728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A04D2C"/>
                </a:solidFill>
                <a:latin typeface="Consolas"/>
              </a:rPr>
              <a:t>03</a:t>
            </a:r>
          </a:p>
        </p:txBody>
      </p:sp>
      <p:sp>
        <p:nvSpPr>
          <p:cNvPr id="235" name="TextBox 44">
            <a:extLst>
              <a:ext uri="{FF2B5EF4-FFF2-40B4-BE49-F238E27FC236}">
                <a16:creationId xmlns:a16="http://schemas.microsoft.com/office/drawing/2014/main" id="{E116AE03-D244-94EB-7CF1-40833E0701F0}"/>
              </a:ext>
            </a:extLst>
          </p:cNvPr>
          <p:cNvSpPr txBox="1"/>
          <p:nvPr/>
        </p:nvSpPr>
        <p:spPr>
          <a:xfrm>
            <a:off x="3913632" y="3433572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A04D2C"/>
                </a:solidFill>
                <a:latin typeface="Calibri"/>
              </a:rPr>
              <a:t>Reason</a:t>
            </a:r>
          </a:p>
        </p:txBody>
      </p:sp>
      <p:sp>
        <p:nvSpPr>
          <p:cNvPr id="236" name="TextBox 45">
            <a:extLst>
              <a:ext uri="{FF2B5EF4-FFF2-40B4-BE49-F238E27FC236}">
                <a16:creationId xmlns:a16="http://schemas.microsoft.com/office/drawing/2014/main" id="{2280E464-A2E4-A0DB-5B30-3B1A927B43D6}"/>
              </a:ext>
            </a:extLst>
          </p:cNvPr>
          <p:cNvSpPr txBox="1"/>
          <p:nvPr/>
        </p:nvSpPr>
        <p:spPr>
          <a:xfrm>
            <a:off x="3913632" y="3611880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>
                <a:solidFill>
                  <a:srgbClr val="A04D2C"/>
                </a:solidFill>
                <a:latin typeface="Calibri"/>
              </a:rPr>
              <a:t>the one model call</a:t>
            </a:r>
          </a:p>
        </p:txBody>
      </p:sp>
      <p:cxnSp>
        <p:nvCxnSpPr>
          <p:cNvPr id="237" name="Connector 46">
            <a:extLst>
              <a:ext uri="{FF2B5EF4-FFF2-40B4-BE49-F238E27FC236}">
                <a16:creationId xmlns:a16="http://schemas.microsoft.com/office/drawing/2014/main" id="{58FD872F-BD7F-34FA-004C-C863469596D7}"/>
              </a:ext>
            </a:extLst>
          </p:cNvPr>
          <p:cNvCxnSpPr/>
          <p:nvPr/>
        </p:nvCxnSpPr>
        <p:spPr>
          <a:xfrm>
            <a:off x="4690872" y="3813048"/>
            <a:ext cx="0" cy="73152"/>
          </a:xfrm>
          <a:prstGeom prst="line">
            <a:avLst/>
          </a:prstGeom>
          <a:ln w="1270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Rounded Rectangle 47">
            <a:extLst>
              <a:ext uri="{FF2B5EF4-FFF2-40B4-BE49-F238E27FC236}">
                <a16:creationId xmlns:a16="http://schemas.microsoft.com/office/drawing/2014/main" id="{B1778DF2-F9DF-DF50-8E36-EE5A4222068D}"/>
              </a:ext>
            </a:extLst>
          </p:cNvPr>
          <p:cNvSpPr/>
          <p:nvPr/>
        </p:nvSpPr>
        <p:spPr>
          <a:xfrm>
            <a:off x="3511296" y="3886200"/>
            <a:ext cx="2368296" cy="420624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39" name="TextBox 48">
            <a:extLst>
              <a:ext uri="{FF2B5EF4-FFF2-40B4-BE49-F238E27FC236}">
                <a16:creationId xmlns:a16="http://schemas.microsoft.com/office/drawing/2014/main" id="{567C5109-2201-5CDB-5BD9-9274638BD520}"/>
              </a:ext>
            </a:extLst>
          </p:cNvPr>
          <p:cNvSpPr txBox="1"/>
          <p:nvPr/>
        </p:nvSpPr>
        <p:spPr>
          <a:xfrm>
            <a:off x="3621024" y="3941063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04</a:t>
            </a:r>
          </a:p>
        </p:txBody>
      </p:sp>
      <p:sp>
        <p:nvSpPr>
          <p:cNvPr id="240" name="TextBox 49">
            <a:extLst>
              <a:ext uri="{FF2B5EF4-FFF2-40B4-BE49-F238E27FC236}">
                <a16:creationId xmlns:a16="http://schemas.microsoft.com/office/drawing/2014/main" id="{5447C899-5C7D-1B57-55D1-D795B2511D4C}"/>
              </a:ext>
            </a:extLst>
          </p:cNvPr>
          <p:cNvSpPr txBox="1"/>
          <p:nvPr/>
        </p:nvSpPr>
        <p:spPr>
          <a:xfrm>
            <a:off x="3913632" y="3927348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Emit · gate</a:t>
            </a:r>
          </a:p>
        </p:txBody>
      </p:sp>
      <p:sp>
        <p:nvSpPr>
          <p:cNvPr id="241" name="TextBox 50">
            <a:extLst>
              <a:ext uri="{FF2B5EF4-FFF2-40B4-BE49-F238E27FC236}">
                <a16:creationId xmlns:a16="http://schemas.microsoft.com/office/drawing/2014/main" id="{20AC9DB6-2E8B-6D17-BF6F-9EA374757AE0}"/>
              </a:ext>
            </a:extLst>
          </p:cNvPr>
          <p:cNvSpPr txBox="1"/>
          <p:nvPr/>
        </p:nvSpPr>
        <p:spPr>
          <a:xfrm>
            <a:off x="3913632" y="4105656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>
                <a:solidFill>
                  <a:srgbClr val="2F343C"/>
                </a:solidFill>
                <a:latin typeface="Calibri"/>
              </a:rPr>
              <a:t>Jinja2 → verdict</a:t>
            </a:r>
          </a:p>
        </p:txBody>
      </p:sp>
      <p:pic>
        <p:nvPicPr>
          <p:cNvPr id="242" name="Picture 241">
            <a:extLst>
              <a:ext uri="{FF2B5EF4-FFF2-40B4-BE49-F238E27FC236}">
                <a16:creationId xmlns:a16="http://schemas.microsoft.com/office/drawing/2014/main" id="{3581EF23-0733-0CB2-103C-DF34E86286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11296" y="4434840"/>
            <a:ext cx="731520" cy="164592"/>
          </a:xfrm>
          <a:prstGeom prst="rect">
            <a:avLst/>
          </a:prstGeom>
        </p:spPr>
      </p:pic>
      <p:sp>
        <p:nvSpPr>
          <p:cNvPr id="243" name="TextBox 52">
            <a:extLst>
              <a:ext uri="{FF2B5EF4-FFF2-40B4-BE49-F238E27FC236}">
                <a16:creationId xmlns:a16="http://schemas.microsoft.com/office/drawing/2014/main" id="{75C8F178-D73F-C25B-1BAC-E114B3BABDC4}"/>
              </a:ext>
            </a:extLst>
          </p:cNvPr>
          <p:cNvSpPr txBox="1"/>
          <p:nvPr/>
        </p:nvSpPr>
        <p:spPr>
          <a:xfrm>
            <a:off x="4334256" y="4398264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mock by default · only unmapped rule text · suggestions land in candidates.json, never in code</a:t>
            </a:r>
          </a:p>
        </p:txBody>
      </p:sp>
      <p:sp>
        <p:nvSpPr>
          <p:cNvPr id="244" name="Rounded Rectangle 53">
            <a:extLst>
              <a:ext uri="{FF2B5EF4-FFF2-40B4-BE49-F238E27FC236}">
                <a16:creationId xmlns:a16="http://schemas.microsoft.com/office/drawing/2014/main" id="{0C208365-9888-210D-2495-B7ADBEE6EED6}"/>
              </a:ext>
            </a:extLst>
          </p:cNvPr>
          <p:cNvSpPr/>
          <p:nvPr/>
        </p:nvSpPr>
        <p:spPr>
          <a:xfrm>
            <a:off x="6144768" y="132588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19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5" name="TextBox 54">
            <a:extLst>
              <a:ext uri="{FF2B5EF4-FFF2-40B4-BE49-F238E27FC236}">
                <a16:creationId xmlns:a16="http://schemas.microsoft.com/office/drawing/2014/main" id="{F1A79D4D-7782-C36A-9CFD-3E9744005A4C}"/>
              </a:ext>
            </a:extLst>
          </p:cNvPr>
          <p:cNvSpPr txBox="1"/>
          <p:nvPr/>
        </p:nvSpPr>
        <p:spPr>
          <a:xfrm>
            <a:off x="6309359" y="14447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866103"/>
                </a:solidFill>
                <a:latin typeface="Calibri"/>
              </a:rPr>
              <a:t>HUMAN REVIEW</a:t>
            </a:r>
          </a:p>
        </p:txBody>
      </p:sp>
      <p:sp>
        <p:nvSpPr>
          <p:cNvPr id="246" name="TextBox 55">
            <a:extLst>
              <a:ext uri="{FF2B5EF4-FFF2-40B4-BE49-F238E27FC236}">
                <a16:creationId xmlns:a16="http://schemas.microsoft.com/office/drawing/2014/main" id="{100FA064-469F-B6F2-AA1A-6CE3E73C1C0F}"/>
              </a:ext>
            </a:extLst>
          </p:cNvPr>
          <p:cNvSpPr txBox="1"/>
          <p:nvPr/>
        </p:nvSpPr>
        <p:spPr>
          <a:xfrm>
            <a:off x="6309359" y="169164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Demo app</a:t>
            </a:r>
            <a:r>
              <a:rPr sz="900" b="0">
                <a:solidFill>
                  <a:srgbClr val="2F343C"/>
                </a:solidFill>
                <a:latin typeface="Calibri"/>
              </a:rPr>
              <a:t>   FastAPI · React</a:t>
            </a:r>
          </a:p>
        </p:txBody>
      </p:sp>
      <p:pic>
        <p:nvPicPr>
          <p:cNvPr id="247" name="Picture 246">
            <a:extLst>
              <a:ext uri="{FF2B5EF4-FFF2-40B4-BE49-F238E27FC236}">
                <a16:creationId xmlns:a16="http://schemas.microsoft.com/office/drawing/2014/main" id="{B900E5A0-4526-7F9B-E528-F7B6EF64481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59" y="1984248"/>
            <a:ext cx="731520" cy="137160"/>
          </a:xfrm>
          <a:prstGeom prst="rect">
            <a:avLst/>
          </a:prstGeom>
        </p:spPr>
      </p:pic>
      <p:pic>
        <p:nvPicPr>
          <p:cNvPr id="248" name="Picture 247">
            <a:extLst>
              <a:ext uri="{FF2B5EF4-FFF2-40B4-BE49-F238E27FC236}">
                <a16:creationId xmlns:a16="http://schemas.microsoft.com/office/drawing/2014/main" id="{B1330B70-0CF0-45ED-F001-056490FF30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32320" y="1947672"/>
            <a:ext cx="237744" cy="210312"/>
          </a:xfrm>
          <a:prstGeom prst="rect">
            <a:avLst/>
          </a:prstGeom>
        </p:spPr>
      </p:pic>
      <p:sp>
        <p:nvSpPr>
          <p:cNvPr id="249" name="TextBox 58">
            <a:extLst>
              <a:ext uri="{FF2B5EF4-FFF2-40B4-BE49-F238E27FC236}">
                <a16:creationId xmlns:a16="http://schemas.microsoft.com/office/drawing/2014/main" id="{841BD249-607A-A628-5382-A142EC65D1DB}"/>
              </a:ext>
            </a:extLst>
          </p:cNvPr>
          <p:cNvSpPr txBox="1"/>
          <p:nvPr/>
        </p:nvSpPr>
        <p:spPr>
          <a:xfrm>
            <a:off x="6309359" y="224028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>
                <a:solidFill>
                  <a:srgbClr val="2F343C"/>
                </a:solidFill>
                <a:latin typeface="Calibri"/>
              </a:rPr>
              <a:t>Pick a contract pair · run · read the gate verdict · approve / reject model candidates · publish behind an explicit confirm.</a:t>
            </a:r>
          </a:p>
        </p:txBody>
      </p:sp>
      <p:cxnSp>
        <p:nvCxnSpPr>
          <p:cNvPr id="250" name="Connector 59">
            <a:extLst>
              <a:ext uri="{FF2B5EF4-FFF2-40B4-BE49-F238E27FC236}">
                <a16:creationId xmlns:a16="http://schemas.microsoft.com/office/drawing/2014/main" id="{9787288F-009D-5E72-7E19-6E570C92BFD5}"/>
              </a:ext>
            </a:extLst>
          </p:cNvPr>
          <p:cNvCxnSpPr/>
          <p:nvPr/>
        </p:nvCxnSpPr>
        <p:spPr>
          <a:xfrm>
            <a:off x="6309359" y="2898648"/>
            <a:ext cx="2368297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1" name="Picture 250">
            <a:extLst>
              <a:ext uri="{FF2B5EF4-FFF2-40B4-BE49-F238E27FC236}">
                <a16:creationId xmlns:a16="http://schemas.microsoft.com/office/drawing/2014/main" id="{BFA54E84-6921-5ED5-4818-6838C126EE7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9359" y="3044952"/>
            <a:ext cx="365760" cy="365760"/>
          </a:xfrm>
          <a:prstGeom prst="rect">
            <a:avLst/>
          </a:prstGeom>
        </p:spPr>
      </p:pic>
      <p:sp>
        <p:nvSpPr>
          <p:cNvPr id="252" name="TextBox 61">
            <a:extLst>
              <a:ext uri="{FF2B5EF4-FFF2-40B4-BE49-F238E27FC236}">
                <a16:creationId xmlns:a16="http://schemas.microsoft.com/office/drawing/2014/main" id="{2644DEED-9007-204B-D5C8-03B60193B035}"/>
              </a:ext>
            </a:extLst>
          </p:cNvPr>
          <p:cNvSpPr txBox="1"/>
          <p:nvPr/>
        </p:nvSpPr>
        <p:spPr>
          <a:xfrm>
            <a:off x="6784848" y="3026664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b="1">
                <a:solidFill>
                  <a:srgbClr val="1C2127"/>
                </a:solidFill>
                <a:latin typeface="Calibri"/>
              </a:rPr>
              <a:t>The engineer decides</a:t>
            </a:r>
          </a:p>
        </p:txBody>
      </p:sp>
      <p:sp>
        <p:nvSpPr>
          <p:cNvPr id="253" name="TextBox 62">
            <a:extLst>
              <a:ext uri="{FF2B5EF4-FFF2-40B4-BE49-F238E27FC236}">
                <a16:creationId xmlns:a16="http://schemas.microsoft.com/office/drawing/2014/main" id="{B28D54E3-0E09-8780-84F7-82C4933BA38D}"/>
              </a:ext>
            </a:extLst>
          </p:cNvPr>
          <p:cNvSpPr txBox="1"/>
          <p:nvPr/>
        </p:nvSpPr>
        <p:spPr>
          <a:xfrm>
            <a:off x="6309359" y="3502152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>
                <a:solidFill>
                  <a:srgbClr val="2F343C"/>
                </a:solidFill>
                <a:latin typeface="Calibri"/>
              </a:rPr>
              <a:t>Reads the verdict — PASS / PASS_WITH_FLAGS / FAIL — confirms flagged rules, implements approved candidates, and raises the PR. Nothing under out/ is ever hand-edited.</a:t>
            </a:r>
          </a:p>
        </p:txBody>
      </p:sp>
      <p:cxnSp>
        <p:nvCxnSpPr>
          <p:cNvPr id="254" name="Connector 63">
            <a:extLst>
              <a:ext uri="{FF2B5EF4-FFF2-40B4-BE49-F238E27FC236}">
                <a16:creationId xmlns:a16="http://schemas.microsoft.com/office/drawing/2014/main" id="{4F0119E3-34EC-8F4E-DD11-78295C0A2C6B}"/>
              </a:ext>
            </a:extLst>
          </p:cNvPr>
          <p:cNvCxnSpPr/>
          <p:nvPr/>
        </p:nvCxnSpPr>
        <p:spPr>
          <a:xfrm>
            <a:off x="6309359" y="4690872"/>
            <a:ext cx="2368297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TextBox 64">
            <a:extLst>
              <a:ext uri="{FF2B5EF4-FFF2-40B4-BE49-F238E27FC236}">
                <a16:creationId xmlns:a16="http://schemas.microsoft.com/office/drawing/2014/main" id="{64AF266A-21B5-7BBE-51B6-18DA87A226DB}"/>
              </a:ext>
            </a:extLst>
          </p:cNvPr>
          <p:cNvSpPr txBox="1"/>
          <p:nvPr/>
        </p:nvSpPr>
        <p:spPr>
          <a:xfrm>
            <a:off x="6309359" y="4764024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866103"/>
                </a:solidFill>
                <a:latin typeface="Calibri"/>
              </a:rPr>
              <a:t>gate verdict · candidates.json · engineer-owned PR</a:t>
            </a:r>
          </a:p>
        </p:txBody>
      </p:sp>
      <p:sp>
        <p:nvSpPr>
          <p:cNvPr id="256" name="Rounded Rectangle 65">
            <a:extLst>
              <a:ext uri="{FF2B5EF4-FFF2-40B4-BE49-F238E27FC236}">
                <a16:creationId xmlns:a16="http://schemas.microsoft.com/office/drawing/2014/main" id="{A5ED8385-C5DC-933C-D542-2148AC193ADE}"/>
              </a:ext>
            </a:extLst>
          </p:cNvPr>
          <p:cNvSpPr/>
          <p:nvPr/>
        </p:nvSpPr>
        <p:spPr>
          <a:xfrm>
            <a:off x="8942832" y="132588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796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7" name="TextBox 66">
            <a:extLst>
              <a:ext uri="{FF2B5EF4-FFF2-40B4-BE49-F238E27FC236}">
                <a16:creationId xmlns:a16="http://schemas.microsoft.com/office/drawing/2014/main" id="{BA156AA4-ACBF-8F14-6297-83B58E053A5D}"/>
              </a:ext>
            </a:extLst>
          </p:cNvPr>
          <p:cNvSpPr txBox="1"/>
          <p:nvPr/>
        </p:nvSpPr>
        <p:spPr>
          <a:xfrm>
            <a:off x="9107424" y="14447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642A6"/>
                </a:solidFill>
                <a:latin typeface="Calibri"/>
              </a:rPr>
              <a:t>OUTPUTS · DOWNSTREAM</a:t>
            </a:r>
          </a:p>
        </p:txBody>
      </p:sp>
      <p:pic>
        <p:nvPicPr>
          <p:cNvPr id="258" name="Picture 257">
            <a:extLst>
              <a:ext uri="{FF2B5EF4-FFF2-40B4-BE49-F238E27FC236}">
                <a16:creationId xmlns:a16="http://schemas.microsoft.com/office/drawing/2014/main" id="{5D23AF2C-DDE1-B4DD-F9EA-C0AC581D0EF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07424" y="1746504"/>
            <a:ext cx="457200" cy="256032"/>
          </a:xfrm>
          <a:prstGeom prst="rect">
            <a:avLst/>
          </a:prstGeom>
        </p:spPr>
      </p:pic>
      <p:sp>
        <p:nvSpPr>
          <p:cNvPr id="259" name="TextBox 68">
            <a:extLst>
              <a:ext uri="{FF2B5EF4-FFF2-40B4-BE49-F238E27FC236}">
                <a16:creationId xmlns:a16="http://schemas.microsoft.com/office/drawing/2014/main" id="{EEEA29ED-B857-38CE-2A96-7364AC2132C7}"/>
              </a:ext>
            </a:extLst>
          </p:cNvPr>
          <p:cNvSpPr txBox="1"/>
          <p:nvPr/>
        </p:nvSpPr>
        <p:spPr>
          <a:xfrm>
            <a:off x="9674352" y="1709928"/>
            <a:ext cx="1801368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Pipeline + notebook</a:t>
            </a:r>
          </a:p>
          <a:p>
            <a:pPr algn="l"/>
            <a:r>
              <a:rPr sz="900" b="0">
                <a:solidFill>
                  <a:srgbClr val="2F343C"/>
                </a:solidFill>
                <a:latin typeface="Calibri"/>
              </a:rPr>
              <a:t>PySpark · DDL · job · tests</a:t>
            </a:r>
          </a:p>
        </p:txBody>
      </p:sp>
      <p:pic>
        <p:nvPicPr>
          <p:cNvPr id="260" name="Picture 259">
            <a:extLst>
              <a:ext uri="{FF2B5EF4-FFF2-40B4-BE49-F238E27FC236}">
                <a16:creationId xmlns:a16="http://schemas.microsoft.com/office/drawing/2014/main" id="{677CAF63-17A7-0DA2-8A43-C8BF2BAE35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2288" y="2221991"/>
            <a:ext cx="329184" cy="329184"/>
          </a:xfrm>
          <a:prstGeom prst="rect">
            <a:avLst/>
          </a:prstGeom>
        </p:spPr>
      </p:pic>
      <p:sp>
        <p:nvSpPr>
          <p:cNvPr id="261" name="TextBox 70">
            <a:extLst>
              <a:ext uri="{FF2B5EF4-FFF2-40B4-BE49-F238E27FC236}">
                <a16:creationId xmlns:a16="http://schemas.microsoft.com/office/drawing/2014/main" id="{93CC6063-06C5-D085-6EC2-BB58315EAB77}"/>
              </a:ext>
            </a:extLst>
          </p:cNvPr>
          <p:cNvSpPr txBox="1"/>
          <p:nvPr/>
        </p:nvSpPr>
        <p:spPr>
          <a:xfrm>
            <a:off x="9674352" y="2203704"/>
            <a:ext cx="1801368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Report + candidates</a:t>
            </a:r>
          </a:p>
          <a:p>
            <a:pPr algn="l"/>
            <a:r>
              <a:rPr sz="900" b="0">
                <a:solidFill>
                  <a:srgbClr val="2F343C"/>
                </a:solidFill>
                <a:latin typeface="Calibri"/>
              </a:rPr>
              <a:t>report.md · candidates.json</a:t>
            </a:r>
          </a:p>
        </p:txBody>
      </p:sp>
      <p:sp>
        <p:nvSpPr>
          <p:cNvPr id="262" name="TextBox 71">
            <a:extLst>
              <a:ext uri="{FF2B5EF4-FFF2-40B4-BE49-F238E27FC236}">
                <a16:creationId xmlns:a16="http://schemas.microsoft.com/office/drawing/2014/main" id="{ACAB7D5D-C0A5-DD14-7D71-2F449EC889E0}"/>
              </a:ext>
            </a:extLst>
          </p:cNvPr>
          <p:cNvSpPr txBox="1"/>
          <p:nvPr/>
        </p:nvSpPr>
        <p:spPr>
          <a:xfrm>
            <a:off x="9107424" y="2752344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Every file carries a provenance banner — the contract names and sha256 that produced it.</a:t>
            </a:r>
          </a:p>
        </p:txBody>
      </p:sp>
      <p:cxnSp>
        <p:nvCxnSpPr>
          <p:cNvPr id="263" name="Connector 72">
            <a:extLst>
              <a:ext uri="{FF2B5EF4-FFF2-40B4-BE49-F238E27FC236}">
                <a16:creationId xmlns:a16="http://schemas.microsoft.com/office/drawing/2014/main" id="{9150B23D-FD15-6336-150E-E10DD2761C15}"/>
              </a:ext>
            </a:extLst>
          </p:cNvPr>
          <p:cNvCxnSpPr/>
          <p:nvPr/>
        </p:nvCxnSpPr>
        <p:spPr>
          <a:xfrm>
            <a:off x="9107424" y="3374136"/>
            <a:ext cx="2368295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73">
            <a:extLst>
              <a:ext uri="{FF2B5EF4-FFF2-40B4-BE49-F238E27FC236}">
                <a16:creationId xmlns:a16="http://schemas.microsoft.com/office/drawing/2014/main" id="{83B51649-C3E1-ABD5-2313-AA15573832CD}"/>
              </a:ext>
            </a:extLst>
          </p:cNvPr>
          <p:cNvCxnSpPr/>
          <p:nvPr/>
        </p:nvCxnSpPr>
        <p:spPr>
          <a:xfrm>
            <a:off x="9107424" y="3721608"/>
            <a:ext cx="274320" cy="0"/>
          </a:xfrm>
          <a:prstGeom prst="line">
            <a:avLst/>
          </a:prstGeom>
          <a:ln w="15875">
            <a:solidFill>
              <a:srgbClr val="7961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TextBox 74">
            <a:extLst>
              <a:ext uri="{FF2B5EF4-FFF2-40B4-BE49-F238E27FC236}">
                <a16:creationId xmlns:a16="http://schemas.microsoft.com/office/drawing/2014/main" id="{5093F137-9359-7011-2A1C-7BC7D589CD5E}"/>
              </a:ext>
            </a:extLst>
          </p:cNvPr>
          <p:cNvSpPr txBox="1"/>
          <p:nvPr/>
        </p:nvSpPr>
        <p:spPr>
          <a:xfrm>
            <a:off x="9473184" y="3538728"/>
            <a:ext cx="200253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5642A6"/>
                </a:solidFill>
                <a:latin typeface="Calibri"/>
              </a:rPr>
              <a:t>Code Review agent</a:t>
            </a:r>
          </a:p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reviews what this agent emits — via an engineer-owned PR</a:t>
            </a:r>
          </a:p>
        </p:txBody>
      </p:sp>
      <p:sp>
        <p:nvSpPr>
          <p:cNvPr id="266" name="TextBox 75">
            <a:extLst>
              <a:ext uri="{FF2B5EF4-FFF2-40B4-BE49-F238E27FC236}">
                <a16:creationId xmlns:a16="http://schemas.microsoft.com/office/drawing/2014/main" id="{F4DBF6AD-E4FF-CC3A-0BD3-79072F3EBF72}"/>
              </a:ext>
            </a:extLst>
          </p:cNvPr>
          <p:cNvSpPr txBox="1"/>
          <p:nvPr/>
        </p:nvSpPr>
        <p:spPr>
          <a:xfrm>
            <a:off x="9107424" y="425196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The gate pre-flights its checks: ruff, debug scan, secrets scan, test-per-module, tests.</a:t>
            </a:r>
          </a:p>
        </p:txBody>
      </p:sp>
      <p:cxnSp>
        <p:nvCxnSpPr>
          <p:cNvPr id="267" name="Connector 76">
            <a:extLst>
              <a:ext uri="{FF2B5EF4-FFF2-40B4-BE49-F238E27FC236}">
                <a16:creationId xmlns:a16="http://schemas.microsoft.com/office/drawing/2014/main" id="{C966BFB4-7304-BAF6-1536-47A435AEF792}"/>
              </a:ext>
            </a:extLst>
          </p:cNvPr>
          <p:cNvCxnSpPr/>
          <p:nvPr/>
        </p:nvCxnSpPr>
        <p:spPr>
          <a:xfrm>
            <a:off x="3246120" y="3383280"/>
            <a:ext cx="100584" cy="0"/>
          </a:xfrm>
          <a:prstGeom prst="line">
            <a:avLst/>
          </a:prstGeom>
          <a:ln w="1905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77">
            <a:extLst>
              <a:ext uri="{FF2B5EF4-FFF2-40B4-BE49-F238E27FC236}">
                <a16:creationId xmlns:a16="http://schemas.microsoft.com/office/drawing/2014/main" id="{18C62059-074A-4411-9161-CEE3905AD0F9}"/>
              </a:ext>
            </a:extLst>
          </p:cNvPr>
          <p:cNvCxnSpPr/>
          <p:nvPr/>
        </p:nvCxnSpPr>
        <p:spPr>
          <a:xfrm>
            <a:off x="6044184" y="3383280"/>
            <a:ext cx="100584" cy="0"/>
          </a:xfrm>
          <a:prstGeom prst="line">
            <a:avLst/>
          </a:prstGeom>
          <a:ln w="1905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78">
            <a:extLst>
              <a:ext uri="{FF2B5EF4-FFF2-40B4-BE49-F238E27FC236}">
                <a16:creationId xmlns:a16="http://schemas.microsoft.com/office/drawing/2014/main" id="{7E2B6EFF-9E54-2585-DFF7-BEED53C9A3D5}"/>
              </a:ext>
            </a:extLst>
          </p:cNvPr>
          <p:cNvCxnSpPr/>
          <p:nvPr/>
        </p:nvCxnSpPr>
        <p:spPr>
          <a:xfrm>
            <a:off x="8842248" y="3383280"/>
            <a:ext cx="100584" cy="0"/>
          </a:xfrm>
          <a:prstGeom prst="line">
            <a:avLst/>
          </a:prstGeom>
          <a:ln w="1905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Rounded Rectangle 79">
            <a:extLst>
              <a:ext uri="{FF2B5EF4-FFF2-40B4-BE49-F238E27FC236}">
                <a16:creationId xmlns:a16="http://schemas.microsoft.com/office/drawing/2014/main" id="{79BF4C81-54CD-0093-4FB1-005B54CE4D9F}"/>
              </a:ext>
            </a:extLst>
          </p:cNvPr>
          <p:cNvSpPr/>
          <p:nvPr/>
        </p:nvSpPr>
        <p:spPr>
          <a:xfrm>
            <a:off x="548640" y="5577840"/>
            <a:ext cx="11091672" cy="7315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19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71" name="TextBox 80">
            <a:extLst>
              <a:ext uri="{FF2B5EF4-FFF2-40B4-BE49-F238E27FC236}">
                <a16:creationId xmlns:a16="http://schemas.microsoft.com/office/drawing/2014/main" id="{7874248B-FB6B-1477-448F-799699D5D8A1}"/>
              </a:ext>
            </a:extLst>
          </p:cNvPr>
          <p:cNvSpPr txBox="1"/>
          <p:nvPr/>
        </p:nvSpPr>
        <p:spPr>
          <a:xfrm>
            <a:off x="777240" y="566928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866103"/>
                </a:solidFill>
                <a:latin typeface="Calibri"/>
              </a:rPr>
              <a:t>PUBLISH BACK</a:t>
            </a:r>
          </a:p>
        </p:txBody>
      </p:sp>
      <p:pic>
        <p:nvPicPr>
          <p:cNvPr id="272" name="Picture 271">
            <a:extLst>
              <a:ext uri="{FF2B5EF4-FFF2-40B4-BE49-F238E27FC236}">
                <a16:creationId xmlns:a16="http://schemas.microsoft.com/office/drawing/2014/main" id="{D4D1847B-6B48-DC2E-5717-6BEB7AF770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907024"/>
            <a:ext cx="310896" cy="301752"/>
          </a:xfrm>
          <a:prstGeom prst="rect">
            <a:avLst/>
          </a:prstGeom>
        </p:spPr>
      </p:pic>
      <p:sp>
        <p:nvSpPr>
          <p:cNvPr id="273" name="TextBox 82">
            <a:extLst>
              <a:ext uri="{FF2B5EF4-FFF2-40B4-BE49-F238E27FC236}">
                <a16:creationId xmlns:a16="http://schemas.microsoft.com/office/drawing/2014/main" id="{2D2B96E5-E5F1-DD04-5ED5-18028655A814}"/>
              </a:ext>
            </a:extLst>
          </p:cNvPr>
          <p:cNvSpPr txBox="1"/>
          <p:nvPr/>
        </p:nvSpPr>
        <p:spPr>
          <a:xfrm>
            <a:off x="1234440" y="5870448"/>
            <a:ext cx="75895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866103"/>
                </a:solidFill>
                <a:latin typeface="Consolas"/>
              </a:rPr>
              <a:t>sharepoint-publish</a:t>
            </a:r>
            <a:r>
              <a:rPr sz="950" b="0">
                <a:solidFill>
                  <a:srgbClr val="2F343C"/>
                </a:solidFill>
                <a:latin typeface="Calibri"/>
              </a:rPr>
              <a:t>  — the engineer returns pipeline, notebook and report to the library's single output folder (file names qualified per feed). The write grant covers only that folder — and the next fetch reads the same library.</a:t>
            </a:r>
          </a:p>
        </p:txBody>
      </p:sp>
      <p:cxnSp>
        <p:nvCxnSpPr>
          <p:cNvPr id="274" name="Connector 83">
            <a:extLst>
              <a:ext uri="{FF2B5EF4-FFF2-40B4-BE49-F238E27FC236}">
                <a16:creationId xmlns:a16="http://schemas.microsoft.com/office/drawing/2014/main" id="{456D1CEA-856B-22B6-05F9-9A82326CDDD1}"/>
              </a:ext>
            </a:extLst>
          </p:cNvPr>
          <p:cNvCxnSpPr/>
          <p:nvPr/>
        </p:nvCxnSpPr>
        <p:spPr>
          <a:xfrm>
            <a:off x="1892807" y="5440680"/>
            <a:ext cx="0" cy="137160"/>
          </a:xfrm>
          <a:prstGeom prst="line">
            <a:avLst/>
          </a:prstGeom>
          <a:ln w="15875">
            <a:solidFill>
              <a:srgbClr val="D198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84">
            <a:extLst>
              <a:ext uri="{FF2B5EF4-FFF2-40B4-BE49-F238E27FC236}">
                <a16:creationId xmlns:a16="http://schemas.microsoft.com/office/drawing/2014/main" id="{8FFCB000-1B5D-2C11-2049-2A81F2731FD1}"/>
              </a:ext>
            </a:extLst>
          </p:cNvPr>
          <p:cNvCxnSpPr/>
          <p:nvPr/>
        </p:nvCxnSpPr>
        <p:spPr>
          <a:xfrm>
            <a:off x="10287000" y="5440680"/>
            <a:ext cx="0" cy="137160"/>
          </a:xfrm>
          <a:prstGeom prst="line">
            <a:avLst/>
          </a:prstGeom>
          <a:ln w="15875">
            <a:solidFill>
              <a:srgbClr val="D198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TextBox 85">
            <a:extLst>
              <a:ext uri="{FF2B5EF4-FFF2-40B4-BE49-F238E27FC236}">
                <a16:creationId xmlns:a16="http://schemas.microsoft.com/office/drawing/2014/main" id="{AF5C1978-3C0D-7C59-8ABD-9B8E414C9843}"/>
              </a:ext>
            </a:extLst>
          </p:cNvPr>
          <p:cNvSpPr txBox="1"/>
          <p:nvPr/>
        </p:nvSpPr>
        <p:spPr>
          <a:xfrm>
            <a:off x="9144000" y="5925312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900" b="1">
                <a:solidFill>
                  <a:srgbClr val="866103"/>
                </a:solidFill>
                <a:latin typeface="Calibri"/>
              </a:rPr>
              <a:t>artifacts flow back ←</a:t>
            </a:r>
          </a:p>
        </p:txBody>
      </p:sp>
      <p:sp>
        <p:nvSpPr>
          <p:cNvPr id="277" name="TextBox 86">
            <a:extLst>
              <a:ext uri="{FF2B5EF4-FFF2-40B4-BE49-F238E27FC236}">
                <a16:creationId xmlns:a16="http://schemas.microsoft.com/office/drawing/2014/main" id="{DED7B29D-9520-7058-734B-968953BD0898}"/>
              </a:ext>
            </a:extLst>
          </p:cNvPr>
          <p:cNvSpPr txBox="1"/>
          <p:nvPr/>
        </p:nvSpPr>
        <p:spPr>
          <a:xfrm>
            <a:off x="548640" y="651052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007067"/>
                </a:solidFill>
                <a:latin typeface="Calibri"/>
              </a:rPr>
              <a:t>deterministic code renders</a:t>
            </a:r>
            <a:r>
              <a:rPr sz="1100" b="0">
                <a:solidFill>
                  <a:srgbClr val="C5CBD3"/>
                </a:solidFill>
                <a:latin typeface="Calibri"/>
              </a:rPr>
              <a:t>     ·     </a:t>
            </a:r>
            <a:r>
              <a:rPr sz="1100" b="1">
                <a:solidFill>
                  <a:srgbClr val="A04D2C"/>
                </a:solidFill>
                <a:latin typeface="Calibri"/>
              </a:rPr>
              <a:t>the model only suggests</a:t>
            </a:r>
            <a:r>
              <a:rPr sz="1100" b="0">
                <a:solidFill>
                  <a:srgbClr val="C5CBD3"/>
                </a:solidFill>
                <a:latin typeface="Calibri"/>
              </a:rPr>
              <a:t>     ·     </a:t>
            </a:r>
            <a:r>
              <a:rPr sz="1100" b="1">
                <a:solidFill>
                  <a:srgbClr val="866103"/>
                </a:solidFill>
                <a:latin typeface="Calibri"/>
              </a:rPr>
              <a:t>an engineer decides and ships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426B2D8CA0A94F885E990AD9C65561" ma:contentTypeVersion="3" ma:contentTypeDescription="Create a new document." ma:contentTypeScope="" ma:versionID="85bb13b16a9506a223afed9a3ec3a41c">
  <xsd:schema xmlns:xsd="http://www.w3.org/2001/XMLSchema" xmlns:xs="http://www.w3.org/2001/XMLSchema" xmlns:p="http://schemas.microsoft.com/office/2006/metadata/properties" xmlns:ns2="6537d64e-af8a-45f1-9663-213a80cc8430" targetNamespace="http://schemas.microsoft.com/office/2006/metadata/properties" ma:root="true" ma:fieldsID="d0025840606445d7475e5c4ef7c05746" ns2:_="">
    <xsd:import namespace="6537d64e-af8a-45f1-9663-213a80cc84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37d64e-af8a-45f1-9663-213a80cc84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DCDE733-B052-48C7-8D8B-6A197F3D68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E95DF1D-B647-411E-A3C7-BB819E8DE7D6}">
  <ds:schemaRefs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purl.org/dc/terms/"/>
    <ds:schemaRef ds:uri="http://schemas.openxmlformats.org/package/2006/metadata/core-properties"/>
    <ds:schemaRef ds:uri="6537d64e-af8a-45f1-9663-213a80cc8430"/>
  </ds:schemaRefs>
</ds:datastoreItem>
</file>

<file path=customXml/itemProps3.xml><?xml version="1.0" encoding="utf-8"?>
<ds:datastoreItem xmlns:ds="http://schemas.openxmlformats.org/officeDocument/2006/customXml" ds:itemID="{AB3666F2-4465-4862-A672-AF211D658BD9}">
  <ds:schemaRefs>
    <ds:schemaRef ds:uri="6537d64e-af8a-45f1-9663-213a80cc843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0</TotalTime>
  <Words>2805</Words>
  <Application>Microsoft Office PowerPoint</Application>
  <PresentationFormat>Widescreen</PresentationFormat>
  <Paragraphs>401</Paragraphs>
  <Slides>16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AmeriHealth Caritas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AI-in-Engineering Program Overview</dc:title>
  <dc:subject>PptxGenJS Presentation</dc:subject>
  <dc:creator>Hexaware Technologies</dc:creator>
  <cp:lastModifiedBy>Venu babu Anumolu</cp:lastModifiedBy>
  <cp:revision>3</cp:revision>
  <dcterms:created xsi:type="dcterms:W3CDTF">2026-08-20T11:55:34Z</dcterms:created>
  <dcterms:modified xsi:type="dcterms:W3CDTF">2026-08-28T15:46:15Z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0x01010020426B2D8CA0A94F885E990AD9C65561</vt:lpwstr>
  </property>
</Properties>
</file>