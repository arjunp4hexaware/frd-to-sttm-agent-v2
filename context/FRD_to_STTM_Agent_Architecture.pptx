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Set-up is entirely automatic code — no AI model is called at any point on this slide. SharePoint remains the system of record; Databricks (Unity Catalog) holds the working copies. Built 2026-08-22: one sync job (notebooks/00_sharepoint_sync.py, resources/frd_sttm_sync_job.yml) does the bulk load on its first tick and the incremental sync on every later tick (eTag/modified/size change detection, manifest in the reference volume); the same job is what the app's 'Sync now' triggers. Pairing is exact name match first, deterministic similarity second. The agent never writes to SharePoint — read grant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picker is the corpus index the sync maintains in Unity Catalog: unmapped FRDs are offered for generation; an FRD that already has an STTM is shown with that STTM, and regenerating it is a deliberate second step (every such run is scored against the existing workbook). One billed model call per run, confirmed by the user. The app has NO publish path — the person uploads the finished workbook to the SharePoint STTM folder; the sync on slide 1 pulls it back into Databricks and pairs it with its FRD by name. A cell-level accuracy score exists only when a reference STTM for that FRD is already in the corpus (regeneration); a first draft shows its grounding checks and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fc_slide_chrom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FRD → STTM AGENT — HOW IT IS SET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786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200">
                <a:solidFill>
                  <a:srgbClr val="0067B1"/>
                </a:solidFill>
                <a:latin typeface="Calibri"/>
              </a:rPr>
              <a:t>AGENT 1 OF 2  ·  INSIDE THE AMERIHEALTH ENVIRONMENT  ·  ONCE, THEN AUTOMATIC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987552"/>
            <a:ext cx="1153332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2E3350"/>
                </a:solidFill>
                <a:latin typeface="Calibri"/>
              </a:rPr>
              <a:t>Load every FRD and STTM once, pair what can be paired, then stay in sync with SharePoint on its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AA5AE"/>
                </a:solidFill>
                <a:latin typeface="Calibri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29184" y="1627632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6276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3350"/>
                </a:solidFill>
                <a:latin typeface="Calibri"/>
              </a:rPr>
              <a:t>One-time bulk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C99A4"/>
                </a:solidFill>
                <a:latin typeface="Calibri"/>
              </a:rPr>
              <a:t>Done once, when the</a:t>
            </a:r>
          </a:p>
          <a:p>
            <a:pPr algn="l"/>
            <a:r>
              <a:rPr sz="750" b="0" i="0">
                <a:solidFill>
                  <a:srgbClr val="8C99A4"/>
                </a:solidFill>
                <a:latin typeface="Calibri"/>
              </a:rPr>
              <a:t>agent is switched 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719072" y="2057400"/>
            <a:ext cx="182880" cy="182880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11680" y="1517904"/>
            <a:ext cx="9850831" cy="1261872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21408" y="1627632"/>
            <a:ext cx="3137306" cy="1042416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49424" y="1755648"/>
            <a:ext cx="310896" cy="310896"/>
          </a:xfrm>
          <a:prstGeom prst="ellipse">
            <a:avLst/>
          </a:prstGeom>
          <a:solidFill>
            <a:srgbClr val="8D64AA"/>
          </a:solidFill>
          <a:ln w="12700">
            <a:solidFill>
              <a:srgbClr val="8D64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cloud_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821" y="1824045"/>
            <a:ext cx="174101" cy="17410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51760" y="1755648"/>
            <a:ext cx="249722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67B1"/>
                </a:solidFill>
                <a:latin typeface="Calibri"/>
              </a:rPr>
              <a:t>Pull every FRD and STTM from SharePoint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9424" y="2139696"/>
            <a:ext cx="288127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Every approved FRD and every STTM workbook in the AmeriHealth document library is read once — the site is not crawled beyond the folders you name.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68442" y="1627632"/>
            <a:ext cx="3137306" cy="1042416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96458" y="1755648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folder_tr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4855" y="1824045"/>
            <a:ext cx="174101" cy="17410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98794" y="1755648"/>
            <a:ext cx="249722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67B1"/>
                </a:solidFill>
                <a:latin typeface="Calibri"/>
              </a:rPr>
              <a:t>Route each file to its Databricks home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96458" y="2139696"/>
            <a:ext cx="288127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FRDs land in the FRD area and STTMs in the STTM reference area of Unity Catalog — governed, permissioned, and visible to the agent.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15476" y="1627632"/>
            <a:ext cx="3137306" cy="1042416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43492" y="1755648"/>
            <a:ext cx="310896" cy="310896"/>
          </a:xfrm>
          <a:prstGeom prst="ellipse">
            <a:avLst/>
          </a:prstGeom>
          <a:solidFill>
            <a:srgbClr val="78A22F"/>
          </a:solidFill>
          <a:ln w="12700">
            <a:solidFill>
              <a:srgbClr val="78A2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1889" y="1824045"/>
            <a:ext cx="174101" cy="17410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5828" y="1755648"/>
            <a:ext cx="249722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67B1"/>
                </a:solidFill>
                <a:latin typeface="Calibri"/>
              </a:rPr>
              <a:t>Register every document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3492" y="2139696"/>
            <a:ext cx="288127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Each file is recorded with its SharePoint identity, last-modified stamp and a content fingerprint, so unchanged files are never fetched twice and a revised document is recognised as new.</a:t>
            </a:r>
          </a:p>
        </p:txBody>
      </p:sp>
      <p:sp>
        <p:nvSpPr>
          <p:cNvPr id="28" name="Oval 27"/>
          <p:cNvSpPr/>
          <p:nvPr/>
        </p:nvSpPr>
        <p:spPr>
          <a:xfrm>
            <a:off x="329184" y="3044952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30449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02666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3350"/>
                </a:solidFill>
                <a:latin typeface="Calibri"/>
              </a:rPr>
              <a:t>Pair FRDs to STTMs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447288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C99A4"/>
                </a:solidFill>
                <a:latin typeface="Calibri"/>
              </a:rPr>
              <a:t>As many matches as the</a:t>
            </a:r>
          </a:p>
          <a:p>
            <a:pPr algn="l"/>
            <a:r>
              <a:rPr sz="750" b="0" i="0">
                <a:solidFill>
                  <a:srgbClr val="8C99A4"/>
                </a:solidFill>
                <a:latin typeface="Calibri"/>
              </a:rPr>
              <a:t>documents allow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719072" y="3474720"/>
            <a:ext cx="182880" cy="182880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011680" y="2935224"/>
            <a:ext cx="9850831" cy="1261872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121408" y="3044952"/>
            <a:ext cx="4760823" cy="1042416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249424" y="3172968"/>
            <a:ext cx="310896" cy="310896"/>
          </a:xfrm>
          <a:prstGeom prst="ellipse">
            <a:avLst/>
          </a:prstGeom>
          <a:solidFill>
            <a:srgbClr val="78A22F"/>
          </a:solidFill>
          <a:ln w="12700">
            <a:solidFill>
              <a:srgbClr val="78A2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l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7821" y="3241365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51760" y="3172968"/>
            <a:ext cx="412074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67B1"/>
                </a:solidFill>
                <a:latin typeface="Calibri"/>
              </a:rPr>
              <a:t>Match each FRD to the STTM that belongs to 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9424" y="3557016"/>
            <a:ext cx="450479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Plain code compares every FRD with every STTM and pairs the ones that describe the same feeds. No AI model is involved; every match comes with a score and a reason a person can read.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91959" y="3044952"/>
            <a:ext cx="4760823" cy="1042416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19975" y="3172968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8372" y="3241365"/>
            <a:ext cx="174101" cy="17410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522311" y="3172968"/>
            <a:ext cx="412074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67B1"/>
                </a:solidFill>
                <a:latin typeface="Calibri"/>
              </a:rPr>
              <a:t>Two lists come 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9975" y="3557016"/>
            <a:ext cx="450479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Paired FRD+STTM documents become the agent's template library — the examples it draws on. FRDs with no STTM become the queue the app offers to users (next slide).</a:t>
            </a:r>
          </a:p>
        </p:txBody>
      </p:sp>
      <p:sp>
        <p:nvSpPr>
          <p:cNvPr id="44" name="Oval 43"/>
          <p:cNvSpPr/>
          <p:nvPr/>
        </p:nvSpPr>
        <p:spPr>
          <a:xfrm>
            <a:off x="329184" y="4462272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" y="446227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4439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3350"/>
                </a:solidFill>
                <a:latin typeface="Calibri"/>
              </a:rPr>
              <a:t>Stay in sync — automatically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864608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C99A4"/>
                </a:solidFill>
                <a:latin typeface="Calibri"/>
              </a:rPr>
              <a:t>Every time SharePoint</a:t>
            </a:r>
          </a:p>
          <a:p>
            <a:pPr algn="l"/>
            <a:r>
              <a:rPr sz="750" b="0" i="0">
                <a:solidFill>
                  <a:srgbClr val="8C99A4"/>
                </a:solidFill>
                <a:latin typeface="Calibri"/>
              </a:rPr>
              <a:t>changes, from then on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1719072" y="4892040"/>
            <a:ext cx="182880" cy="182880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011680" y="4352544"/>
            <a:ext cx="9850831" cy="1261872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121408" y="4462272"/>
            <a:ext cx="4760823" cy="1042416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249424" y="4590288"/>
            <a:ext cx="310896" cy="310896"/>
          </a:xfrm>
          <a:prstGeom prst="ellipse">
            <a:avLst/>
          </a:prstGeom>
          <a:solidFill>
            <a:srgbClr val="8D64AA"/>
          </a:solidFill>
          <a:ln w="12700">
            <a:solidFill>
              <a:srgbClr val="8D64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bell_r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7821" y="4658685"/>
            <a:ext cx="174101" cy="174101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651760" y="4590288"/>
            <a:ext cx="412074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67B1"/>
                </a:solidFill>
                <a:latin typeface="Calibri"/>
              </a:rPr>
              <a:t>A new approved FRD appears in SharePoint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9424" y="4974336"/>
            <a:ext cx="450479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The agent registers it, copies it into Databricks and checks whether any STTM already maps it. If one does, they are paired; if not, the FRD joins the unmapped queue.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91959" y="4462272"/>
            <a:ext cx="4760823" cy="1042416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19975" y="4590288"/>
            <a:ext cx="310896" cy="310896"/>
          </a:xfrm>
          <a:prstGeom prst="ellipse">
            <a:avLst/>
          </a:prstGeom>
          <a:solidFill>
            <a:srgbClr val="8D64AA"/>
          </a:solidFill>
          <a:ln w="12700">
            <a:solidFill>
              <a:srgbClr val="8D64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7" name="Picture 56" descr="refres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8372" y="4658685"/>
            <a:ext cx="174101" cy="17410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522311" y="4590288"/>
            <a:ext cx="412074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67B1"/>
                </a:solidFill>
                <a:latin typeface="Calibri"/>
              </a:rPr>
              <a:t>A new STTM appears in SharePoint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19975" y="4974336"/>
            <a:ext cx="450479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Same path: registered, copied to the STTM reference area, and checked against every FRD — including STTMs a user has just finished and uploaded (next slide). The template library grows.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9184" y="576986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8D64AA"/>
          </a:solidFill>
          <a:ln w="12700">
            <a:solidFill>
              <a:srgbClr val="8D64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" y="5724144"/>
            <a:ext cx="224722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6875"/>
                </a:solidFill>
                <a:latin typeface="Calibri"/>
              </a:rPr>
              <a:t>SharePoint — system of record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51901" y="576986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67B1"/>
          </a:solidFill>
          <a:ln w="12700">
            <a:solidFill>
              <a:srgbClr val="0067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53069" y="5724144"/>
            <a:ext cx="156691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6875"/>
                </a:solidFill>
                <a:latin typeface="Calibri"/>
              </a:rPr>
              <a:t>Databricks platform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94304" y="576986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78A22F"/>
          </a:solidFill>
          <a:ln w="12700">
            <a:solidFill>
              <a:srgbClr val="78A2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95472" y="5724144"/>
            <a:ext cx="224722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6875"/>
                </a:solidFill>
                <a:latin typeface="Calibri"/>
              </a:rPr>
              <a:t>Automatic — plain code, no AI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9184" y="6016752"/>
            <a:ext cx="11533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C99A4"/>
                </a:solidFill>
                <a:latin typeface="Calibri"/>
              </a:rPr>
              <a:t>SharePoint stays the system of record; Databricks (Unity Catalog) holds the working copies. No AI model is called during set-up or sync — the model runs only when a person asks for a mapping (next slide).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fc_slide_chrom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FRD → STTM AGENT — USING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7863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200">
                <a:solidFill>
                  <a:srgbClr val="0067B1"/>
                </a:solidFill>
                <a:latin typeface="Calibri"/>
              </a:rPr>
              <a:t>AGENT 1 OF 2  ·  WHAT HAPPENS WHEN A PERSON ASKS FOR A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987552"/>
            <a:ext cx="1153332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2E3350"/>
                </a:solidFill>
                <a:latin typeface="Calibri"/>
              </a:rPr>
              <a:t>Pick an FRD that has no STTM yet, let the agent draft it, review it, then publish it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AA5AE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" y="1517904"/>
            <a:ext cx="1800301" cy="1874519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" y="1645920"/>
            <a:ext cx="310896" cy="310896"/>
          </a:xfrm>
          <a:prstGeom prst="ellipse">
            <a:avLst/>
          </a:prstGeom>
          <a:solidFill>
            <a:srgbClr val="F8971D"/>
          </a:solidFill>
          <a:ln w="12700">
            <a:solidFill>
              <a:srgbClr val="F8971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459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029968"/>
            <a:ext cx="15808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67B1"/>
                </a:solidFill>
                <a:latin typeface="Calibri"/>
              </a:rPr>
              <a:t>Select an FRD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359152"/>
            <a:ext cx="1580845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The app lists only FRDs that have no STTM in Unity Catalog. The user picks one and confirms the run.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38629" y="2340864"/>
            <a:ext cx="128016" cy="128016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75789" y="1517904"/>
            <a:ext cx="1800301" cy="1874519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85517" y="1645920"/>
            <a:ext cx="310896" cy="310896"/>
          </a:xfrm>
          <a:prstGeom prst="ellipse">
            <a:avLst/>
          </a:prstGeom>
          <a:solidFill>
            <a:srgbClr val="0093D0"/>
          </a:solidFill>
          <a:ln w="12700">
            <a:solidFill>
              <a:srgbClr val="0093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5517" y="16459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5517" y="2029968"/>
            <a:ext cx="15808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67B1"/>
                </a:solidFill>
                <a:latin typeface="Calibri"/>
              </a:rPr>
              <a:t>The agent 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5517" y="2359152"/>
            <a:ext cx="1580845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One AI call reads the whole FRD. Code then checks every extracted value word-for-word against the document and drafts the STTM from the closest approved STTMs.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85234" y="2340864"/>
            <a:ext cx="128016" cy="128016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22394" y="1517904"/>
            <a:ext cx="1800301" cy="1874519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32122" y="1645920"/>
            <a:ext cx="310896" cy="310896"/>
          </a:xfrm>
          <a:prstGeom prst="ellipse">
            <a:avLst/>
          </a:prstGeom>
          <a:solidFill>
            <a:srgbClr val="F8971D"/>
          </a:solidFill>
          <a:ln w="12700">
            <a:solidFill>
              <a:srgbClr val="F8971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2122" y="16459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2122" y="2029968"/>
            <a:ext cx="15808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67B1"/>
                </a:solidFill>
                <a:latin typeface="Calibri"/>
              </a:rPr>
              <a:t>Human-in-the-loop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2122" y="2359152"/>
            <a:ext cx="1580845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The user answers only what the agent could not settle — pick a candidate, none of these, or type the answer. Decisions are remembered.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031839" y="2340864"/>
            <a:ext cx="128016" cy="128016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68999" y="1517904"/>
            <a:ext cx="1800301" cy="1874519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78727" y="1645920"/>
            <a:ext cx="310896" cy="310896"/>
          </a:xfrm>
          <a:prstGeom prst="ellipse">
            <a:avLst/>
          </a:prstGeom>
          <a:solidFill>
            <a:srgbClr val="78A22F"/>
          </a:solidFill>
          <a:ln w="12700">
            <a:solidFill>
              <a:srgbClr val="78A2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8727" y="16459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8727" y="2029968"/>
            <a:ext cx="15808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67B1"/>
                </a:solidFill>
                <a:latin typeface="Calibri"/>
              </a:rPr>
              <a:t>The STTM is presented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8727" y="2359152"/>
            <a:ext cx="1580845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The drafted workbook appears with its quality checks and the templates it drew on. The user downloads it — nothing leaves the app on its own.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978444" y="2340864"/>
            <a:ext cx="128016" cy="128016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5604" y="1517904"/>
            <a:ext cx="1800301" cy="1874519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5332" y="1645920"/>
            <a:ext cx="310896" cy="310896"/>
          </a:xfrm>
          <a:prstGeom prst="ellipse">
            <a:avLst/>
          </a:prstGeom>
          <a:solidFill>
            <a:srgbClr val="F8971D"/>
          </a:solidFill>
          <a:ln w="12700">
            <a:solidFill>
              <a:srgbClr val="F8971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5332" y="16459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5332" y="2029968"/>
            <a:ext cx="15808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67B1"/>
                </a:solidFill>
                <a:latin typeface="Calibri"/>
              </a:rPr>
              <a:t>Last edits or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5332" y="2359152"/>
            <a:ext cx="1580845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The user makes any final changes in Excel, or approves it as-is. The app never uploads to SharePoint automatically.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925049" y="2340864"/>
            <a:ext cx="128016" cy="128016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62209" y="1517904"/>
            <a:ext cx="1800301" cy="1874519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71937" y="1645920"/>
            <a:ext cx="310896" cy="310896"/>
          </a:xfrm>
          <a:prstGeom prst="ellipse">
            <a:avLst/>
          </a:prstGeom>
          <a:solidFill>
            <a:srgbClr val="F8971D"/>
          </a:solidFill>
          <a:ln w="12700">
            <a:solidFill>
              <a:srgbClr val="F8971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71937" y="16459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1937" y="2029968"/>
            <a:ext cx="15808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67B1"/>
                </a:solidFill>
                <a:latin typeface="Calibri"/>
              </a:rPr>
              <a:t>Upload to SharePoint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1937" y="2359152"/>
            <a:ext cx="1580845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The user uploads the finished STTM to SharePoint themselves. The agent detects it, pulls it into Databricks and pairs it with its FRD.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184" y="358444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8971D"/>
          </a:solidFill>
          <a:ln w="12700">
            <a:solidFill>
              <a:srgbClr val="F8971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3538727"/>
            <a:ext cx="136282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6875"/>
                </a:solidFill>
                <a:latin typeface="Calibri"/>
              </a:rPr>
              <a:t>A person decides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67493" y="358444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3D0"/>
          </a:solidFill>
          <a:ln w="12700">
            <a:solidFill>
              <a:srgbClr val="0093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68661" y="3538727"/>
            <a:ext cx="177100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6875"/>
                </a:solidFill>
                <a:latin typeface="Calibri"/>
              </a:rPr>
              <a:t>AI model step (Claude)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13990" y="358444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78A22F"/>
          </a:solidFill>
          <a:ln w="12700">
            <a:solidFill>
              <a:srgbClr val="78A2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15158" y="3538727"/>
            <a:ext cx="224722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6875"/>
                </a:solidFill>
                <a:latin typeface="Calibri"/>
              </a:rPr>
              <a:t>Automatic — plain code, no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" y="3995927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067B1"/>
                </a:solidFill>
                <a:latin typeface="Calibri"/>
              </a:rPr>
              <a:t>Three things to know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184" y="4325111"/>
            <a:ext cx="372252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5488" y="4489703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85" y="4558100"/>
            <a:ext cx="174101" cy="17410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77824" y="4489703"/>
            <a:ext cx="302757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E3350"/>
                </a:solidFill>
                <a:latin typeface="Calibri"/>
              </a:rPr>
              <a:t>Only unmapped FRDs are offered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4910327"/>
            <a:ext cx="342991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If an FRD already has an STTM, the app shows that STTM instead of drafting a new one. Regenerating is a deliberate, separate choice.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34586" y="4325111"/>
            <a:ext cx="372252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380890" y="4489703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6" name="Picture 55" descr="up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9287" y="4558100"/>
            <a:ext cx="174101" cy="17410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783226" y="4489703"/>
            <a:ext cx="302757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E3350"/>
                </a:solidFill>
                <a:latin typeface="Calibri"/>
              </a:rPr>
              <a:t>Nothing is published for you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0890" y="4910327"/>
            <a:ext cx="342991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Download, edit, approve — and upload to SharePoint when you are satisfied. The agent only ever writes to Databricks, never to the library.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39988" y="4325111"/>
            <a:ext cx="372252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DE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286292" y="4489703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refre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4689" y="4558100"/>
            <a:ext cx="174101" cy="17410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688628" y="4489703"/>
            <a:ext cx="302757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E3350"/>
                </a:solidFill>
                <a:latin typeface="Calibri"/>
              </a:rPr>
              <a:t>Every approved STTM improves the next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86292" y="4910327"/>
            <a:ext cx="342991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875"/>
                </a:solidFill>
                <a:latin typeface="Calibri"/>
              </a:rPr>
              <a:t>Once your upload is pulled back in and paired, it becomes a template the agent draws on — so the library, and the drafts, get better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