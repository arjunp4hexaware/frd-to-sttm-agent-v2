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this deck explains how the agent is INTENDED to work — the design, not a status report. One slide near the end separates proven from unproven.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line is the whole architecture. Every later slide is an instance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BRD→FRD and SQL Optimization were cut from the program 2026-08-21.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Dual-mode: the same six files run as plain local scripts and as Databricks notebook tasks (widgets ↔ env vars, Spark ↔ deltalake).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removed-Gemini posture: schema-in-prompt + client validation is the committed transport.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audit is the agent's entire quality claim; it is also what makes exemplars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free_text on a candidate-having ambiguity is rejected by client AND server — the pick is structural, not a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Decided + built 2026-08-22. Full rationale in docs/TEMPLATE_ARCHITECTURE.md.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Ingest-all is NOT extract-all: the billed call happens only when a generation is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scored template that fails the structural feed match demotes to freeform and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SharePoint attaches identically in both modes; the app also uploads corpus artifacts to the UC reference volume in databricks mode so the job can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no-documents rule is 2026-08-22 policy: the anonymized demo pair and replay set were removed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exact with executives: the left column is measured; the right list is scheduled verification, not doubt about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line is the flywheel: approval feeds the template library, which feeds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0A19A"/>
                </a:solidFill>
                <a:latin typeface="Calibri"/>
              </a:rPr>
              <a:t>HEXAWARE × ACFC · AI-IN-ENGINEERING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 Light"/>
              </a:rPr>
              <a:t>FRD → STTM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C3D2DE"/>
                </a:solidFill>
                <a:latin typeface="Calibri Light"/>
              </a:rPr>
              <a:t>How a Functional Requirements Document becomes a governed, evaluated Source-to-Target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3D2DE"/>
                </a:solidFill>
                <a:latin typeface="Calibri"/>
              </a:rPr>
              <a:t>Architecture overview · repo state 2026-08-22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58384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3D2DE"/>
                </a:solidFill>
                <a:latin typeface="Calibri"/>
              </a:rPr>
              <a:t>AmeriHealth Caritas (ACFC) · agent 1 of 3: FRD→STTM → CodeGen → Code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875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3D2DE"/>
                </a:solidFill>
                <a:latin typeface="Calibri"/>
              </a:rPr>
              <a:t>Hexaware builds the reference implementation; ACFC rebuilds it in its own environment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The design doctrine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2560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E2233"/>
                </a:solidFill>
                <a:latin typeface="Calibri Light"/>
              </a:rPr>
              <a:t>The LLM proposes.</a:t>
            </a:r>
          </a:p>
          <a:p>
            <a:pPr algn="l"/>
            <a:r>
              <a:rPr sz="2600" b="1" i="0">
                <a:solidFill>
                  <a:srgbClr val="0E2233"/>
                </a:solidFill>
                <a:latin typeface="Calibri Light"/>
              </a:rPr>
              <a:t>Deterministic code audits and decides.</a:t>
            </a:r>
          </a:p>
          <a:p>
            <a:pPr algn="l"/>
            <a:r>
              <a:rPr sz="2600" b="1" i="0">
                <a:solidFill>
                  <a:srgbClr val="0E2233"/>
                </a:solidFill>
                <a:latin typeface="Calibri Light"/>
              </a:rPr>
              <a:t>A human resolves.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3A4A5C"/>
                </a:solidFill>
                <a:latin typeface="Calibri"/>
              </a:rPr>
              <a:t>One model call per document — everything else is auditable code: grounding checks, gates, verdicts, similarity scores, template choices. The model is never the arbiter of “did we get this right”.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PROGRAM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Where it sits: first agent in a three-agent relay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210458" cy="1463040"/>
          </a:xfrm>
          <a:prstGeom prst="roundRect">
            <a:avLst>
              <a:gd name="adj" fmla="val 10000"/>
            </a:avLst>
          </a:prstGeom>
          <a:solidFill>
            <a:srgbClr val="00A19A"/>
          </a:solidFill>
          <a:ln w="19050">
            <a:solidFill>
              <a:srgbClr val="00A1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01952"/>
            <a:ext cx="321045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FRD → STTM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59152"/>
            <a:ext cx="293613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Approved FRD (.docx) →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Calibri"/>
              </a:rPr>
              <a:t>STTM workbook + mapping contract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41978" y="2368296"/>
            <a:ext cx="457200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90618" y="1737360"/>
            <a:ext cx="321045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3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901952"/>
            <a:ext cx="321045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E2233"/>
                </a:solidFill>
                <a:latin typeface="Calibri"/>
              </a:rPr>
              <a:t>CodeGen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2359152"/>
            <a:ext cx="293613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4A5C"/>
                </a:solidFill>
                <a:latin typeface="Calibri"/>
              </a:rPr>
              <a:t>Feed + mapping contracts →</a:t>
            </a:r>
          </a:p>
          <a:p>
            <a:pPr algn="ctr"/>
            <a:r>
              <a:rPr sz="1150" b="0" i="0">
                <a:solidFill>
                  <a:srgbClr val="3A4A5C"/>
                </a:solidFill>
                <a:latin typeface="Calibri"/>
              </a:rPr>
              <a:t>PySpark/Delta pipelines + tests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92516" y="2368296"/>
            <a:ext cx="457200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341156" y="1737360"/>
            <a:ext cx="321045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3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901952"/>
            <a:ext cx="321045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E2233"/>
                </a:solidFill>
                <a:latin typeface="Calibri"/>
              </a:rPr>
              <a:t>Code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8316" y="2359152"/>
            <a:ext cx="293613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3A4A5C"/>
                </a:solidFill>
                <a:latin typeface="Calibri"/>
              </a:rPr>
              <a:t>PR / diff → ranked, grounded</a:t>
            </a:r>
          </a:p>
          <a:p>
            <a:pPr algn="ctr"/>
            <a:r>
              <a:rPr sz="1150" b="0" i="0">
                <a:solidFill>
                  <a:srgbClr val="3A4A5C"/>
                </a:solidFill>
                <a:latin typeface="Calibri"/>
              </a:rPr>
              <a:t>review report (read-only)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1091153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Two hand-off contracts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downstream, CodeGen consumes the per-document feed contract JSON directly; the workbook→mapping-contract round trip exists but is unvalidated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SharePoint is the system of record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FRDs in, published STTM workbooks out; Unity Catalog is the working store in between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Hexaware builds, ACFC rebuilds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every non-obvious decision is written down with its reason — what cannot be re-derived from docs, contracts and config does not survive the hand-off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The pipeline: six stages, one model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355010" cy="6350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6B7A8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00 Fetch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SharePoint library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→ frd_raw volume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31666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32834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32834" y="1554480"/>
            <a:ext cx="1355010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2834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5986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01 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274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docx/pdf → faithful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markdown snapshot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24420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5588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E6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25588" y="1554480"/>
            <a:ext cx="1355010" cy="6350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5588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E6ED1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8740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02 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7028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ONE Claude call: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schema + exemplars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217174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18342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8342" y="1554480"/>
            <a:ext cx="1355010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8342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1494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03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9782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validate · ground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· gate ambiguities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9928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11096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FBF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11096" y="1554480"/>
            <a:ext cx="1355010" cy="63500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11096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8A1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4248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2536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analyst resolves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gated items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402682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603850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03850" y="1554480"/>
            <a:ext cx="1355010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03850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77002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04 Render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95290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template decision →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STTM .xlsx + eval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95436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96604" y="1554480"/>
            <a:ext cx="1355010" cy="2011680"/>
          </a:xfrm>
          <a:prstGeom prst="roundRect">
            <a:avLst>
              <a:gd name="adj" fmla="val 10000"/>
            </a:avLst>
          </a:prstGeom>
          <a:solidFill>
            <a:srgbClr val="FBF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96604" y="1554480"/>
            <a:ext cx="1355010" cy="63500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6604" y="1691640"/>
            <a:ext cx="135501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D98A1F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69756" y="1938528"/>
            <a:ext cx="12087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05 Publish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8044" y="2377440"/>
            <a:ext cx="117213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confirm-gated,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one document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LLM step (Claude)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01752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Deterministic code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9496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Human decision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4672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Artifact / data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06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Network lives at the edges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stages 01–04 are offline and credential-free; the whole test suite runs with zero network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The job deliberately ends at render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a re-render after review is not a re-publish — publishing is a human decision, per document, behind an explicit confirm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Every stage's output is durable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Delta tables + UC volume artifacts; any stage re-runs without re-executing its predecessors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LLM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Stage 02 — the one model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95747" cy="4069080"/>
          </a:xfrm>
          <a:prstGeom prst="roundRect">
            <a:avLst>
              <a:gd name="adj" fmla="val 4000"/>
            </a:avLst>
          </a:prstGeom>
          <a:solidFill>
            <a:srgbClr val="E6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295747" cy="548640"/>
          </a:xfrm>
          <a:prstGeom prst="roundRect">
            <a:avLst>
              <a:gd name="adj" fmla="val 25000"/>
            </a:avLst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295747" cy="27432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35608"/>
            <a:ext cx="4838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the model receives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838547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2E6ED1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Terse system prompt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extract only stated facts; never invent names, schedules, tables or rules; preserve identifiers verbatim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E6ED1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The full JSON schema in the prompt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field-level guidance rides on the schema; server-side structured output rejects this schema (“grammar too large”) — measured, not assumed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E6ED1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Retrieved exemplars (when a corpus exists)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mapping digests from the most similar APPROVED pairs — conventions only, with a byte-stable prompt prefix for caching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2E6ED1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The parsed FRD markdown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the exact text stage 01 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325880"/>
            <a:ext cx="5295747" cy="406908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325880"/>
            <a:ext cx="5295747" cy="548640"/>
          </a:xfrm>
          <a:prstGeom prst="roundRect">
            <a:avLst>
              <a:gd name="adj" fmla="val 25000"/>
            </a:avLst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1600200"/>
            <a:ext cx="5295747" cy="27432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1435608"/>
            <a:ext cx="4838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is structurally impossible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4467" y="2057400"/>
            <a:ext cx="4838547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Silent repair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client-side validation with extra=“forbid”; a schema error raises immediately — deliberately NO re-ask loop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Truncation passing as success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a max-tokens stop is a hard failure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Exemplar fact leakage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stage 03 demands every strict field verbatim in the TARGET document — a copied table name fails like an invented one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Silent mock in a workspace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mock is laptop-only; in Databricks or the deployed App a mock request raises, never no-ops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One streaming call per document — measured at ≈$0.15 and ~31 s on the live E2E.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QUALITY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Stage 03 — every extracted string is audited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0800" cy="1906524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C76"/>
                </a:solidFill>
                <a:latin typeface="Calibri"/>
              </a:rPr>
              <a:t>Strict grounding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65960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Identifiers, paths, patterns, table names must appear VERBATIM in the FRD. Any miss ⇒ the whole contract FAILS.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2602" y="1325880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2602" y="1325880"/>
            <a:ext cx="50800" cy="1906524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3770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C76"/>
                </a:solidFill>
                <a:latin typeface="Calibri"/>
              </a:rPr>
              <a:t>Advisory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3770" y="1965960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Prose (rules, retention, PHI notes) needs ≥0.75 token overlap. A miss flags the run and gates the field for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5124" y="1325880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5124" y="1325880"/>
            <a:ext cx="50800" cy="1906524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6292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2233"/>
                </a:solidFill>
                <a:latin typeface="Calibri"/>
              </a:rPr>
              <a:t>Deterministic enrichment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292" y="1965960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Regex-able facts (project id, LOB pairs) are code's job. If code and model disagree, BOTH values gate as a disagreement.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88436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88436"/>
            <a:ext cx="50800" cy="1906524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625596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2233"/>
                </a:solidFill>
                <a:latin typeface="Calibri"/>
              </a:rPr>
              <a:t>Attribution 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128516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The same rule text on ≥2 feeds gates an ambiguity — a human picks the owning feeds, the agent never guesses.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2602" y="3488436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FBF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2602" y="3488436"/>
            <a:ext cx="50800" cy="1906524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625596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D98A1F"/>
                </a:solidFill>
                <a:latin typeface="Calibri"/>
              </a:rPr>
              <a:t>Three verdicts, computed in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3770" y="4128516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PASS · PASS_WITH_FLAGS · FAIL — never model-declared. Exactly three ambiguity kinds; “other” is prohibited.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5124" y="3488436"/>
            <a:ext cx="3466490" cy="1906524"/>
          </a:xfrm>
          <a:prstGeom prst="roundRect">
            <a:avLst>
              <a:gd name="adj" fmla="val 6000"/>
            </a:avLst>
          </a:prstGeom>
          <a:solidFill>
            <a:srgbClr val="FBF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85124" y="3488436"/>
            <a:ext cx="50800" cy="1906524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6292" y="3625596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D98A1F"/>
                </a:solidFill>
                <a:latin typeface="Calibri"/>
              </a:rPr>
              <a:t>Stable ambiguity ids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292" y="4128516"/>
            <a:ext cx="3064154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A4A5C"/>
                </a:solidFill>
                <a:latin typeface="Calibri"/>
              </a:rPr>
              <a:t>Hash of kind+text+context — the join key that lets a reviewer's saved decisions survive re-runs.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Never relax a gate to make a run pass — fix the extraction, the document, or review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HITL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Human review — structurally enforced, never optional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911533" cy="22677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84032"/>
                <a:gridCol w="4768065"/>
                <a:gridCol w="3759436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Gated ambiguity</a:t>
                      </a:r>
                    </a:p>
                  </a:txBody>
                  <a:tcPr marL="73152" marR="73152" marT="36576" marB="36576" anchor="ctr">
                    <a:solidFill>
                      <a:srgbClr val="0E22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73152" marR="73152" marT="36576" marB="36576" anchor="ctr">
                    <a:solidFill>
                      <a:srgbClr val="0E22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Reviewer's move</a:t>
                      </a:r>
                    </a:p>
                  </a:txBody>
                  <a:tcPr marL="73152" marR="73152" marT="36576" marB="36576" anchor="ctr">
                    <a:solidFill>
                      <a:srgbClr val="0E22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2433"/>
                          </a:solidFill>
                          <a:latin typeface="Calibri"/>
                        </a:rPr>
                        <a:t>attribution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One rule text appears on several feeds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Pick the owning feed(s), or none-of-these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2433"/>
                          </a:solidFill>
                          <a:latin typeface="Calibri"/>
                        </a:rPr>
                        <a:t>disagreement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Model and regex extracted different values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Pick a candidate, or none-of-these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2433"/>
                          </a:solidFill>
                          <a:latin typeface="Calibri"/>
                        </a:rPr>
                        <a:t>advisory_grounding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Prose drifted from the source 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2433"/>
                          </a:solidFill>
                          <a:latin typeface="Calibri"/>
                        </a:rPr>
                        <a:t>Edit the prose (free text + rationale)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human resolution, once applicable, is authoritative — the automatic cross-check never re-decides it, and every non-application is recorded with a reason.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The template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2560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0E2233"/>
                </a:solidFill>
                <a:latin typeface="Calibri Light"/>
              </a:rPr>
              <a:t>Every approved FRD→STTM pair</a:t>
            </a:r>
          </a:p>
          <a:p>
            <a:pPr algn="l"/>
            <a:r>
              <a:rPr sz="2600" b="1" i="0">
                <a:solidFill>
                  <a:srgbClr val="0E2233"/>
                </a:solidFill>
                <a:latin typeface="Calibri Light"/>
              </a:rPr>
              <a:t>is a 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3A4A5C"/>
                </a:solidFill>
                <a:latin typeface="Calibri"/>
              </a:rPr>
              <a:t>On first run in an environment, the app ingests every FRD and STTM it can reach in SharePoint and pairs them deterministically — zero model calls. Generating a new STTM retrieves the most similar approved pairs: their conventions feed the extraction prompt, and the best-matching workbook drives the rendered layout and dictionary. The manager's “8–10 templates” are the curated special case; the corpus generalizes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CORPUS-DRIVEN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Template machinery — retrieval is code, not a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620469" cy="6350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6B7A8C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crawl SharePoint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→ volumes (0 LLM calls)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7125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98293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98293" y="1554480"/>
            <a:ext cx="1620469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98293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445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Pair +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9733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similarity scoring,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corpus_index.json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55338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56506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6506" y="1554480"/>
            <a:ext cx="1620469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6506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9658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Decide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7946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single · amalgam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· freeform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13551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4719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6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4719" y="1554480"/>
            <a:ext cx="1620469" cy="6350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4719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2E6ED1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Exemplars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6159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top-k pairs into the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extraction prompt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871764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72932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72932" y="1554480"/>
            <a:ext cx="1620469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2932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4372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template layout +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dictionary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729977" y="2459736"/>
            <a:ext cx="164592" cy="201168"/>
          </a:xfrm>
          <a:prstGeom prst="rightArrow">
            <a:avLst/>
          </a:prstGeom>
          <a:solidFill>
            <a:srgbClr val="C3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31145" y="1554480"/>
            <a:ext cx="1620469" cy="2011680"/>
          </a:xfrm>
          <a:prstGeom prst="roundRect">
            <a:avLst>
              <a:gd name="adj" fmla="val 10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31145" y="1554480"/>
            <a:ext cx="1620469" cy="63500"/>
          </a:xfrm>
          <a:prstGeom prst="rect">
            <a:avLst/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1145" y="1691640"/>
            <a:ext cx="162046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7C76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4297" y="1938528"/>
            <a:ext cx="147416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E2233"/>
                </a:solidFill>
                <a:latin typeface="Calibri"/>
              </a:rPr>
              <a:t>Eval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2585" y="2377440"/>
            <a:ext cx="143758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vs the doc's OWN STTM</a:t>
            </a:r>
          </a:p>
          <a:p>
            <a:pPr algn="ctr"/>
            <a:r>
              <a:rPr sz="1000" b="0" i="0">
                <a:solidFill>
                  <a:srgbClr val="3A4A5C"/>
                </a:solidFill>
                <a:latin typeface="Calibri"/>
              </a:rPr>
              <a:t>(excluded as template)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LLM step (Claude)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1752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007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Deterministic code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94960" y="3776472"/>
            <a:ext cx="201168" cy="201168"/>
          </a:xfrm>
          <a:prstGeom prst="roundRect">
            <a:avLst>
              <a:gd name="adj" fmla="val 30000"/>
            </a:avLst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0" y="37307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A4A5C"/>
                </a:solidFill>
                <a:latin typeface="Calibri"/>
              </a:rPr>
              <a:t>Artifact /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206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Deterministic similarity, deliberately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no embeddings vendor (the program is Anthropic-only and the Claude API has none) — identifier overlap + token cosine is free, offline-testable, and explainable: “84% of this workbook's columns appear in the FRD”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Exclude-own is the honesty rule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the ground-truth workbook never feeds its own render, so every regeneration is a real, automatic golden-pair eval — numbers fit for executives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00A19A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1A2433"/>
                </a:solidFill>
                <a:latin typeface="Calibri"/>
              </a:rPr>
              <a:t>Every threshold lives in config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200" b="0" i="0">
                <a:solidFill>
                  <a:srgbClr val="3A4A5C"/>
                </a:solidFill>
                <a:latin typeface="Calibri"/>
              </a:rPr>
              <a:t>seeded on synthetic fixtures; calibrated on real pairs before any demo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MODE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Exactly three template modes — computed, recorded, shown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3466490" cy="4069080"/>
          </a:xfrm>
          <a:prstGeom prst="roundRect">
            <a:avLst>
              <a:gd name="adj" fmla="val 6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0800" cy="406908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C76"/>
                </a:solidFill>
                <a:latin typeface="Calibri"/>
              </a:rPr>
              <a:t>Single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965960"/>
            <a:ext cx="3064154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  <a:latin typeface="Calibri"/>
              </a:rPr>
              <a:t>Top match clears the single threshold. That workbook is the template: its dialect, its dictionary, its conventions.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2602" y="1325880"/>
            <a:ext cx="3466490" cy="406908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2602" y="1325880"/>
            <a:ext cx="50800" cy="4069080"/>
          </a:xfrm>
          <a:prstGeom prst="rect">
            <a:avLst/>
          </a:prstGeom>
          <a:solidFill>
            <a:srgbClr val="2E6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3770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E6ED1"/>
                </a:solidFill>
                <a:latin typeface="Calibri"/>
              </a:rPr>
              <a:t>Amalgam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3770" y="1965960"/>
            <a:ext cx="3064154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  <a:latin typeface="Calibri"/>
              </a:rPr>
              <a:t>No single winner, several partial matches: top-k workbooks merge, first-wins per table key, the best match's dialect leads. Per-sheet provenance kept.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5124" y="1325880"/>
            <a:ext cx="3466490" cy="4069080"/>
          </a:xfrm>
          <a:prstGeom prst="roundRect">
            <a:avLst>
              <a:gd name="adj" fmla="val 6000"/>
            </a:avLst>
          </a:prstGeom>
          <a:solidFill>
            <a:srgbClr val="FBF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5124" y="1325880"/>
            <a:ext cx="50800" cy="4069080"/>
          </a:xfrm>
          <a:prstGeom prst="rect">
            <a:avLst/>
          </a:prstGeom>
          <a:solidFill>
            <a:srgbClr val="D9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6292" y="1463040"/>
            <a:ext cx="306415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D98A1F"/>
                </a:solidFill>
                <a:latin typeface="Calibri"/>
              </a:rPr>
              <a:t>Freeform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292" y="1965960"/>
            <a:ext cx="3064154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A4A5C"/>
                </a:solidFill>
                <a:latin typeface="Calibri"/>
              </a:rPr>
              <a:t>Nothing matched. Best-effort render from the contract alone — feed metadata and rules, no column dictionary — and the run is FLAGGED. Never a silent guess.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 + scored evidence land in the contract's provenance, the run report, and the app's results panel.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One app, two execution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95747" cy="4069080"/>
          </a:xfrm>
          <a:prstGeom prst="roundRect">
            <a:avLst>
              <a:gd name="adj" fmla="val 4000"/>
            </a:avLst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295747" cy="548640"/>
          </a:xfrm>
          <a:prstGeom prst="roundRect">
            <a:avLst>
              <a:gd name="adj" fmla="val 25000"/>
            </a:avLst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5295747" cy="274320"/>
          </a:xfrm>
          <a:prstGeom prst="rect">
            <a:avLst/>
          </a:prstGeom>
          <a:solidFill>
            <a:srgbClr val="6B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35608"/>
            <a:ext cx="4838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Local mode (a laptop)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4838547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Subprocess pipeline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01→04 spawned with run-scoped env insulation (suffixed schema + volumes)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Provider pinned live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mock stripped from the run env; key from env or .env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Artifacts on disk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gitignored local_dev_fixtures/ mirrors the volume layout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What it is for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development, offline smoke, and cheap live 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325880"/>
            <a:ext cx="5295747" cy="4069080"/>
          </a:xfrm>
          <a:prstGeom prst="roundRect">
            <a:avLst>
              <a:gd name="adj" fmla="val 4000"/>
            </a:avLst>
          </a:prstGeom>
          <a:solidFill>
            <a:srgbClr val="E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5867" y="1325880"/>
            <a:ext cx="5295747" cy="548640"/>
          </a:xfrm>
          <a:prstGeom prst="roundRect">
            <a:avLst>
              <a:gd name="adj" fmla="val 25000"/>
            </a:avLst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1600200"/>
            <a:ext cx="5295747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1435608"/>
            <a:ext cx="483854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Databricks App mode (deployed)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4467" y="2057400"/>
            <a:ext cx="4838547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0A19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The container never runs notebooks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live runs trigger the bundle job via the Jobs API with the same insulation as job parameters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A19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Artifacts native to Unity Catalog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runs survive App restarts; the container copy is a rehydratable cache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A19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Key from the secret scope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no key in the container; a missing secret fails loudly inside the extract task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00A19A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A2433"/>
                </a:solidFill>
                <a:latin typeface="Calibri"/>
              </a:rPr>
              <a:t>Same UI, same gates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100" b="0" i="0">
                <a:solidFill>
                  <a:srgbClr val="3A4A5C"/>
                </a:solidFill>
                <a:latin typeface="Calibri"/>
              </a:rPr>
              <a:t>billed-run confirm, manual publish, corpus panel — unchanged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STTM_APP_MODE switches the run path; the pipeline code, gates and artifacts are identical.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STORAGE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Where everything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911534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17904"/>
                <a:gridCol w="669363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Store</a:t>
                      </a:r>
                    </a:p>
                  </a:txBody>
                  <a:tcPr marL="73152" marR="73152" marT="36576" marB="36576" anchor="ctr">
                    <a:solidFill>
                      <a:srgbClr val="0E22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73152" marR="73152" marT="36576" marB="36576" anchor="ctr">
                    <a:solidFill>
                      <a:srgbClr val="0E22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frd_raw volume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Source FRDs (corpus bootstrap + stage 00 land here)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sttm_reference volume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Reference STTM workbooks + corpus_index.json — the template library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sttm_out volume (app runs: sttm_out_app/&lt;suffix&gt;)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extractions/ · contracts/ · rendered/ · reports/ per document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Delta: frd_documents · frd_contracts · frd_sttm_runs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Stage summaries; 04 reads contract JSONs, not the table — the JSON carries human resolutions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SharePoint output folder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Published workbooks only — the ONLY place the agent ever writes in the library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A2433"/>
                          </a:solidFill>
                          <a:latin typeface="Calibri"/>
                        </a:rPr>
                        <a:t>The git repo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433"/>
                          </a:solidFill>
                          <a:latin typeface="Calibri"/>
                        </a:rPr>
                        <a:t>Code, contracts, config, docs. NO client documents, raw or derived — synthetic fixtures only</a:t>
                      </a:r>
                    </a:p>
                  </a:txBody>
                  <a:tcPr marL="73152" marR="73152" marT="36576" marB="36576" anchor="ctr"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532120"/>
            <a:ext cx="10911535" cy="640080"/>
          </a:xfrm>
          <a:prstGeom prst="roundRect">
            <a:avLst>
              <a:gd name="adj" fmla="val 20000"/>
            </a:avLst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5715000"/>
            <a:ext cx="50800" cy="27432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32120"/>
            <a:ext cx="1027145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SharePoint is the system of record; Unity Catalog is the working store; the repo holds only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07C76"/>
                </a:solidFill>
                <a:latin typeface="Calibr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A2433"/>
                </a:solidFill>
                <a:latin typeface="Calibri Light"/>
              </a:rPr>
              <a:t>Measured, not promised — and what is still unproven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05840" cy="381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255643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3012440"/>
            <a:ext cx="2556433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2190673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E2233"/>
                </a:solidFill>
                <a:latin typeface="Calibri Light"/>
              </a:rPr>
              <a:t>≈$0.15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19067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C76"/>
                </a:solidFill>
                <a:latin typeface="Calibri"/>
              </a:rPr>
              <a:t>per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21906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Calibri"/>
              </a:rPr>
              <a:t>one billed call, live E2E 2026-08-07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5113" y="1325880"/>
            <a:ext cx="255643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5113" y="3012440"/>
            <a:ext cx="2556433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7993" y="1463040"/>
            <a:ext cx="2190673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E2233"/>
                </a:solidFill>
                <a:latin typeface="Calibri Light"/>
              </a:rPr>
              <a:t>~34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7993" y="2148840"/>
            <a:ext cx="219067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C76"/>
                </a:solidFill>
                <a:latin typeface="Calibri"/>
              </a:rPr>
              <a:t>pipeline wall-clock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993" y="2441448"/>
            <a:ext cx="21906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Calibri"/>
              </a:rPr>
              <a:t>ingest → rendered workbook, local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325880"/>
            <a:ext cx="255643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3012440"/>
            <a:ext cx="2556433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27" y="1463040"/>
            <a:ext cx="2190673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E2233"/>
                </a:solidFill>
                <a:latin typeface="Calibri Light"/>
              </a:rPr>
              <a:t>94.1%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27" y="2148840"/>
            <a:ext cx="219067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C76"/>
                </a:solidFill>
                <a:latin typeface="Calibri"/>
              </a:rPr>
              <a:t>cell-level 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2441448"/>
            <a:ext cx="21906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Calibri"/>
              </a:rPr>
              <a:t>3,094 / 3,288 cells vs the golden pair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5181" y="1325880"/>
            <a:ext cx="2556433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95181" y="3012440"/>
            <a:ext cx="2556433" cy="508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8061" y="1463040"/>
            <a:ext cx="2190673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0E2233"/>
                </a:solidFill>
                <a:latin typeface="Calibri Light"/>
              </a:rPr>
              <a:t>158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8061" y="2148840"/>
            <a:ext cx="219067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7C76"/>
                </a:solidFill>
                <a:latin typeface="Calibri"/>
              </a:rPr>
              <a:t>offline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8061" y="2441448"/>
            <a:ext cx="219067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B7A8C"/>
                </a:solidFill>
                <a:latin typeface="Calibri"/>
              </a:rPr>
              <a:t>zero network, zero credentials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383280"/>
            <a:ext cx="10911535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0A19A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A2433"/>
                </a:solidFill>
                <a:latin typeface="Calibri"/>
              </a:rPr>
              <a:t>Also measured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3A4A5C"/>
                </a:solidFill>
                <a:latin typeface="Calibri"/>
              </a:rPr>
              <a:t>strict grounding 45/45 · hallucination sweep 0/50 ungrounded · template modes verified end-to-end on synthetic fixtures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0A19A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1A2433"/>
                </a:solidFill>
                <a:latin typeface="Calibri"/>
              </a:rPr>
              <a:t>Still unproven — treat as false until seen working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6B7A8C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3A4A5C"/>
                </a:solidFill>
                <a:latin typeface="Calibri"/>
              </a:rPr>
              <a:t>SharePoint against a real tenant (Entra ID consent is the long pole) · any Databricks execution from this checkout (bundle run, Jobs-API path, Apps deploy) · similarity thresholds on real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B7A8C"/>
                </a:solidFill>
                <a:latin typeface="Calibri"/>
              </a:rPr>
              <a:t>Source: docs/LIVE_E2E_2026-08-07.md · frd-to-sttm-master-context-document.md §11 (2026-08-22)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D8E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A8C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B7A8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A1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/>
              </a:rPr>
              <a:t>Intended operation,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Connect once: SharePoint site + folders, Entra ID app registration, workspace volumes and secret scope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Bootstrap the corpus — every FRD and STTM in the library, paired and indexed, zero model calls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Pick any unmapped FRD (or deliberately regenerate a mapped one) — one confirm-gated billed run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Review the gated ambiguities; re-render folds resolutions in; the eval scores it against the real STTM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Publish the approved workbook back to SharePoint — explicit, per document, replacing the old one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00A19A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C3D2DE"/>
                </a:solidFill>
                <a:latin typeface="Calibri"/>
              </a:rPr>
              <a:t>Every new approved pair makes the corpus — and the next mapping — better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9525"/>
          </a:xfrm>
          <a:prstGeom prst="rect">
            <a:avLst/>
          </a:prstGeom>
          <a:solidFill>
            <a:srgbClr val="1B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3D2DE"/>
                </a:solidFill>
                <a:latin typeface="Calibri"/>
              </a:rPr>
              <a:t>Hexaware × ACFC · AI-in-Engineering  ·  FRD → STTM Agent ·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C3D2DE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